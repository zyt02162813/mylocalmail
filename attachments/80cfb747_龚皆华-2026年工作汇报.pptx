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6" r:id="rId1"/>
  </p:sldMasterIdLst>
  <p:notesMasterIdLst>
    <p:notesMasterId r:id="rId6"/>
  </p:notesMasterIdLst>
  <p:sldIdLst>
    <p:sldId id="259" r:id="rId2"/>
    <p:sldId id="260" r:id="rId3"/>
    <p:sldId id="264" r:id="rId4"/>
    <p:sldId id="26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5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AD5B0-C7D0-4DBF-8C44-57D030BD7316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4A5C6-DF35-4DD5-A250-C232E0717C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20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4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39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05236" y="238838"/>
            <a:ext cx="11609639" cy="3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90000"/>
              </a:lnSpc>
            </a:pPr>
            <a:r>
              <a:rPr kumimoji="0" lang="en-US" altLang="zh-CN" sz="2663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1.1 </a:t>
            </a:r>
            <a:r>
              <a:rPr kumimoji="0" lang="zh-CN" altLang="en-US" sz="2663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年度工作成果</a:t>
            </a:r>
            <a:r>
              <a:rPr kumimoji="0" lang="en-US" altLang="zh-CN" sz="2663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:</a:t>
            </a:r>
            <a:r>
              <a:rPr kumimoji="0" lang="en-US" sz="2663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全方位</a:t>
            </a:r>
            <a:r>
              <a:rPr lang="en-US" altLang="zh-CN" sz="2663" b="1" dirty="0">
                <a:solidFill>
                  <a:srgbClr val="E8E8E8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服务多家药企</a:t>
            </a:r>
            <a:r>
              <a:rPr lang="zh-CN" altLang="en-US" sz="2663" b="1" dirty="0">
                <a:solidFill>
                  <a:srgbClr val="E8E8E8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，获得一致好评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236" y="751434"/>
            <a:ext cx="7457972" cy="2104012"/>
          </a:xfrm>
          <a:custGeom>
            <a:avLst/>
            <a:gdLst/>
            <a:ahLst/>
            <a:cxnLst/>
            <a:rect l="l" t="t" r="r" b="b"/>
            <a:pathLst>
              <a:path w="7457972" h="2104012">
                <a:moveTo>
                  <a:pt x="37572" y="0"/>
                </a:moveTo>
                <a:lnTo>
                  <a:pt x="7382838" y="0"/>
                </a:lnTo>
                <a:cubicBezTo>
                  <a:pt x="7424334" y="0"/>
                  <a:pt x="7457972" y="33639"/>
                  <a:pt x="7457972" y="75134"/>
                </a:cubicBezTo>
                <a:lnTo>
                  <a:pt x="7457972" y="2028878"/>
                </a:lnTo>
                <a:cubicBezTo>
                  <a:pt x="7457972" y="2070374"/>
                  <a:pt x="7424334" y="2104012"/>
                  <a:pt x="7382838" y="2104012"/>
                </a:cubicBezTo>
                <a:lnTo>
                  <a:pt x="37572" y="2104012"/>
                </a:lnTo>
                <a:cubicBezTo>
                  <a:pt x="16821" y="2104012"/>
                  <a:pt x="0" y="2087191"/>
                  <a:pt x="0" y="2066441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05236" y="751434"/>
            <a:ext cx="37572" cy="2104012"/>
          </a:xfrm>
          <a:custGeom>
            <a:avLst/>
            <a:gdLst/>
            <a:ahLst/>
            <a:cxnLst/>
            <a:rect l="l" t="t" r="r" b="b"/>
            <a:pathLst>
              <a:path w="37572" h="2104012">
                <a:moveTo>
                  <a:pt x="37572" y="0"/>
                </a:moveTo>
                <a:lnTo>
                  <a:pt x="37572" y="0"/>
                </a:lnTo>
                <a:lnTo>
                  <a:pt x="37572" y="2104012"/>
                </a:lnTo>
                <a:lnTo>
                  <a:pt x="37572" y="2104012"/>
                </a:lnTo>
                <a:cubicBezTo>
                  <a:pt x="16821" y="2104012"/>
                  <a:pt x="0" y="2087191"/>
                  <a:pt x="0" y="2066441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94736" y="830698"/>
            <a:ext cx="7082256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9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并行服务能力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7344" y="1166762"/>
            <a:ext cx="7335864" cy="821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3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83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2025年同时服务</a:t>
            </a:r>
            <a:r>
              <a:rPr kumimoji="0" lang="en-US" sz="1183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君实、翰森、泰诺、罗欣、盐野义</a:t>
            </a:r>
            <a:r>
              <a:rPr kumimoji="0" lang="en-US" sz="1183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等多家</a:t>
            </a:r>
            <a:r>
              <a:rPr kumimoji="0" lang="zh-CN" altLang="en-US" sz="1183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新老</a:t>
            </a:r>
            <a:r>
              <a:rPr kumimoji="0" lang="en-US" sz="1183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药企，覆盖行业头部企业与新兴力量。在并行服务中，展现出优秀的时间管理和优先级协调能力，确保每家客户的需求都能得到及时响应。</a:t>
            </a:r>
          </a:p>
          <a:p>
            <a:pPr>
              <a:lnSpc>
                <a:spcPct val="140000"/>
              </a:lnSpc>
            </a:pPr>
            <a:r>
              <a:rPr lang="en-US" altLang="zh-CN" sz="1183" dirty="0">
                <a:solidFill>
                  <a:srgbClr val="E8E8E8">
                    <a:alpha val="9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 </a:t>
            </a:r>
            <a:r>
              <a:rPr lang="zh-CN" altLang="zh-CN" sz="1183" dirty="0">
                <a:solidFill>
                  <a:srgbClr val="E8E8E8">
                    <a:alpha val="9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帮助业务解决实际场景化问题，以及业务执行过程中的部分运维问题</a:t>
            </a:r>
            <a:endParaRPr lang="en-US" sz="1183" dirty="0">
              <a:solidFill>
                <a:srgbClr val="E8E8E8">
                  <a:alpha val="9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9452" y="2206673"/>
            <a:ext cx="1333794" cy="601146"/>
          </a:xfrm>
          <a:custGeom>
            <a:avLst/>
            <a:gdLst/>
            <a:ahLst/>
            <a:cxnLst/>
            <a:rect l="l" t="t" r="r" b="b"/>
            <a:pathLst>
              <a:path w="1333794" h="601146">
                <a:moveTo>
                  <a:pt x="37572" y="0"/>
                </a:moveTo>
                <a:lnTo>
                  <a:pt x="1296222" y="0"/>
                </a:lnTo>
                <a:cubicBezTo>
                  <a:pt x="1316958" y="0"/>
                  <a:pt x="1333794" y="16835"/>
                  <a:pt x="1333794" y="37572"/>
                </a:cubicBezTo>
                <a:lnTo>
                  <a:pt x="1333794" y="563575"/>
                </a:lnTo>
                <a:cubicBezTo>
                  <a:pt x="1333794" y="584325"/>
                  <a:pt x="1316972" y="601146"/>
                  <a:pt x="1296222" y="601146"/>
                </a:cubicBezTo>
                <a:lnTo>
                  <a:pt x="37572" y="601146"/>
                </a:lnTo>
                <a:cubicBezTo>
                  <a:pt x="16835" y="601146"/>
                  <a:pt x="0" y="584311"/>
                  <a:pt x="0" y="563575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29292" y="2319388"/>
            <a:ext cx="117411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6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君实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3988" y="2544818"/>
            <a:ext cx="1164721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8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4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新药研发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61794" y="2206673"/>
            <a:ext cx="1333794" cy="601146"/>
          </a:xfrm>
          <a:custGeom>
            <a:avLst/>
            <a:gdLst/>
            <a:ahLst/>
            <a:cxnLst/>
            <a:rect l="l" t="t" r="r" b="b"/>
            <a:pathLst>
              <a:path w="1333794" h="601146">
                <a:moveTo>
                  <a:pt x="37572" y="0"/>
                </a:moveTo>
                <a:lnTo>
                  <a:pt x="1296222" y="0"/>
                </a:lnTo>
                <a:cubicBezTo>
                  <a:pt x="1316958" y="0"/>
                  <a:pt x="1333794" y="16835"/>
                  <a:pt x="1333794" y="37572"/>
                </a:cubicBezTo>
                <a:lnTo>
                  <a:pt x="1333794" y="563575"/>
                </a:lnTo>
                <a:cubicBezTo>
                  <a:pt x="1333794" y="584325"/>
                  <a:pt x="1316972" y="601146"/>
                  <a:pt x="1296222" y="601146"/>
                </a:cubicBezTo>
                <a:lnTo>
                  <a:pt x="37572" y="601146"/>
                </a:lnTo>
                <a:cubicBezTo>
                  <a:pt x="16835" y="601146"/>
                  <a:pt x="0" y="584311"/>
                  <a:pt x="0" y="563575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941634" y="2319388"/>
            <a:ext cx="117411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6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翰森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46330" y="2544818"/>
            <a:ext cx="1164721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8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4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创新医药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74253" y="2206673"/>
            <a:ext cx="1333794" cy="601146"/>
          </a:xfrm>
          <a:custGeom>
            <a:avLst/>
            <a:gdLst/>
            <a:ahLst/>
            <a:cxnLst/>
            <a:rect l="l" t="t" r="r" b="b"/>
            <a:pathLst>
              <a:path w="1333794" h="601146">
                <a:moveTo>
                  <a:pt x="37572" y="0"/>
                </a:moveTo>
                <a:lnTo>
                  <a:pt x="1296222" y="0"/>
                </a:lnTo>
                <a:cubicBezTo>
                  <a:pt x="1316958" y="0"/>
                  <a:pt x="1333794" y="16835"/>
                  <a:pt x="1333794" y="37572"/>
                </a:cubicBezTo>
                <a:lnTo>
                  <a:pt x="1333794" y="563575"/>
                </a:lnTo>
                <a:cubicBezTo>
                  <a:pt x="1333794" y="584325"/>
                  <a:pt x="1316972" y="601146"/>
                  <a:pt x="1296222" y="601146"/>
                </a:cubicBezTo>
                <a:lnTo>
                  <a:pt x="37572" y="601146"/>
                </a:lnTo>
                <a:cubicBezTo>
                  <a:pt x="16835" y="601146"/>
                  <a:pt x="0" y="584311"/>
                  <a:pt x="0" y="563575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354093" y="2319388"/>
            <a:ext cx="117411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6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泰诺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58789" y="2544818"/>
            <a:ext cx="1164721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8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4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CRM系统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86595" y="2206673"/>
            <a:ext cx="1333794" cy="601146"/>
          </a:xfrm>
          <a:custGeom>
            <a:avLst/>
            <a:gdLst/>
            <a:ahLst/>
            <a:cxnLst/>
            <a:rect l="l" t="t" r="r" b="b"/>
            <a:pathLst>
              <a:path w="1333794" h="601146">
                <a:moveTo>
                  <a:pt x="37572" y="0"/>
                </a:moveTo>
                <a:lnTo>
                  <a:pt x="1296222" y="0"/>
                </a:lnTo>
                <a:cubicBezTo>
                  <a:pt x="1316958" y="0"/>
                  <a:pt x="1333794" y="16835"/>
                  <a:pt x="1333794" y="37572"/>
                </a:cubicBezTo>
                <a:lnTo>
                  <a:pt x="1333794" y="563575"/>
                </a:lnTo>
                <a:cubicBezTo>
                  <a:pt x="1333794" y="584325"/>
                  <a:pt x="1316972" y="601146"/>
                  <a:pt x="1296222" y="601146"/>
                </a:cubicBezTo>
                <a:lnTo>
                  <a:pt x="37572" y="601146"/>
                </a:lnTo>
                <a:cubicBezTo>
                  <a:pt x="16835" y="601146"/>
                  <a:pt x="0" y="584311"/>
                  <a:pt x="0" y="563575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766435" y="2319388"/>
            <a:ext cx="117411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6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罗欣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71131" y="2544818"/>
            <a:ext cx="1164721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8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4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医药营销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9054" y="2206673"/>
            <a:ext cx="1333794" cy="601146"/>
          </a:xfrm>
          <a:custGeom>
            <a:avLst/>
            <a:gdLst/>
            <a:ahLst/>
            <a:cxnLst/>
            <a:rect l="l" t="t" r="r" b="b"/>
            <a:pathLst>
              <a:path w="1333794" h="601146">
                <a:moveTo>
                  <a:pt x="37572" y="0"/>
                </a:moveTo>
                <a:lnTo>
                  <a:pt x="1296222" y="0"/>
                </a:lnTo>
                <a:cubicBezTo>
                  <a:pt x="1316958" y="0"/>
                  <a:pt x="1333794" y="16835"/>
                  <a:pt x="1333794" y="37572"/>
                </a:cubicBezTo>
                <a:lnTo>
                  <a:pt x="1333794" y="563575"/>
                </a:lnTo>
                <a:cubicBezTo>
                  <a:pt x="1333794" y="584325"/>
                  <a:pt x="1316972" y="601146"/>
                  <a:pt x="1296222" y="601146"/>
                </a:cubicBezTo>
                <a:lnTo>
                  <a:pt x="37572" y="601146"/>
                </a:lnTo>
                <a:cubicBezTo>
                  <a:pt x="16835" y="601146"/>
                  <a:pt x="0" y="584311"/>
                  <a:pt x="0" y="563575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178894" y="2319388"/>
            <a:ext cx="117411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6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盐野义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83590" y="2544818"/>
            <a:ext cx="1164721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8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4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跨国药企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06878" y="3118449"/>
            <a:ext cx="7420400" cy="3328072"/>
          </a:xfrm>
          <a:custGeom>
            <a:avLst/>
            <a:gdLst/>
            <a:ahLst/>
            <a:cxnLst/>
            <a:rect l="l" t="t" r="r" b="b"/>
            <a:pathLst>
              <a:path w="7457972" h="3249948">
                <a:moveTo>
                  <a:pt x="37572" y="0"/>
                </a:moveTo>
                <a:lnTo>
                  <a:pt x="7382833" y="0"/>
                </a:lnTo>
                <a:cubicBezTo>
                  <a:pt x="7424331" y="0"/>
                  <a:pt x="7457972" y="33641"/>
                  <a:pt x="7457972" y="75139"/>
                </a:cubicBezTo>
                <a:lnTo>
                  <a:pt x="7457972" y="3174809"/>
                </a:lnTo>
                <a:cubicBezTo>
                  <a:pt x="7457972" y="3216307"/>
                  <a:pt x="7424331" y="3249948"/>
                  <a:pt x="7382833" y="3249948"/>
                </a:cubicBezTo>
                <a:lnTo>
                  <a:pt x="37572" y="3249948"/>
                </a:lnTo>
                <a:cubicBezTo>
                  <a:pt x="16821" y="3249948"/>
                  <a:pt x="0" y="3233126"/>
                  <a:pt x="0" y="3212376"/>
                </a:cubicBezTo>
                <a:lnTo>
                  <a:pt x="0" y="37572"/>
                </a:lnTo>
                <a:cubicBezTo>
                  <a:pt x="0" y="16835"/>
                  <a:pt x="16835" y="0"/>
                  <a:pt x="37572" y="0"/>
                </a:cubicBezTo>
                <a:close/>
              </a:path>
            </a:pathLst>
          </a:custGeom>
          <a:gradFill flip="none" rotWithShape="1">
            <a:gsLst>
              <a:gs pos="0">
                <a:srgbClr val="C5A16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61159" y="3118448"/>
            <a:ext cx="45719" cy="3328072"/>
          </a:xfrm>
          <a:custGeom>
            <a:avLst/>
            <a:gdLst/>
            <a:ahLst/>
            <a:cxnLst/>
            <a:rect l="l" t="t" r="r" b="b"/>
            <a:pathLst>
              <a:path w="37572" h="3249948">
                <a:moveTo>
                  <a:pt x="37572" y="0"/>
                </a:moveTo>
                <a:lnTo>
                  <a:pt x="37572" y="0"/>
                </a:lnTo>
                <a:lnTo>
                  <a:pt x="37572" y="3249948"/>
                </a:lnTo>
                <a:lnTo>
                  <a:pt x="37572" y="3249948"/>
                </a:lnTo>
                <a:cubicBezTo>
                  <a:pt x="16821" y="3249948"/>
                  <a:pt x="0" y="3233126"/>
                  <a:pt x="0" y="3212376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66055" y="3262503"/>
            <a:ext cx="7082256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9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解决的核心问题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7596" y="3704765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150287" y="0"/>
                </a:moveTo>
                <a:lnTo>
                  <a:pt x="150287" y="0"/>
                </a:lnTo>
                <a:cubicBezTo>
                  <a:pt x="233288" y="0"/>
                  <a:pt x="300573" y="67286"/>
                  <a:pt x="300573" y="150287"/>
                </a:cubicBezTo>
                <a:lnTo>
                  <a:pt x="300573" y="150287"/>
                </a:lnTo>
                <a:cubicBezTo>
                  <a:pt x="300573" y="233288"/>
                  <a:pt x="233288" y="300573"/>
                  <a:pt x="150287" y="300573"/>
                </a:cubicBezTo>
                <a:lnTo>
                  <a:pt x="150287" y="300573"/>
                </a:lnTo>
                <a:cubicBezTo>
                  <a:pt x="67286" y="300573"/>
                  <a:pt x="0" y="233288"/>
                  <a:pt x="0" y="150287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01935" y="3761123"/>
            <a:ext cx="12210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1" i="0" u="none" strike="noStrike" kern="1200" cap="none" spc="0" normalizeH="0" baseline="0" noProof="0" dirty="0">
                <a:ln>
                  <a:noFill/>
                </a:ln>
                <a:solidFill>
                  <a:srgbClr val="1A1D21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7544" y="3704765"/>
            <a:ext cx="665018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3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场景化问题解决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7544" y="3967767"/>
            <a:ext cx="6640789" cy="21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7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深入理解药企在客户管理、销售流程、数据分析等实际场景中的痛点，提供针对性解决方案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7596" y="4331742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150287" y="0"/>
                </a:moveTo>
                <a:lnTo>
                  <a:pt x="150287" y="0"/>
                </a:lnTo>
                <a:cubicBezTo>
                  <a:pt x="233288" y="0"/>
                  <a:pt x="300573" y="67286"/>
                  <a:pt x="300573" y="150287"/>
                </a:cubicBezTo>
                <a:lnTo>
                  <a:pt x="300573" y="150287"/>
                </a:lnTo>
                <a:cubicBezTo>
                  <a:pt x="300573" y="233288"/>
                  <a:pt x="233288" y="300573"/>
                  <a:pt x="150287" y="300573"/>
                </a:cubicBezTo>
                <a:lnTo>
                  <a:pt x="150287" y="300573"/>
                </a:lnTo>
                <a:cubicBezTo>
                  <a:pt x="67286" y="300573"/>
                  <a:pt x="0" y="233288"/>
                  <a:pt x="0" y="150287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90898" y="4388100"/>
            <a:ext cx="14089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1" i="0" u="none" strike="noStrike" kern="1200" cap="none" spc="0" normalizeH="0" baseline="0" noProof="0" dirty="0">
                <a:ln>
                  <a:noFill/>
                </a:ln>
                <a:solidFill>
                  <a:srgbClr val="1A1D21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7544" y="4331742"/>
            <a:ext cx="665018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3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业务执行支持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7544" y="4594744"/>
            <a:ext cx="6640789" cy="21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7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在项目落地过程中，协助业务团队完成系统配置、数据迁移、用户培训等执行工作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7596" y="4958719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150287" y="0"/>
                </a:moveTo>
                <a:lnTo>
                  <a:pt x="150287" y="0"/>
                </a:lnTo>
                <a:cubicBezTo>
                  <a:pt x="233288" y="0"/>
                  <a:pt x="300573" y="67286"/>
                  <a:pt x="300573" y="150287"/>
                </a:cubicBezTo>
                <a:lnTo>
                  <a:pt x="300573" y="150287"/>
                </a:lnTo>
                <a:cubicBezTo>
                  <a:pt x="300573" y="233288"/>
                  <a:pt x="233288" y="300573"/>
                  <a:pt x="150287" y="300573"/>
                </a:cubicBezTo>
                <a:lnTo>
                  <a:pt x="150287" y="300573"/>
                </a:lnTo>
                <a:cubicBezTo>
                  <a:pt x="67286" y="300573"/>
                  <a:pt x="0" y="233288"/>
                  <a:pt x="0" y="150287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Text 34"/>
          <p:cNvSpPr/>
          <p:nvPr/>
        </p:nvSpPr>
        <p:spPr>
          <a:xfrm>
            <a:off x="389137" y="5015077"/>
            <a:ext cx="14089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1" i="0" u="none" strike="noStrike" kern="1200" cap="none" spc="0" normalizeH="0" baseline="0" noProof="0" dirty="0">
                <a:ln>
                  <a:noFill/>
                </a:ln>
                <a:solidFill>
                  <a:srgbClr val="1A1D21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7544" y="4958719"/>
            <a:ext cx="665018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3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运维问题处理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7544" y="5221721"/>
            <a:ext cx="6640789" cy="21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7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快速响应系统运行中的技术问题，协调研发资源进行问题溯源和修复，保障业务连续性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824294" y="751434"/>
            <a:ext cx="3738379" cy="3982595"/>
          </a:xfrm>
          <a:custGeom>
            <a:avLst/>
            <a:gdLst/>
            <a:ahLst/>
            <a:cxnLst/>
            <a:rect l="l" t="t" r="r" b="b"/>
            <a:pathLst>
              <a:path w="3738379" h="3982595">
                <a:moveTo>
                  <a:pt x="75141" y="0"/>
                </a:moveTo>
                <a:lnTo>
                  <a:pt x="3663238" y="0"/>
                </a:lnTo>
                <a:cubicBezTo>
                  <a:pt x="3704737" y="0"/>
                  <a:pt x="3738379" y="33642"/>
                  <a:pt x="3738379" y="75141"/>
                </a:cubicBezTo>
                <a:lnTo>
                  <a:pt x="3738379" y="3907453"/>
                </a:lnTo>
                <a:cubicBezTo>
                  <a:pt x="3738379" y="3948953"/>
                  <a:pt x="3704737" y="3982595"/>
                  <a:pt x="3663238" y="3982595"/>
                </a:cubicBezTo>
                <a:lnTo>
                  <a:pt x="75141" y="3982595"/>
                </a:lnTo>
                <a:cubicBezTo>
                  <a:pt x="33642" y="3982595"/>
                  <a:pt x="0" y="3948953"/>
                  <a:pt x="0" y="3907453"/>
                </a:cubicBezTo>
                <a:lnTo>
                  <a:pt x="0" y="75141"/>
                </a:lnTo>
                <a:cubicBezTo>
                  <a:pt x="0" y="33642"/>
                  <a:pt x="33642" y="0"/>
                  <a:pt x="7514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049724" y="976864"/>
            <a:ext cx="338144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9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服务数据一览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908830" y="1465295"/>
            <a:ext cx="3569307" cy="5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38" b="1" i="0" u="none" strike="noStrike" kern="1200" cap="none" spc="0" normalizeH="0" baseline="0" noProof="0" dirty="0">
                <a:ln>
                  <a:noFill/>
                </a:ln>
                <a:solidFill>
                  <a:srgbClr val="3D8F8A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5+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012152" y="2104013"/>
            <a:ext cx="33626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3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7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服务药企数量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908830" y="2554873"/>
            <a:ext cx="3569307" cy="5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38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012152" y="3193591"/>
            <a:ext cx="33626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3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7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客户需求响应率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908830" y="3644451"/>
            <a:ext cx="3569307" cy="5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38" b="1" i="0" u="none" strike="noStrike" kern="1200" cap="none" spc="0" normalizeH="0" baseline="0" noProof="0" dirty="0">
                <a:ln>
                  <a:noFill/>
                </a:ln>
                <a:solidFill>
                  <a:srgbClr val="3D8F8A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95%+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012152" y="4283169"/>
            <a:ext cx="33626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3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7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客户满意度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828051" y="4925644"/>
            <a:ext cx="3727108" cy="1360094"/>
          </a:xfrm>
          <a:custGeom>
            <a:avLst/>
            <a:gdLst/>
            <a:ahLst/>
            <a:cxnLst/>
            <a:rect l="l" t="t" r="r" b="b"/>
            <a:pathLst>
              <a:path w="3727108" h="1360094">
                <a:moveTo>
                  <a:pt x="75145" y="0"/>
                </a:moveTo>
                <a:lnTo>
                  <a:pt x="3651962" y="0"/>
                </a:lnTo>
                <a:cubicBezTo>
                  <a:pt x="3693464" y="0"/>
                  <a:pt x="3727108" y="33644"/>
                  <a:pt x="3727108" y="75145"/>
                </a:cubicBezTo>
                <a:lnTo>
                  <a:pt x="3727108" y="1284949"/>
                </a:lnTo>
                <a:cubicBezTo>
                  <a:pt x="3727108" y="1326450"/>
                  <a:pt x="3693464" y="1360094"/>
                  <a:pt x="3651962" y="1360094"/>
                </a:cubicBezTo>
                <a:lnTo>
                  <a:pt x="75145" y="1360094"/>
                </a:lnTo>
                <a:cubicBezTo>
                  <a:pt x="33644" y="1360094"/>
                  <a:pt x="0" y="1326450"/>
                  <a:pt x="0" y="1284949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016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010661" y="5107177"/>
            <a:ext cx="140894" cy="187858"/>
          </a:xfrm>
          <a:custGeom>
            <a:avLst/>
            <a:gdLst/>
            <a:ahLst/>
            <a:cxnLst/>
            <a:rect l="l" t="t" r="r" b="b"/>
            <a:pathLst>
              <a:path w="140894" h="187858">
                <a:moveTo>
                  <a:pt x="107468" y="140894"/>
                </a:moveTo>
                <a:cubicBezTo>
                  <a:pt x="110147" y="132712"/>
                  <a:pt x="115503" y="125300"/>
                  <a:pt x="121557" y="118916"/>
                </a:cubicBezTo>
                <a:cubicBezTo>
                  <a:pt x="133555" y="106294"/>
                  <a:pt x="140894" y="89233"/>
                  <a:pt x="140894" y="70447"/>
                </a:cubicBezTo>
                <a:cubicBezTo>
                  <a:pt x="140894" y="31554"/>
                  <a:pt x="109339" y="0"/>
                  <a:pt x="70447" y="0"/>
                </a:cubicBezTo>
                <a:cubicBezTo>
                  <a:pt x="31554" y="0"/>
                  <a:pt x="0" y="31554"/>
                  <a:pt x="0" y="70447"/>
                </a:cubicBezTo>
                <a:cubicBezTo>
                  <a:pt x="0" y="89233"/>
                  <a:pt x="7338" y="106294"/>
                  <a:pt x="19336" y="118916"/>
                </a:cubicBezTo>
                <a:cubicBezTo>
                  <a:pt x="25390" y="125300"/>
                  <a:pt x="30784" y="132712"/>
                  <a:pt x="33426" y="140894"/>
                </a:cubicBezTo>
                <a:lnTo>
                  <a:pt x="107431" y="140894"/>
                </a:lnTo>
                <a:close/>
                <a:moveTo>
                  <a:pt x="105670" y="158505"/>
                </a:moveTo>
                <a:lnTo>
                  <a:pt x="35223" y="158505"/>
                </a:lnTo>
                <a:lnTo>
                  <a:pt x="35223" y="164376"/>
                </a:lnTo>
                <a:cubicBezTo>
                  <a:pt x="35223" y="180593"/>
                  <a:pt x="48359" y="193729"/>
                  <a:pt x="64576" y="193729"/>
                </a:cubicBezTo>
                <a:lnTo>
                  <a:pt x="76317" y="193729"/>
                </a:lnTo>
                <a:cubicBezTo>
                  <a:pt x="92535" y="193729"/>
                  <a:pt x="105670" y="180593"/>
                  <a:pt x="105670" y="164376"/>
                </a:cubicBezTo>
                <a:lnTo>
                  <a:pt x="105670" y="158505"/>
                </a:lnTo>
                <a:close/>
                <a:moveTo>
                  <a:pt x="67512" y="41094"/>
                </a:moveTo>
                <a:cubicBezTo>
                  <a:pt x="52909" y="41094"/>
                  <a:pt x="41094" y="52909"/>
                  <a:pt x="41094" y="67512"/>
                </a:cubicBezTo>
                <a:cubicBezTo>
                  <a:pt x="41094" y="72391"/>
                  <a:pt x="37168" y="76317"/>
                  <a:pt x="32288" y="76317"/>
                </a:cubicBezTo>
                <a:cubicBezTo>
                  <a:pt x="27408" y="76317"/>
                  <a:pt x="23482" y="72391"/>
                  <a:pt x="23482" y="67512"/>
                </a:cubicBezTo>
                <a:cubicBezTo>
                  <a:pt x="23482" y="43185"/>
                  <a:pt x="43185" y="23482"/>
                  <a:pt x="67512" y="23482"/>
                </a:cubicBezTo>
                <a:cubicBezTo>
                  <a:pt x="72391" y="23482"/>
                  <a:pt x="76317" y="27408"/>
                  <a:pt x="76317" y="32288"/>
                </a:cubicBezTo>
                <a:cubicBezTo>
                  <a:pt x="76317" y="37168"/>
                  <a:pt x="72391" y="41094"/>
                  <a:pt x="67512" y="41094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200798" y="5090220"/>
            <a:ext cx="67629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3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关键成长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019666" y="5455405"/>
            <a:ext cx="3409627" cy="638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通过服务多家不同类型、不同规模的药企，积累了丰富的行业认知和项目实践经验，建立起对医疗SaaS业务的系统性理解。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35">
            <a:extLst>
              <a:ext uri="{FF2B5EF4-FFF2-40B4-BE49-F238E27FC236}">
                <a16:creationId xmlns:a16="http://schemas.microsoft.com/office/drawing/2014/main" id="{71E6BE3C-A3F5-05E3-BFC0-B534E4CA93D5}"/>
              </a:ext>
            </a:extLst>
          </p:cNvPr>
          <p:cNvSpPr/>
          <p:nvPr/>
        </p:nvSpPr>
        <p:spPr>
          <a:xfrm>
            <a:off x="637544" y="5614462"/>
            <a:ext cx="665018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8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统筹项目管理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36">
            <a:extLst>
              <a:ext uri="{FF2B5EF4-FFF2-40B4-BE49-F238E27FC236}">
                <a16:creationId xmlns:a16="http://schemas.microsoft.com/office/drawing/2014/main" id="{C33B7B25-D604-9D7E-F591-C6E3494FA749}"/>
              </a:ext>
            </a:extLst>
          </p:cNvPr>
          <p:cNvSpPr/>
          <p:nvPr/>
        </p:nvSpPr>
        <p:spPr>
          <a:xfrm>
            <a:off x="620754" y="5929952"/>
            <a:ext cx="6640789" cy="438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zh-CN" sz="1035" dirty="0">
                <a:solidFill>
                  <a:srgbClr val="E8E8E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把控项目实施的全流程节奏，顺利并按时交付项目结果。同时能独立承接并解决不同客户相关业务问题，妥善解决不同系统之间对接问题</a:t>
            </a:r>
            <a:endParaRPr lang="en-US" sz="1035" dirty="0">
              <a:solidFill>
                <a:srgbClr val="E8E8E8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5" name="Shape 33">
            <a:extLst>
              <a:ext uri="{FF2B5EF4-FFF2-40B4-BE49-F238E27FC236}">
                <a16:creationId xmlns:a16="http://schemas.microsoft.com/office/drawing/2014/main" id="{AE4ED3ED-7E48-A5F0-937C-0A108CB99747}"/>
              </a:ext>
            </a:extLst>
          </p:cNvPr>
          <p:cNvSpPr/>
          <p:nvPr/>
        </p:nvSpPr>
        <p:spPr>
          <a:xfrm>
            <a:off x="271608" y="5619064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150287" y="0"/>
                </a:moveTo>
                <a:lnTo>
                  <a:pt x="150287" y="0"/>
                </a:lnTo>
                <a:cubicBezTo>
                  <a:pt x="233288" y="0"/>
                  <a:pt x="300573" y="67286"/>
                  <a:pt x="300573" y="150287"/>
                </a:cubicBezTo>
                <a:lnTo>
                  <a:pt x="300573" y="150287"/>
                </a:lnTo>
                <a:cubicBezTo>
                  <a:pt x="300573" y="233288"/>
                  <a:pt x="233288" y="300573"/>
                  <a:pt x="150287" y="300573"/>
                </a:cubicBezTo>
                <a:lnTo>
                  <a:pt x="150287" y="300573"/>
                </a:lnTo>
                <a:cubicBezTo>
                  <a:pt x="67286" y="300573"/>
                  <a:pt x="0" y="233288"/>
                  <a:pt x="0" y="150287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067E025C-E451-A49C-4221-BC6AA93CA45D}"/>
              </a:ext>
            </a:extLst>
          </p:cNvPr>
          <p:cNvSpPr/>
          <p:nvPr/>
        </p:nvSpPr>
        <p:spPr>
          <a:xfrm>
            <a:off x="383149" y="5675422"/>
            <a:ext cx="14089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35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7640" y="226813"/>
            <a:ext cx="10471868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90000"/>
              </a:lnSpc>
            </a:pPr>
            <a:r>
              <a:rPr kumimoji="0" lang="en-US" sz="2534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1.2 </a:t>
            </a:r>
            <a:r>
              <a:rPr kumimoji="0" lang="zh-CN" altLang="en-US" sz="2534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年度工作成果</a:t>
            </a:r>
            <a:r>
              <a:rPr lang="en-US" altLang="zh-CN" sz="2534" b="1" dirty="0">
                <a:solidFill>
                  <a:srgbClr val="E8E8E8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:泰诺</a:t>
            </a:r>
            <a:r>
              <a:rPr lang="zh-CN" altLang="en-US" sz="2534" b="1" dirty="0">
                <a:solidFill>
                  <a:srgbClr val="E8E8E8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麦博</a:t>
            </a:r>
            <a:r>
              <a:rPr lang="en-US" altLang="zh-CN" sz="2534" b="1" dirty="0">
                <a:solidFill>
                  <a:srgbClr val="E8E8E8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项目</a:t>
            </a:r>
            <a:r>
              <a:rPr kumimoji="0" lang="en-US" sz="2534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从0到1的产品化突破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792" y="785957"/>
            <a:ext cx="5620476" cy="2366893"/>
          </a:xfrm>
          <a:custGeom>
            <a:avLst/>
            <a:gdLst/>
            <a:ahLst/>
            <a:cxnLst/>
            <a:rect l="l" t="t" r="r" b="b"/>
            <a:pathLst>
              <a:path w="5620476" h="2366893">
                <a:moveTo>
                  <a:pt x="71504" y="0"/>
                </a:moveTo>
                <a:lnTo>
                  <a:pt x="5548972" y="0"/>
                </a:lnTo>
                <a:cubicBezTo>
                  <a:pt x="5588463" y="0"/>
                  <a:pt x="5620476" y="32013"/>
                  <a:pt x="5620476" y="71504"/>
                </a:cubicBezTo>
                <a:lnTo>
                  <a:pt x="5620476" y="2295389"/>
                </a:lnTo>
                <a:cubicBezTo>
                  <a:pt x="5620476" y="2334879"/>
                  <a:pt x="5588463" y="2366893"/>
                  <a:pt x="5548972" y="2366893"/>
                </a:cubicBezTo>
                <a:lnTo>
                  <a:pt x="71504" y="2366893"/>
                </a:lnTo>
                <a:cubicBezTo>
                  <a:pt x="32013" y="2366893"/>
                  <a:pt x="0" y="2334879"/>
                  <a:pt x="0" y="2295389"/>
                </a:cubicBezTo>
                <a:lnTo>
                  <a:pt x="0" y="71504"/>
                </a:lnTo>
                <a:cubicBezTo>
                  <a:pt x="0" y="32040"/>
                  <a:pt x="32040" y="0"/>
                  <a:pt x="71504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3D8F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04889" y="977128"/>
            <a:ext cx="268152" cy="268152"/>
          </a:xfrm>
          <a:custGeom>
            <a:avLst/>
            <a:gdLst/>
            <a:ahLst/>
            <a:cxnLst/>
            <a:rect l="l" t="t" r="r" b="b"/>
            <a:pathLst>
              <a:path w="268152" h="268152">
                <a:moveTo>
                  <a:pt x="67038" y="167595"/>
                </a:moveTo>
                <a:lnTo>
                  <a:pt x="12832" y="167595"/>
                </a:lnTo>
                <a:cubicBezTo>
                  <a:pt x="-209" y="167595"/>
                  <a:pt x="-8223" y="153402"/>
                  <a:pt x="-1519" y="142194"/>
                </a:cubicBezTo>
                <a:lnTo>
                  <a:pt x="26187" y="96001"/>
                </a:lnTo>
                <a:cubicBezTo>
                  <a:pt x="30743" y="88407"/>
                  <a:pt x="38914" y="83798"/>
                  <a:pt x="47765" y="83798"/>
                </a:cubicBezTo>
                <a:lnTo>
                  <a:pt x="97520" y="83798"/>
                </a:lnTo>
                <a:cubicBezTo>
                  <a:pt x="137376" y="16288"/>
                  <a:pt x="196820" y="12884"/>
                  <a:pt x="236571" y="18697"/>
                </a:cubicBezTo>
                <a:cubicBezTo>
                  <a:pt x="243275" y="19692"/>
                  <a:pt x="248512" y="24930"/>
                  <a:pt x="249455" y="31581"/>
                </a:cubicBezTo>
                <a:cubicBezTo>
                  <a:pt x="255269" y="71333"/>
                  <a:pt x="251864" y="130777"/>
                  <a:pt x="184355" y="170633"/>
                </a:cubicBezTo>
                <a:lnTo>
                  <a:pt x="184355" y="220388"/>
                </a:lnTo>
                <a:cubicBezTo>
                  <a:pt x="184355" y="229239"/>
                  <a:pt x="179746" y="237409"/>
                  <a:pt x="172152" y="241966"/>
                </a:cubicBezTo>
                <a:lnTo>
                  <a:pt x="125958" y="269671"/>
                </a:lnTo>
                <a:cubicBezTo>
                  <a:pt x="114803" y="276375"/>
                  <a:pt x="100557" y="268310"/>
                  <a:pt x="100557" y="255321"/>
                </a:cubicBezTo>
                <a:lnTo>
                  <a:pt x="100557" y="201114"/>
                </a:lnTo>
                <a:cubicBezTo>
                  <a:pt x="100557" y="182627"/>
                  <a:pt x="85526" y="167595"/>
                  <a:pt x="67038" y="167595"/>
                </a:cubicBezTo>
                <a:lnTo>
                  <a:pt x="66986" y="167595"/>
                </a:lnTo>
                <a:close/>
                <a:moveTo>
                  <a:pt x="209494" y="83798"/>
                </a:moveTo>
                <a:cubicBezTo>
                  <a:pt x="209494" y="69923"/>
                  <a:pt x="198230" y="58658"/>
                  <a:pt x="184355" y="58658"/>
                </a:cubicBezTo>
                <a:cubicBezTo>
                  <a:pt x="170480" y="58658"/>
                  <a:pt x="159216" y="69923"/>
                  <a:pt x="159216" y="83798"/>
                </a:cubicBezTo>
                <a:cubicBezTo>
                  <a:pt x="159216" y="97672"/>
                  <a:pt x="170480" y="108937"/>
                  <a:pt x="184355" y="108937"/>
                </a:cubicBezTo>
                <a:cubicBezTo>
                  <a:pt x="198230" y="108937"/>
                  <a:pt x="209494" y="97672"/>
                  <a:pt x="209494" y="8379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1778" y="977128"/>
            <a:ext cx="1223893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9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主动承接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9136" y="1397233"/>
            <a:ext cx="5327296" cy="46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面对泰诺提出的全新CRM需求，</a:t>
            </a:r>
            <a:r>
              <a:rPr kumimoji="0" lang="en-US" sz="1126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主动举手</a:t>
            </a: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承接项目，展现出强烈的责任意识和成长意愿。这不仅是工作任务，更是深入了解药企真实业务场景的战略机会。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9136" y="1969292"/>
            <a:ext cx="5255789" cy="1001103"/>
          </a:xfrm>
          <a:custGeom>
            <a:avLst/>
            <a:gdLst/>
            <a:ahLst/>
            <a:cxnLst/>
            <a:rect l="l" t="t" r="r" b="b"/>
            <a:pathLst>
              <a:path w="5255789" h="1001103">
                <a:moveTo>
                  <a:pt x="35749" y="0"/>
                </a:moveTo>
                <a:lnTo>
                  <a:pt x="5220039" y="0"/>
                </a:lnTo>
                <a:cubicBezTo>
                  <a:pt x="5239783" y="0"/>
                  <a:pt x="5255789" y="16006"/>
                  <a:pt x="5255789" y="35749"/>
                </a:cubicBezTo>
                <a:lnTo>
                  <a:pt x="5255789" y="965353"/>
                </a:lnTo>
                <a:cubicBezTo>
                  <a:pt x="5255789" y="985097"/>
                  <a:pt x="5239783" y="1001103"/>
                  <a:pt x="5220039" y="1001103"/>
                </a:cubicBezTo>
                <a:lnTo>
                  <a:pt x="35749" y="1001103"/>
                </a:lnTo>
                <a:cubicBezTo>
                  <a:pt x="16006" y="1001103"/>
                  <a:pt x="0" y="985097"/>
                  <a:pt x="0" y="965353"/>
                </a:cubicBezTo>
                <a:lnTo>
                  <a:pt x="0" y="35749"/>
                </a:lnTo>
                <a:cubicBezTo>
                  <a:pt x="0" y="16006"/>
                  <a:pt x="16006" y="0"/>
                  <a:pt x="35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04889" y="2121244"/>
            <a:ext cx="5032328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6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项目亮点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8320" y="2364426"/>
            <a:ext cx="5206606" cy="46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从需求调研、方案设计、产品输出到项目交付，完成全流程工作，实现</a:t>
            </a:r>
            <a:r>
              <a:rPr kumimoji="0" lang="en-US" sz="1126" b="1" i="0" u="none" strike="noStrike" kern="1200" cap="none" spc="0" normalizeH="0" baseline="0" noProof="0" dirty="0">
                <a:ln>
                  <a:noFill/>
                </a:ln>
                <a:solidFill>
                  <a:srgbClr val="3D8F8A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从0到1</a:t>
            </a: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的完整突破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792" y="3401627"/>
            <a:ext cx="5620476" cy="2152371"/>
          </a:xfrm>
          <a:custGeom>
            <a:avLst/>
            <a:gdLst/>
            <a:ahLst/>
            <a:cxnLst/>
            <a:rect l="l" t="t" r="r" b="b"/>
            <a:pathLst>
              <a:path w="5620476" h="2152371">
                <a:moveTo>
                  <a:pt x="71502" y="0"/>
                </a:moveTo>
                <a:lnTo>
                  <a:pt x="5548974" y="0"/>
                </a:lnTo>
                <a:cubicBezTo>
                  <a:pt x="5588464" y="0"/>
                  <a:pt x="5620476" y="32012"/>
                  <a:pt x="5620476" y="71502"/>
                </a:cubicBezTo>
                <a:lnTo>
                  <a:pt x="5620476" y="2080869"/>
                </a:lnTo>
                <a:cubicBezTo>
                  <a:pt x="5620476" y="2120358"/>
                  <a:pt x="5588464" y="2152371"/>
                  <a:pt x="5548974" y="2152371"/>
                </a:cubicBezTo>
                <a:lnTo>
                  <a:pt x="71502" y="2152371"/>
                </a:lnTo>
                <a:cubicBezTo>
                  <a:pt x="32012" y="2152371"/>
                  <a:pt x="0" y="2120358"/>
                  <a:pt x="0" y="2080869"/>
                </a:cubicBezTo>
                <a:lnTo>
                  <a:pt x="0" y="71502"/>
                </a:lnTo>
                <a:cubicBezTo>
                  <a:pt x="0" y="32012"/>
                  <a:pt x="32012" y="0"/>
                  <a:pt x="715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5A16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C5A16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88130" y="3592796"/>
            <a:ext cx="301672" cy="268152"/>
          </a:xfrm>
          <a:custGeom>
            <a:avLst/>
            <a:gdLst/>
            <a:ahLst/>
            <a:cxnLst/>
            <a:rect l="l" t="t" r="r" b="b"/>
            <a:pathLst>
              <a:path w="301672" h="268152">
                <a:moveTo>
                  <a:pt x="201114" y="75418"/>
                </a:moveTo>
                <a:cubicBezTo>
                  <a:pt x="201114" y="126325"/>
                  <a:pt x="156073" y="167595"/>
                  <a:pt x="100557" y="167595"/>
                </a:cubicBezTo>
                <a:cubicBezTo>
                  <a:pt x="86573" y="167595"/>
                  <a:pt x="73271" y="164977"/>
                  <a:pt x="61172" y="160263"/>
                </a:cubicBezTo>
                <a:lnTo>
                  <a:pt x="18435" y="182888"/>
                </a:lnTo>
                <a:cubicBezTo>
                  <a:pt x="13565" y="185455"/>
                  <a:pt x="7594" y="184564"/>
                  <a:pt x="3666" y="180689"/>
                </a:cubicBezTo>
                <a:cubicBezTo>
                  <a:pt x="-262" y="176813"/>
                  <a:pt x="-1152" y="170790"/>
                  <a:pt x="1466" y="165919"/>
                </a:cubicBezTo>
                <a:lnTo>
                  <a:pt x="20111" y="130724"/>
                </a:lnTo>
                <a:cubicBezTo>
                  <a:pt x="7489" y="115327"/>
                  <a:pt x="0" y="96158"/>
                  <a:pt x="0" y="75418"/>
                </a:cubicBezTo>
                <a:cubicBezTo>
                  <a:pt x="0" y="24511"/>
                  <a:pt x="45041" y="-16760"/>
                  <a:pt x="100557" y="-16760"/>
                </a:cubicBezTo>
                <a:cubicBezTo>
                  <a:pt x="156073" y="-16760"/>
                  <a:pt x="201114" y="24511"/>
                  <a:pt x="201114" y="75418"/>
                </a:cubicBezTo>
                <a:close/>
                <a:moveTo>
                  <a:pt x="201114" y="268152"/>
                </a:moveTo>
                <a:cubicBezTo>
                  <a:pt x="151831" y="268152"/>
                  <a:pt x="110822" y="235629"/>
                  <a:pt x="102233" y="192735"/>
                </a:cubicBezTo>
                <a:cubicBezTo>
                  <a:pt x="165081" y="191949"/>
                  <a:pt x="219707" y="147222"/>
                  <a:pt x="225730" y="86573"/>
                </a:cubicBezTo>
                <a:cubicBezTo>
                  <a:pt x="269357" y="96629"/>
                  <a:pt x="301672" y="132819"/>
                  <a:pt x="301672" y="175975"/>
                </a:cubicBezTo>
                <a:cubicBezTo>
                  <a:pt x="301672" y="196715"/>
                  <a:pt x="294182" y="215884"/>
                  <a:pt x="281560" y="231282"/>
                </a:cubicBezTo>
                <a:lnTo>
                  <a:pt x="300205" y="266477"/>
                </a:lnTo>
                <a:cubicBezTo>
                  <a:pt x="302771" y="271347"/>
                  <a:pt x="301881" y="277318"/>
                  <a:pt x="298005" y="281246"/>
                </a:cubicBezTo>
                <a:cubicBezTo>
                  <a:pt x="294130" y="285174"/>
                  <a:pt x="288107" y="286064"/>
                  <a:pt x="283236" y="283446"/>
                </a:cubicBezTo>
                <a:lnTo>
                  <a:pt x="240499" y="260820"/>
                </a:lnTo>
                <a:cubicBezTo>
                  <a:pt x="228401" y="265534"/>
                  <a:pt x="215098" y="268152"/>
                  <a:pt x="201114" y="268152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11587" y="3583971"/>
            <a:ext cx="1477656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9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直面客户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9136" y="4012902"/>
            <a:ext cx="5327296" cy="46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与客户方业务团队、IT团队进行多轮深度沟通，真正</a:t>
            </a:r>
            <a:r>
              <a:rPr kumimoji="0" lang="en-US" sz="1126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走进业务现场</a:t>
            </a: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，理解药企CRM系统的真实业务场景和核心诉求。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7013" y="4620714"/>
            <a:ext cx="143015" cy="143015"/>
          </a:xfrm>
          <a:custGeom>
            <a:avLst/>
            <a:gdLst/>
            <a:ahLst/>
            <a:cxnLst/>
            <a:rect l="l" t="t" r="r" b="b"/>
            <a:pathLst>
              <a:path w="143015" h="143015">
                <a:moveTo>
                  <a:pt x="71507" y="143015"/>
                </a:moveTo>
                <a:cubicBezTo>
                  <a:pt x="110973" y="143015"/>
                  <a:pt x="143015" y="110973"/>
                  <a:pt x="143015" y="71507"/>
                </a:cubicBezTo>
                <a:cubicBezTo>
                  <a:pt x="143015" y="32041"/>
                  <a:pt x="110973" y="0"/>
                  <a:pt x="71507" y="0"/>
                </a:cubicBezTo>
                <a:cubicBezTo>
                  <a:pt x="32041" y="0"/>
                  <a:pt x="0" y="32041"/>
                  <a:pt x="0" y="71507"/>
                </a:cubicBezTo>
                <a:cubicBezTo>
                  <a:pt x="0" y="110973"/>
                  <a:pt x="32041" y="143015"/>
                  <a:pt x="71507" y="143015"/>
                </a:cubicBezTo>
                <a:close/>
                <a:moveTo>
                  <a:pt x="95082" y="59413"/>
                </a:moveTo>
                <a:lnTo>
                  <a:pt x="72736" y="95166"/>
                </a:lnTo>
                <a:cubicBezTo>
                  <a:pt x="71563" y="97038"/>
                  <a:pt x="69552" y="98211"/>
                  <a:pt x="67345" y="98323"/>
                </a:cubicBezTo>
                <a:cubicBezTo>
                  <a:pt x="65139" y="98434"/>
                  <a:pt x="63016" y="97429"/>
                  <a:pt x="61703" y="95641"/>
                </a:cubicBezTo>
                <a:lnTo>
                  <a:pt x="48295" y="77764"/>
                </a:lnTo>
                <a:cubicBezTo>
                  <a:pt x="46061" y="74803"/>
                  <a:pt x="46675" y="70613"/>
                  <a:pt x="49636" y="68379"/>
                </a:cubicBezTo>
                <a:cubicBezTo>
                  <a:pt x="52597" y="66144"/>
                  <a:pt x="56787" y="66759"/>
                  <a:pt x="59021" y="69720"/>
                </a:cubicBezTo>
                <a:lnTo>
                  <a:pt x="66563" y="79775"/>
                </a:lnTo>
                <a:lnTo>
                  <a:pt x="83714" y="52318"/>
                </a:lnTo>
                <a:cubicBezTo>
                  <a:pt x="85669" y="49189"/>
                  <a:pt x="89803" y="48212"/>
                  <a:pt x="92960" y="50195"/>
                </a:cubicBezTo>
                <a:cubicBezTo>
                  <a:pt x="96116" y="52178"/>
                  <a:pt x="97066" y="56284"/>
                  <a:pt x="95082" y="5944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19411" y="4584961"/>
            <a:ext cx="1358639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销售流程自动化需求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87013" y="4906744"/>
            <a:ext cx="143015" cy="143015"/>
          </a:xfrm>
          <a:custGeom>
            <a:avLst/>
            <a:gdLst/>
            <a:ahLst/>
            <a:cxnLst/>
            <a:rect l="l" t="t" r="r" b="b"/>
            <a:pathLst>
              <a:path w="143015" h="143015">
                <a:moveTo>
                  <a:pt x="71507" y="143015"/>
                </a:moveTo>
                <a:cubicBezTo>
                  <a:pt x="110973" y="143015"/>
                  <a:pt x="143015" y="110973"/>
                  <a:pt x="143015" y="71507"/>
                </a:cubicBezTo>
                <a:cubicBezTo>
                  <a:pt x="143015" y="32041"/>
                  <a:pt x="110973" y="0"/>
                  <a:pt x="71507" y="0"/>
                </a:cubicBezTo>
                <a:cubicBezTo>
                  <a:pt x="32041" y="0"/>
                  <a:pt x="0" y="32041"/>
                  <a:pt x="0" y="71507"/>
                </a:cubicBezTo>
                <a:cubicBezTo>
                  <a:pt x="0" y="110973"/>
                  <a:pt x="32041" y="143015"/>
                  <a:pt x="71507" y="143015"/>
                </a:cubicBezTo>
                <a:close/>
                <a:moveTo>
                  <a:pt x="95082" y="59413"/>
                </a:moveTo>
                <a:lnTo>
                  <a:pt x="72736" y="95166"/>
                </a:lnTo>
                <a:cubicBezTo>
                  <a:pt x="71563" y="97038"/>
                  <a:pt x="69552" y="98211"/>
                  <a:pt x="67345" y="98323"/>
                </a:cubicBezTo>
                <a:cubicBezTo>
                  <a:pt x="65139" y="98434"/>
                  <a:pt x="63016" y="97429"/>
                  <a:pt x="61703" y="95641"/>
                </a:cubicBezTo>
                <a:lnTo>
                  <a:pt x="48295" y="77764"/>
                </a:lnTo>
                <a:cubicBezTo>
                  <a:pt x="46061" y="74803"/>
                  <a:pt x="46675" y="70613"/>
                  <a:pt x="49636" y="68379"/>
                </a:cubicBezTo>
                <a:cubicBezTo>
                  <a:pt x="52597" y="66144"/>
                  <a:pt x="56787" y="66759"/>
                  <a:pt x="59021" y="69720"/>
                </a:cubicBezTo>
                <a:lnTo>
                  <a:pt x="66563" y="79775"/>
                </a:lnTo>
                <a:lnTo>
                  <a:pt x="83714" y="52318"/>
                </a:lnTo>
                <a:cubicBezTo>
                  <a:pt x="85669" y="49189"/>
                  <a:pt x="89803" y="48212"/>
                  <a:pt x="92960" y="50195"/>
                </a:cubicBezTo>
                <a:cubicBezTo>
                  <a:pt x="96116" y="52178"/>
                  <a:pt x="97066" y="56284"/>
                  <a:pt x="95082" y="5944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19411" y="4870990"/>
            <a:ext cx="1215625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客户数据统一管理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7013" y="5192773"/>
            <a:ext cx="143015" cy="143015"/>
          </a:xfrm>
          <a:custGeom>
            <a:avLst/>
            <a:gdLst/>
            <a:ahLst/>
            <a:cxnLst/>
            <a:rect l="l" t="t" r="r" b="b"/>
            <a:pathLst>
              <a:path w="143015" h="143015">
                <a:moveTo>
                  <a:pt x="71507" y="143015"/>
                </a:moveTo>
                <a:cubicBezTo>
                  <a:pt x="110973" y="143015"/>
                  <a:pt x="143015" y="110973"/>
                  <a:pt x="143015" y="71507"/>
                </a:cubicBezTo>
                <a:cubicBezTo>
                  <a:pt x="143015" y="32041"/>
                  <a:pt x="110973" y="0"/>
                  <a:pt x="71507" y="0"/>
                </a:cubicBezTo>
                <a:cubicBezTo>
                  <a:pt x="32041" y="0"/>
                  <a:pt x="0" y="32041"/>
                  <a:pt x="0" y="71507"/>
                </a:cubicBezTo>
                <a:cubicBezTo>
                  <a:pt x="0" y="110973"/>
                  <a:pt x="32041" y="143015"/>
                  <a:pt x="71507" y="143015"/>
                </a:cubicBezTo>
                <a:close/>
                <a:moveTo>
                  <a:pt x="95082" y="59413"/>
                </a:moveTo>
                <a:lnTo>
                  <a:pt x="72736" y="95166"/>
                </a:lnTo>
                <a:cubicBezTo>
                  <a:pt x="71563" y="97038"/>
                  <a:pt x="69552" y="98211"/>
                  <a:pt x="67345" y="98323"/>
                </a:cubicBezTo>
                <a:cubicBezTo>
                  <a:pt x="65139" y="98434"/>
                  <a:pt x="63016" y="97429"/>
                  <a:pt x="61703" y="95641"/>
                </a:cubicBezTo>
                <a:lnTo>
                  <a:pt x="48295" y="77764"/>
                </a:lnTo>
                <a:cubicBezTo>
                  <a:pt x="46061" y="74803"/>
                  <a:pt x="46675" y="70613"/>
                  <a:pt x="49636" y="68379"/>
                </a:cubicBezTo>
                <a:cubicBezTo>
                  <a:pt x="52597" y="66144"/>
                  <a:pt x="56787" y="66759"/>
                  <a:pt x="59021" y="69720"/>
                </a:cubicBezTo>
                <a:lnTo>
                  <a:pt x="66563" y="79775"/>
                </a:lnTo>
                <a:lnTo>
                  <a:pt x="83714" y="52318"/>
                </a:lnTo>
                <a:cubicBezTo>
                  <a:pt x="85669" y="49189"/>
                  <a:pt x="89803" y="48212"/>
                  <a:pt x="92960" y="50195"/>
                </a:cubicBezTo>
                <a:cubicBezTo>
                  <a:pt x="96116" y="52178"/>
                  <a:pt x="97066" y="56284"/>
                  <a:pt x="95082" y="5944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19411" y="5157019"/>
            <a:ext cx="1215625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营销活动效果追踪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14529" y="787581"/>
            <a:ext cx="5620476" cy="2365269"/>
          </a:xfrm>
          <a:custGeom>
            <a:avLst/>
            <a:gdLst/>
            <a:ahLst/>
            <a:cxnLst/>
            <a:rect l="l" t="t" r="r" b="b"/>
            <a:pathLst>
              <a:path w="5620476" h="2116617">
                <a:moveTo>
                  <a:pt x="71499" y="0"/>
                </a:moveTo>
                <a:lnTo>
                  <a:pt x="5548977" y="0"/>
                </a:lnTo>
                <a:cubicBezTo>
                  <a:pt x="5588465" y="0"/>
                  <a:pt x="5620476" y="32011"/>
                  <a:pt x="5620476" y="71499"/>
                </a:cubicBezTo>
                <a:lnTo>
                  <a:pt x="5620476" y="2045118"/>
                </a:lnTo>
                <a:cubicBezTo>
                  <a:pt x="5620476" y="2084606"/>
                  <a:pt x="5588465" y="2116617"/>
                  <a:pt x="5548977" y="2116617"/>
                </a:cubicBezTo>
                <a:lnTo>
                  <a:pt x="71499" y="2116617"/>
                </a:lnTo>
                <a:cubicBezTo>
                  <a:pt x="32038" y="2116617"/>
                  <a:pt x="0" y="2084579"/>
                  <a:pt x="0" y="2045118"/>
                </a:cubicBezTo>
                <a:lnTo>
                  <a:pt x="0" y="71499"/>
                </a:lnTo>
                <a:cubicBezTo>
                  <a:pt x="0" y="32038"/>
                  <a:pt x="32038" y="0"/>
                  <a:pt x="714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4A556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979825" y="1012509"/>
            <a:ext cx="201114" cy="268152"/>
          </a:xfrm>
          <a:custGeom>
            <a:avLst/>
            <a:gdLst/>
            <a:ahLst/>
            <a:cxnLst/>
            <a:rect l="l" t="t" r="r" b="b"/>
            <a:pathLst>
              <a:path w="201114" h="268152">
                <a:moveTo>
                  <a:pt x="0" y="33519"/>
                </a:moveTo>
                <a:cubicBezTo>
                  <a:pt x="0" y="15031"/>
                  <a:pt x="15031" y="0"/>
                  <a:pt x="33519" y="0"/>
                </a:cubicBezTo>
                <a:lnTo>
                  <a:pt x="111817" y="0"/>
                </a:lnTo>
                <a:cubicBezTo>
                  <a:pt x="120721" y="0"/>
                  <a:pt x="129258" y="3509"/>
                  <a:pt x="135543" y="9794"/>
                </a:cubicBezTo>
                <a:lnTo>
                  <a:pt x="191321" y="65624"/>
                </a:lnTo>
                <a:cubicBezTo>
                  <a:pt x="197605" y="71909"/>
                  <a:pt x="201114" y="80446"/>
                  <a:pt x="201114" y="89349"/>
                </a:cubicBezTo>
                <a:lnTo>
                  <a:pt x="201114" y="234633"/>
                </a:lnTo>
                <a:cubicBezTo>
                  <a:pt x="201114" y="253121"/>
                  <a:pt x="186083" y="268152"/>
                  <a:pt x="167595" y="268152"/>
                </a:cubicBezTo>
                <a:lnTo>
                  <a:pt x="33519" y="268152"/>
                </a:lnTo>
                <a:cubicBezTo>
                  <a:pt x="15031" y="268152"/>
                  <a:pt x="0" y="253121"/>
                  <a:pt x="0" y="234633"/>
                </a:cubicBezTo>
                <a:lnTo>
                  <a:pt x="0" y="33519"/>
                </a:lnTo>
                <a:close/>
                <a:moveTo>
                  <a:pt x="108937" y="30639"/>
                </a:moveTo>
                <a:lnTo>
                  <a:pt x="108937" y="79608"/>
                </a:lnTo>
                <a:cubicBezTo>
                  <a:pt x="108937" y="86573"/>
                  <a:pt x="114541" y="92177"/>
                  <a:pt x="121507" y="92177"/>
                </a:cubicBezTo>
                <a:lnTo>
                  <a:pt x="170476" y="92177"/>
                </a:lnTo>
                <a:lnTo>
                  <a:pt x="108937" y="30639"/>
                </a:lnTo>
                <a:close/>
                <a:moveTo>
                  <a:pt x="62848" y="134076"/>
                </a:moveTo>
                <a:cubicBezTo>
                  <a:pt x="55883" y="134076"/>
                  <a:pt x="50279" y="139680"/>
                  <a:pt x="50279" y="146646"/>
                </a:cubicBezTo>
                <a:cubicBezTo>
                  <a:pt x="50279" y="153612"/>
                  <a:pt x="55883" y="159216"/>
                  <a:pt x="62848" y="159216"/>
                </a:cubicBezTo>
                <a:lnTo>
                  <a:pt x="138266" y="159216"/>
                </a:lnTo>
                <a:cubicBezTo>
                  <a:pt x="145232" y="159216"/>
                  <a:pt x="150836" y="153612"/>
                  <a:pt x="150836" y="146646"/>
                </a:cubicBezTo>
                <a:cubicBezTo>
                  <a:pt x="150836" y="139680"/>
                  <a:pt x="145232" y="134076"/>
                  <a:pt x="138266" y="134076"/>
                </a:cubicBezTo>
                <a:lnTo>
                  <a:pt x="62848" y="134076"/>
                </a:lnTo>
                <a:close/>
                <a:moveTo>
                  <a:pt x="62848" y="184355"/>
                </a:moveTo>
                <a:cubicBezTo>
                  <a:pt x="55883" y="184355"/>
                  <a:pt x="50279" y="189959"/>
                  <a:pt x="50279" y="196924"/>
                </a:cubicBezTo>
                <a:cubicBezTo>
                  <a:pt x="50279" y="203890"/>
                  <a:pt x="55883" y="209494"/>
                  <a:pt x="62848" y="209494"/>
                </a:cubicBezTo>
                <a:lnTo>
                  <a:pt x="138266" y="209494"/>
                </a:lnTo>
                <a:cubicBezTo>
                  <a:pt x="145232" y="209494"/>
                  <a:pt x="150836" y="203890"/>
                  <a:pt x="150836" y="196924"/>
                </a:cubicBezTo>
                <a:cubicBezTo>
                  <a:pt x="150836" y="189959"/>
                  <a:pt x="145232" y="184355"/>
                  <a:pt x="138266" y="184355"/>
                </a:cubicBezTo>
                <a:lnTo>
                  <a:pt x="62848" y="184355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353004" y="1003682"/>
            <a:ext cx="1536275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9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产品化方案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61119" y="1459185"/>
            <a:ext cx="5327296" cy="46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基于对业务的深度理解，</a:t>
            </a:r>
            <a:r>
              <a:rPr kumimoji="0" lang="en-US" sz="1126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从0到1输出完整的产品化解决方案</a:t>
            </a: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，包括业务流程梳理、功能架构设计、系统原型绘制、技术方案对接等工作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814529" y="3410421"/>
            <a:ext cx="5620476" cy="2152371"/>
          </a:xfrm>
          <a:custGeom>
            <a:avLst/>
            <a:gdLst/>
            <a:ahLst/>
            <a:cxnLst/>
            <a:rect l="l" t="t" r="r" b="b"/>
            <a:pathLst>
              <a:path w="5620476" h="2483092">
                <a:moveTo>
                  <a:pt x="71513" y="0"/>
                </a:moveTo>
                <a:lnTo>
                  <a:pt x="5548963" y="0"/>
                </a:lnTo>
                <a:cubicBezTo>
                  <a:pt x="5588459" y="0"/>
                  <a:pt x="5620476" y="32017"/>
                  <a:pt x="5620476" y="71513"/>
                </a:cubicBezTo>
                <a:lnTo>
                  <a:pt x="5620476" y="2411579"/>
                </a:lnTo>
                <a:cubicBezTo>
                  <a:pt x="5620476" y="2451075"/>
                  <a:pt x="5588459" y="2483092"/>
                  <a:pt x="5548963" y="2483092"/>
                </a:cubicBezTo>
                <a:lnTo>
                  <a:pt x="71513" y="2483092"/>
                </a:lnTo>
                <a:cubicBezTo>
                  <a:pt x="32017" y="2483092"/>
                  <a:pt x="0" y="2451075"/>
                  <a:pt x="0" y="2411579"/>
                </a:cubicBezTo>
                <a:lnTo>
                  <a:pt x="0" y="71513"/>
                </a:lnTo>
                <a:cubicBezTo>
                  <a:pt x="0" y="32017"/>
                  <a:pt x="32017" y="0"/>
                  <a:pt x="7151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3D8F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999108" y="3601590"/>
            <a:ext cx="335191" cy="268152"/>
          </a:xfrm>
          <a:custGeom>
            <a:avLst/>
            <a:gdLst/>
            <a:ahLst/>
            <a:cxnLst/>
            <a:rect l="l" t="t" r="r" b="b"/>
            <a:pathLst>
              <a:path w="335191" h="268152">
                <a:moveTo>
                  <a:pt x="33519" y="50279"/>
                </a:moveTo>
                <a:cubicBezTo>
                  <a:pt x="33519" y="31791"/>
                  <a:pt x="48550" y="16760"/>
                  <a:pt x="67038" y="16760"/>
                </a:cubicBezTo>
                <a:lnTo>
                  <a:pt x="217874" y="16760"/>
                </a:lnTo>
                <a:cubicBezTo>
                  <a:pt x="236362" y="16760"/>
                  <a:pt x="251393" y="31791"/>
                  <a:pt x="251393" y="50279"/>
                </a:cubicBezTo>
                <a:lnTo>
                  <a:pt x="251393" y="67038"/>
                </a:lnTo>
                <a:lnTo>
                  <a:pt x="277946" y="67038"/>
                </a:lnTo>
                <a:cubicBezTo>
                  <a:pt x="286850" y="67038"/>
                  <a:pt x="295387" y="70547"/>
                  <a:pt x="301672" y="76832"/>
                </a:cubicBezTo>
                <a:lnTo>
                  <a:pt x="325397" y="100557"/>
                </a:lnTo>
                <a:cubicBezTo>
                  <a:pt x="331682" y="106842"/>
                  <a:pt x="335191" y="115379"/>
                  <a:pt x="335191" y="124282"/>
                </a:cubicBezTo>
                <a:lnTo>
                  <a:pt x="335191" y="201114"/>
                </a:lnTo>
                <a:cubicBezTo>
                  <a:pt x="335191" y="219602"/>
                  <a:pt x="320159" y="234633"/>
                  <a:pt x="301672" y="234633"/>
                </a:cubicBezTo>
                <a:lnTo>
                  <a:pt x="299943" y="234633"/>
                </a:lnTo>
                <a:cubicBezTo>
                  <a:pt x="294496" y="253959"/>
                  <a:pt x="276689" y="268152"/>
                  <a:pt x="255583" y="268152"/>
                </a:cubicBezTo>
                <a:cubicBezTo>
                  <a:pt x="234476" y="268152"/>
                  <a:pt x="216722" y="253959"/>
                  <a:pt x="211222" y="234633"/>
                </a:cubicBezTo>
                <a:lnTo>
                  <a:pt x="157487" y="234633"/>
                </a:lnTo>
                <a:cubicBezTo>
                  <a:pt x="152040" y="253959"/>
                  <a:pt x="134233" y="268152"/>
                  <a:pt x="113127" y="268152"/>
                </a:cubicBezTo>
                <a:cubicBezTo>
                  <a:pt x="92020" y="268152"/>
                  <a:pt x="74266" y="253959"/>
                  <a:pt x="68766" y="234633"/>
                </a:cubicBezTo>
                <a:lnTo>
                  <a:pt x="67038" y="234633"/>
                </a:lnTo>
                <a:cubicBezTo>
                  <a:pt x="48550" y="234633"/>
                  <a:pt x="33519" y="219602"/>
                  <a:pt x="33519" y="201114"/>
                </a:cubicBezTo>
                <a:lnTo>
                  <a:pt x="33519" y="175975"/>
                </a:lnTo>
                <a:lnTo>
                  <a:pt x="12570" y="175975"/>
                </a:lnTo>
                <a:cubicBezTo>
                  <a:pt x="5604" y="175975"/>
                  <a:pt x="0" y="170371"/>
                  <a:pt x="0" y="163405"/>
                </a:cubicBezTo>
                <a:cubicBezTo>
                  <a:pt x="0" y="156440"/>
                  <a:pt x="5604" y="150836"/>
                  <a:pt x="12570" y="150836"/>
                </a:cubicBezTo>
                <a:lnTo>
                  <a:pt x="71228" y="150836"/>
                </a:lnTo>
                <a:cubicBezTo>
                  <a:pt x="78194" y="150836"/>
                  <a:pt x="83798" y="145232"/>
                  <a:pt x="83798" y="138266"/>
                </a:cubicBezTo>
                <a:cubicBezTo>
                  <a:pt x="83798" y="131300"/>
                  <a:pt x="78194" y="125696"/>
                  <a:pt x="71228" y="125696"/>
                </a:cubicBezTo>
                <a:lnTo>
                  <a:pt x="12570" y="125696"/>
                </a:lnTo>
                <a:cubicBezTo>
                  <a:pt x="5604" y="125696"/>
                  <a:pt x="0" y="120093"/>
                  <a:pt x="0" y="113127"/>
                </a:cubicBezTo>
                <a:cubicBezTo>
                  <a:pt x="0" y="106161"/>
                  <a:pt x="5604" y="100557"/>
                  <a:pt x="12570" y="100557"/>
                </a:cubicBezTo>
                <a:lnTo>
                  <a:pt x="104747" y="100557"/>
                </a:lnTo>
                <a:cubicBezTo>
                  <a:pt x="111713" y="100557"/>
                  <a:pt x="117317" y="94953"/>
                  <a:pt x="117317" y="87988"/>
                </a:cubicBezTo>
                <a:cubicBezTo>
                  <a:pt x="117317" y="81022"/>
                  <a:pt x="111713" y="75418"/>
                  <a:pt x="104747" y="75418"/>
                </a:cubicBezTo>
                <a:lnTo>
                  <a:pt x="12570" y="75418"/>
                </a:lnTo>
                <a:cubicBezTo>
                  <a:pt x="5604" y="75418"/>
                  <a:pt x="0" y="69814"/>
                  <a:pt x="0" y="62848"/>
                </a:cubicBezTo>
                <a:cubicBezTo>
                  <a:pt x="0" y="55883"/>
                  <a:pt x="5604" y="50279"/>
                  <a:pt x="12570" y="50279"/>
                </a:cubicBezTo>
                <a:lnTo>
                  <a:pt x="33519" y="50279"/>
                </a:lnTo>
                <a:close/>
                <a:moveTo>
                  <a:pt x="301672" y="150836"/>
                </a:moveTo>
                <a:lnTo>
                  <a:pt x="301672" y="124282"/>
                </a:lnTo>
                <a:lnTo>
                  <a:pt x="277946" y="100557"/>
                </a:lnTo>
                <a:lnTo>
                  <a:pt x="251393" y="100557"/>
                </a:lnTo>
                <a:lnTo>
                  <a:pt x="251393" y="150836"/>
                </a:lnTo>
                <a:lnTo>
                  <a:pt x="301672" y="150836"/>
                </a:lnTo>
                <a:close/>
                <a:moveTo>
                  <a:pt x="134076" y="222064"/>
                </a:moveTo>
                <a:cubicBezTo>
                  <a:pt x="134076" y="210501"/>
                  <a:pt x="124689" y="201114"/>
                  <a:pt x="113127" y="201114"/>
                </a:cubicBezTo>
                <a:cubicBezTo>
                  <a:pt x="101565" y="201114"/>
                  <a:pt x="92177" y="210501"/>
                  <a:pt x="92177" y="222064"/>
                </a:cubicBezTo>
                <a:cubicBezTo>
                  <a:pt x="92177" y="233626"/>
                  <a:pt x="101565" y="243013"/>
                  <a:pt x="113127" y="243013"/>
                </a:cubicBezTo>
                <a:cubicBezTo>
                  <a:pt x="124689" y="243013"/>
                  <a:pt x="134076" y="233626"/>
                  <a:pt x="134076" y="222064"/>
                </a:cubicBezTo>
                <a:close/>
                <a:moveTo>
                  <a:pt x="255583" y="243013"/>
                </a:moveTo>
                <a:cubicBezTo>
                  <a:pt x="267145" y="243013"/>
                  <a:pt x="276532" y="233626"/>
                  <a:pt x="276532" y="222064"/>
                </a:cubicBezTo>
                <a:cubicBezTo>
                  <a:pt x="276532" y="210501"/>
                  <a:pt x="267145" y="201114"/>
                  <a:pt x="255583" y="201114"/>
                </a:cubicBezTo>
                <a:cubicBezTo>
                  <a:pt x="244021" y="201114"/>
                  <a:pt x="234633" y="210501"/>
                  <a:pt x="234633" y="222064"/>
                </a:cubicBezTo>
                <a:cubicBezTo>
                  <a:pt x="234633" y="233626"/>
                  <a:pt x="244021" y="243013"/>
                  <a:pt x="255583" y="24301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39325" y="3592763"/>
            <a:ext cx="1449954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9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如期交付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996873" y="4021696"/>
            <a:ext cx="5327296" cy="46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kumimoji="0" lang="en-US" sz="1126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高效的项目管理和跨部门协作</a:t>
            </a: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，推动项目按计划节点如期交付，</a:t>
            </a:r>
            <a:r>
              <a:rPr kumimoji="0" lang="en-US" altLang="zh-CN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UAT</a:t>
            </a: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获得客户认可。</a:t>
            </a:r>
            <a:r>
              <a:rPr kumimoji="0" lang="zh-CN" alt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待</a:t>
            </a: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项目</a:t>
            </a:r>
            <a:r>
              <a:rPr kumimoji="0" lang="zh-CN" alt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完全交付后，</a:t>
            </a: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业务团队使用反馈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6792" y="5902339"/>
            <a:ext cx="11466201" cy="543456"/>
          </a:xfrm>
          <a:custGeom>
            <a:avLst/>
            <a:gdLst/>
            <a:ahLst/>
            <a:cxnLst/>
            <a:rect l="l" t="t" r="r" b="b"/>
            <a:pathLst>
              <a:path w="11466201" h="543456">
                <a:moveTo>
                  <a:pt x="71508" y="0"/>
                </a:moveTo>
                <a:lnTo>
                  <a:pt x="11394693" y="0"/>
                </a:lnTo>
                <a:cubicBezTo>
                  <a:pt x="11434185" y="0"/>
                  <a:pt x="11466201" y="32015"/>
                  <a:pt x="11466201" y="71508"/>
                </a:cubicBezTo>
                <a:lnTo>
                  <a:pt x="11466201" y="471948"/>
                </a:lnTo>
                <a:cubicBezTo>
                  <a:pt x="11466201" y="511441"/>
                  <a:pt x="11434185" y="543456"/>
                  <a:pt x="11394693" y="543456"/>
                </a:cubicBezTo>
                <a:lnTo>
                  <a:pt x="71508" y="543456"/>
                </a:lnTo>
                <a:cubicBezTo>
                  <a:pt x="32015" y="543456"/>
                  <a:pt x="0" y="511441"/>
                  <a:pt x="0" y="471948"/>
                </a:cubicBezTo>
                <a:lnTo>
                  <a:pt x="0" y="71508"/>
                </a:lnTo>
                <a:cubicBezTo>
                  <a:pt x="0" y="32015"/>
                  <a:pt x="32015" y="0"/>
                  <a:pt x="71508" y="0"/>
                </a:cubicBezTo>
                <a:close/>
              </a:path>
            </a:pathLst>
          </a:custGeom>
          <a:gradFill flip="none" rotWithShape="1">
            <a:gsLst>
              <a:gs pos="0">
                <a:srgbClr val="C5A16F">
                  <a:alpha val="20000"/>
                </a:srgbClr>
              </a:gs>
              <a:gs pos="100000">
                <a:srgbClr val="3D8F8A">
                  <a:alpha val="20000"/>
                </a:srgbClr>
              </a:gs>
            </a:gsLst>
            <a:lin ang="0" scaled="1"/>
          </a:gradFill>
          <a:ln w="10160">
            <a:solidFill>
              <a:srgbClr val="C5A16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260197" y="6066804"/>
            <a:ext cx="214522" cy="214522"/>
          </a:xfrm>
          <a:custGeom>
            <a:avLst/>
            <a:gdLst/>
            <a:ahLst/>
            <a:cxnLst/>
            <a:rect l="l" t="t" r="r" b="b"/>
            <a:pathLst>
              <a:path w="214522" h="214522">
                <a:moveTo>
                  <a:pt x="60460" y="0"/>
                </a:moveTo>
                <a:lnTo>
                  <a:pt x="154313" y="0"/>
                </a:lnTo>
                <a:cubicBezTo>
                  <a:pt x="165417" y="0"/>
                  <a:pt x="174467" y="9134"/>
                  <a:pt x="174048" y="20195"/>
                </a:cubicBezTo>
                <a:cubicBezTo>
                  <a:pt x="173964" y="22416"/>
                  <a:pt x="173880" y="24637"/>
                  <a:pt x="173754" y="26815"/>
                </a:cubicBezTo>
                <a:lnTo>
                  <a:pt x="194536" y="26815"/>
                </a:lnTo>
                <a:cubicBezTo>
                  <a:pt x="205472" y="26815"/>
                  <a:pt x="215109" y="35865"/>
                  <a:pt x="214271" y="47681"/>
                </a:cubicBezTo>
                <a:cubicBezTo>
                  <a:pt x="211128" y="91130"/>
                  <a:pt x="188922" y="115012"/>
                  <a:pt x="164830" y="127498"/>
                </a:cubicBezTo>
                <a:cubicBezTo>
                  <a:pt x="158210" y="130934"/>
                  <a:pt x="151464" y="133490"/>
                  <a:pt x="145054" y="135375"/>
                </a:cubicBezTo>
                <a:cubicBezTo>
                  <a:pt x="136590" y="147358"/>
                  <a:pt x="127791" y="153685"/>
                  <a:pt x="120794" y="157079"/>
                </a:cubicBezTo>
                <a:lnTo>
                  <a:pt x="120794" y="187707"/>
                </a:lnTo>
                <a:lnTo>
                  <a:pt x="147610" y="187707"/>
                </a:lnTo>
                <a:cubicBezTo>
                  <a:pt x="155026" y="187707"/>
                  <a:pt x="161017" y="193698"/>
                  <a:pt x="161017" y="201114"/>
                </a:cubicBezTo>
                <a:cubicBezTo>
                  <a:pt x="161017" y="208530"/>
                  <a:pt x="155026" y="214522"/>
                  <a:pt x="147610" y="214522"/>
                </a:cubicBezTo>
                <a:lnTo>
                  <a:pt x="67164" y="214522"/>
                </a:lnTo>
                <a:cubicBezTo>
                  <a:pt x="59748" y="214522"/>
                  <a:pt x="53756" y="208530"/>
                  <a:pt x="53756" y="201114"/>
                </a:cubicBezTo>
                <a:cubicBezTo>
                  <a:pt x="53756" y="193698"/>
                  <a:pt x="59748" y="187707"/>
                  <a:pt x="67164" y="187707"/>
                </a:cubicBezTo>
                <a:lnTo>
                  <a:pt x="93979" y="187707"/>
                </a:lnTo>
                <a:lnTo>
                  <a:pt x="93979" y="157079"/>
                </a:lnTo>
                <a:cubicBezTo>
                  <a:pt x="87275" y="153852"/>
                  <a:pt x="78937" y="147861"/>
                  <a:pt x="70809" y="136842"/>
                </a:cubicBezTo>
                <a:cubicBezTo>
                  <a:pt x="63100" y="134830"/>
                  <a:pt x="54720" y="131772"/>
                  <a:pt x="46550" y="127163"/>
                </a:cubicBezTo>
                <a:cubicBezTo>
                  <a:pt x="23882" y="114468"/>
                  <a:pt x="3436" y="90543"/>
                  <a:pt x="503" y="47597"/>
                </a:cubicBezTo>
                <a:cubicBezTo>
                  <a:pt x="-293" y="35823"/>
                  <a:pt x="9302" y="26773"/>
                  <a:pt x="20237" y="26773"/>
                </a:cubicBezTo>
                <a:lnTo>
                  <a:pt x="41019" y="26773"/>
                </a:lnTo>
                <a:cubicBezTo>
                  <a:pt x="40893" y="24595"/>
                  <a:pt x="40809" y="22416"/>
                  <a:pt x="40726" y="20153"/>
                </a:cubicBezTo>
                <a:cubicBezTo>
                  <a:pt x="40307" y="9050"/>
                  <a:pt x="49357" y="-42"/>
                  <a:pt x="60460" y="-42"/>
                </a:cubicBezTo>
                <a:close/>
                <a:moveTo>
                  <a:pt x="42527" y="46927"/>
                </a:moveTo>
                <a:lnTo>
                  <a:pt x="20572" y="46927"/>
                </a:lnTo>
                <a:cubicBezTo>
                  <a:pt x="23170" y="82415"/>
                  <a:pt x="39469" y="100180"/>
                  <a:pt x="56270" y="109607"/>
                </a:cubicBezTo>
                <a:cubicBezTo>
                  <a:pt x="50237" y="93979"/>
                  <a:pt x="45251" y="73574"/>
                  <a:pt x="42527" y="46927"/>
                </a:cubicBezTo>
                <a:close/>
                <a:moveTo>
                  <a:pt x="159216" y="107596"/>
                </a:moveTo>
                <a:cubicBezTo>
                  <a:pt x="176185" y="97624"/>
                  <a:pt x="191520" y="79901"/>
                  <a:pt x="194117" y="46927"/>
                </a:cubicBezTo>
                <a:lnTo>
                  <a:pt x="172204" y="46927"/>
                </a:lnTo>
                <a:cubicBezTo>
                  <a:pt x="169606" y="72443"/>
                  <a:pt x="164914" y="92261"/>
                  <a:pt x="159216" y="107596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08796" y="6048927"/>
            <a:ext cx="1059984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67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核心成果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533313" y="6080885"/>
            <a:ext cx="6793196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通过泰诺项目，完成了从需求分析师到产品</a:t>
            </a:r>
            <a:r>
              <a:rPr kumimoji="0" lang="zh-CN" alt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迭代</a:t>
            </a: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的关键蜕变，</a:t>
            </a:r>
            <a:r>
              <a:rPr kumimoji="0" lang="zh-CN" alt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提升了</a:t>
            </a:r>
            <a:r>
              <a:rPr kumimoji="0" lang="en-US" sz="1126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独立负责完整产品生命周期</a:t>
            </a:r>
            <a:r>
              <a: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的核心能力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8275" y="284493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2.反思与成长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9006" y="657026"/>
            <a:ext cx="5705475" cy="3115137"/>
          </a:xfrm>
          <a:custGeom>
            <a:avLst/>
            <a:gdLst/>
            <a:ahLst/>
            <a:cxnLst/>
            <a:rect l="l" t="t" r="r" b="b"/>
            <a:pathLst>
              <a:path w="5705475" h="3776662">
                <a:moveTo>
                  <a:pt x="63486" y="0"/>
                </a:moveTo>
                <a:lnTo>
                  <a:pt x="5641989" y="0"/>
                </a:lnTo>
                <a:cubicBezTo>
                  <a:pt x="5677051" y="0"/>
                  <a:pt x="5705475" y="28424"/>
                  <a:pt x="5705475" y="63486"/>
                </a:cubicBezTo>
                <a:lnTo>
                  <a:pt x="5705475" y="3713177"/>
                </a:lnTo>
                <a:cubicBezTo>
                  <a:pt x="5705475" y="3748239"/>
                  <a:pt x="5677051" y="3776663"/>
                  <a:pt x="5641989" y="3776662"/>
                </a:cubicBezTo>
                <a:lnTo>
                  <a:pt x="63486" y="3776662"/>
                </a:lnTo>
                <a:cubicBezTo>
                  <a:pt x="28424" y="3776662"/>
                  <a:pt x="0" y="3748239"/>
                  <a:pt x="0" y="3713177"/>
                </a:cubicBezTo>
                <a:lnTo>
                  <a:pt x="0" y="63486"/>
                </a:lnTo>
                <a:cubicBezTo>
                  <a:pt x="0" y="28447"/>
                  <a:pt x="28447" y="0"/>
                  <a:pt x="6348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4A556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70931" y="81894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68066" y="866574"/>
            <a:ext cx="20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566" y="882449"/>
            <a:ext cx="11834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业务抽象能力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6806" y="126344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93181" y="1231699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存在的不足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0931" y="1485699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对于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SaaS功能之外的陌生复杂业务场景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，不能很好地总结和抽象出更有效的解决方案。面对非标需求时，容易陷入具体细节，缺乏从更高维度进行模式提炼和通用化思考的能力。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2681" y="215244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93181" y="2120698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改进方向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0931" y="2374698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70931" y="2374698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学习行业方法论：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系统学习业务抽象和领域建模的方法论，提升从特殊到一般的归纳能力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0931" y="2809277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70931" y="2809277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建立案例库：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积累和沉淀不同场景的解决方案案例，形成可复用的业务知识库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0931" y="3243855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70931" y="3243855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刻意练习：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对每个非标需求进行复盘，思考如何抽象为通用解决方案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20063" y="657026"/>
            <a:ext cx="5990431" cy="3146887"/>
          </a:xfrm>
          <a:custGeom>
            <a:avLst/>
            <a:gdLst/>
            <a:ahLst/>
            <a:cxnLst/>
            <a:rect l="l" t="t" r="r" b="b"/>
            <a:pathLst>
              <a:path w="5705475" h="3776662">
                <a:moveTo>
                  <a:pt x="63486" y="0"/>
                </a:moveTo>
                <a:lnTo>
                  <a:pt x="5641989" y="0"/>
                </a:lnTo>
                <a:cubicBezTo>
                  <a:pt x="5677051" y="0"/>
                  <a:pt x="5705475" y="28424"/>
                  <a:pt x="5705475" y="63486"/>
                </a:cubicBezTo>
                <a:lnTo>
                  <a:pt x="5705475" y="3713177"/>
                </a:lnTo>
                <a:cubicBezTo>
                  <a:pt x="5705475" y="3748239"/>
                  <a:pt x="5677051" y="3776663"/>
                  <a:pt x="5641989" y="3776662"/>
                </a:cubicBezTo>
                <a:lnTo>
                  <a:pt x="63486" y="3776662"/>
                </a:lnTo>
                <a:cubicBezTo>
                  <a:pt x="28424" y="3776662"/>
                  <a:pt x="0" y="3748239"/>
                  <a:pt x="0" y="3713177"/>
                </a:cubicBezTo>
                <a:lnTo>
                  <a:pt x="0" y="63486"/>
                </a:lnTo>
                <a:cubicBezTo>
                  <a:pt x="0" y="28447"/>
                  <a:pt x="28447" y="0"/>
                  <a:pt x="6348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4A556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174547" y="77926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261363" y="826887"/>
            <a:ext cx="22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77870" y="849111"/>
            <a:ext cx="1198563" cy="190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技术边界认知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97863" y="126344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04238" y="1231699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存在的不足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81988" y="1485699"/>
            <a:ext cx="566658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产品功能技术边界认知有待加强，在与客户聊方案的时候，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做不到心中有数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。对系统能力边界、技术实现难度、开发成本评估等方面认知不够清晰，难以给出客户标准化、合理化、成熟化的解决方案。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3738" y="222335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04238" y="2191608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改进方向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81988" y="2445608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181988" y="2445608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系统学习架构：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深入学习SaaS系统技术架构、数据模型、接口规范，建立完整的技术知识体系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81988" y="2880187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181988" y="2880187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参与技术评审：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积极参与技术方案评审，向研发同事学习技术实现逻辑和成本评估方法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81988" y="3314765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181988" y="3314765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建立能力地图：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梳理系统功能清单和能力边界，形成清晰的产品能力地图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9006" y="3872903"/>
            <a:ext cx="5705475" cy="2985098"/>
          </a:xfrm>
          <a:custGeom>
            <a:avLst/>
            <a:gdLst/>
            <a:ahLst/>
            <a:cxnLst/>
            <a:rect l="l" t="t" r="r" b="b"/>
            <a:pathLst>
              <a:path w="5705475" h="3570287">
                <a:moveTo>
                  <a:pt x="63515" y="0"/>
                </a:moveTo>
                <a:lnTo>
                  <a:pt x="5641960" y="0"/>
                </a:lnTo>
                <a:cubicBezTo>
                  <a:pt x="5677038" y="0"/>
                  <a:pt x="5705475" y="28437"/>
                  <a:pt x="5705475" y="63515"/>
                </a:cubicBezTo>
                <a:lnTo>
                  <a:pt x="5705475" y="3506772"/>
                </a:lnTo>
                <a:cubicBezTo>
                  <a:pt x="5705475" y="3541851"/>
                  <a:pt x="5677038" y="3570287"/>
                  <a:pt x="5641960" y="3570287"/>
                </a:cubicBezTo>
                <a:lnTo>
                  <a:pt x="63515" y="3570287"/>
                </a:lnTo>
                <a:cubicBezTo>
                  <a:pt x="28437" y="3570287"/>
                  <a:pt x="0" y="3541851"/>
                  <a:pt x="0" y="3506772"/>
                </a:cubicBezTo>
                <a:lnTo>
                  <a:pt x="0" y="63515"/>
                </a:lnTo>
                <a:cubicBezTo>
                  <a:pt x="0" y="28437"/>
                  <a:pt x="28437" y="0"/>
                  <a:pt x="6351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4A556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270931" y="403482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356458" y="4082451"/>
            <a:ext cx="22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3681" y="4098326"/>
            <a:ext cx="11853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项目统筹管理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86806" y="447932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93181" y="4447576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存在的不足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70931" y="4701576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多复杂项目并行时，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统筹管理能力有待加强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。项目风险意识不够敏锐，在资源冲突、进度延期、需求变更等多并发情况下，缺乏有效的应对策略和优先级判断机制。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02681" y="530059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93181" y="5268845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改进方向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70931" y="5522845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270931" y="5522845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学习项目管理：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系统学习多项目管理方法论，掌握资源分配、优先级管理、风险预警等核心技能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70931" y="5957423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270931" y="5957423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建立管理机制：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建立项目看板、风险清单、优先级评估矩阵等管理工具，提升管理可视化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70931" y="6392001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270931" y="6392001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加强主动沟通：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提前识别资源冲突和风险点，主动与相关方沟通协调，避免问题爆发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024097" y="3872903"/>
            <a:ext cx="6058897" cy="2985098"/>
          </a:xfrm>
          <a:custGeom>
            <a:avLst/>
            <a:gdLst/>
            <a:ahLst/>
            <a:cxnLst/>
            <a:rect l="l" t="t" r="r" b="b"/>
            <a:pathLst>
              <a:path w="5705475" h="3570287">
                <a:moveTo>
                  <a:pt x="63515" y="0"/>
                </a:moveTo>
                <a:lnTo>
                  <a:pt x="5641960" y="0"/>
                </a:lnTo>
                <a:cubicBezTo>
                  <a:pt x="5677038" y="0"/>
                  <a:pt x="5705475" y="28437"/>
                  <a:pt x="5705475" y="63515"/>
                </a:cubicBezTo>
                <a:lnTo>
                  <a:pt x="5705475" y="3506772"/>
                </a:lnTo>
                <a:cubicBezTo>
                  <a:pt x="5705475" y="3541851"/>
                  <a:pt x="5677038" y="3570287"/>
                  <a:pt x="5641960" y="3570287"/>
                </a:cubicBezTo>
                <a:lnTo>
                  <a:pt x="63515" y="3570287"/>
                </a:lnTo>
                <a:cubicBezTo>
                  <a:pt x="28437" y="3570287"/>
                  <a:pt x="0" y="3541851"/>
                  <a:pt x="0" y="3506772"/>
                </a:cubicBezTo>
                <a:lnTo>
                  <a:pt x="0" y="63515"/>
                </a:lnTo>
                <a:cubicBezTo>
                  <a:pt x="0" y="28437"/>
                  <a:pt x="28437" y="0"/>
                  <a:pt x="6351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4A556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6186022" y="403482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270556" y="4082451"/>
            <a:ext cx="230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04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610941" y="4065586"/>
            <a:ext cx="1198563" cy="25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向上管理意识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201897" y="447932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408272" y="4447576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存在的不足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186022" y="4701576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向上管理意识有待提升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，与领导层沟通不够主动。在埋头苦干的同时，缺乏"仰望星空"的意识和行动。对领导层的期望、关注重点、战略方向理解不够深入，也未能主动争取资源和展示成果。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217772" y="5325996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408272" y="5294246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改进方向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186022" y="5548246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6186022" y="5548246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主动汇报工作：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建立定期汇报机制，主动向领导层同步工作进展、成果亮点和风险预警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186022" y="5982824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6186022" y="5982824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理解战略方向：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多了解公司战略和领导层关注点，确保工作方向与组织目标一致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186022" y="6417402"/>
            <a:ext cx="5381625" cy="373063"/>
          </a:xfrm>
          <a:custGeom>
            <a:avLst/>
            <a:gdLst/>
            <a:ahLst/>
            <a:cxnLst/>
            <a:rect l="l" t="t" r="r" b="b"/>
            <a:pathLst>
              <a:path w="5381625" h="373063">
                <a:moveTo>
                  <a:pt x="31751" y="0"/>
                </a:moveTo>
                <a:lnTo>
                  <a:pt x="5349874" y="0"/>
                </a:lnTo>
                <a:cubicBezTo>
                  <a:pt x="5367409" y="0"/>
                  <a:pt x="5381625" y="14216"/>
                  <a:pt x="5381625" y="31751"/>
                </a:cubicBezTo>
                <a:lnTo>
                  <a:pt x="5381625" y="341311"/>
                </a:lnTo>
                <a:cubicBezTo>
                  <a:pt x="5381625" y="358847"/>
                  <a:pt x="5367409" y="373062"/>
                  <a:pt x="5349874" y="373063"/>
                </a:cubicBezTo>
                <a:lnTo>
                  <a:pt x="31751" y="373063"/>
                </a:lnTo>
                <a:cubicBezTo>
                  <a:pt x="14216" y="373063"/>
                  <a:pt x="0" y="358847"/>
                  <a:pt x="0" y="341311"/>
                </a:cubicBezTo>
                <a:lnTo>
                  <a:pt x="0" y="31751"/>
                </a:lnTo>
                <a:cubicBezTo>
                  <a:pt x="0" y="14216"/>
                  <a:pt x="14216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6186022" y="6417402"/>
            <a:ext cx="5437188" cy="3730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争取资源支持：</a:t>
            </a: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学会适时提出资源需求，为项目和团队争取更多支持和成长机会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76212" y="213516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3.</a:t>
            </a:r>
            <a:r>
              <a:rPr kumimoji="0" lang="zh-CN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未来工作</a:t>
            </a:r>
            <a:r>
              <a:rPr kumimoji="0" lang="en-US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计划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9008" y="593730"/>
            <a:ext cx="5705475" cy="3093247"/>
          </a:xfrm>
          <a:custGeom>
            <a:avLst/>
            <a:gdLst/>
            <a:ahLst/>
            <a:cxnLst/>
            <a:rect l="l" t="t" r="r" b="b"/>
            <a:pathLst>
              <a:path w="5705475" h="3705225">
                <a:moveTo>
                  <a:pt x="63508" y="0"/>
                </a:moveTo>
                <a:lnTo>
                  <a:pt x="5641967" y="0"/>
                </a:lnTo>
                <a:cubicBezTo>
                  <a:pt x="5677042" y="0"/>
                  <a:pt x="5705475" y="28433"/>
                  <a:pt x="5705475" y="63508"/>
                </a:cubicBezTo>
                <a:lnTo>
                  <a:pt x="5705475" y="3641717"/>
                </a:lnTo>
                <a:cubicBezTo>
                  <a:pt x="5705475" y="3676792"/>
                  <a:pt x="5677042" y="3705225"/>
                  <a:pt x="5641967" y="3705225"/>
                </a:cubicBezTo>
                <a:lnTo>
                  <a:pt x="63508" y="3705225"/>
                </a:lnTo>
                <a:cubicBezTo>
                  <a:pt x="28433" y="3705225"/>
                  <a:pt x="0" y="3676792"/>
                  <a:pt x="0" y="3641717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3D8F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70933" y="7556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91980" y="86677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19062" y="158750"/>
                </a:moveTo>
                <a:lnTo>
                  <a:pt x="29766" y="158750"/>
                </a:lnTo>
                <a:cubicBezTo>
                  <a:pt x="13333" y="158750"/>
                  <a:pt x="0" y="145417"/>
                  <a:pt x="0" y="128984"/>
                </a:cubicBezTo>
                <a:lnTo>
                  <a:pt x="0" y="29766"/>
                </a:lnTo>
                <a:cubicBezTo>
                  <a:pt x="0" y="13333"/>
                  <a:pt x="13333" y="0"/>
                  <a:pt x="29766" y="0"/>
                </a:cubicBezTo>
                <a:lnTo>
                  <a:pt x="124023" y="0"/>
                </a:lnTo>
                <a:cubicBezTo>
                  <a:pt x="132240" y="0"/>
                  <a:pt x="138906" y="6666"/>
                  <a:pt x="138906" y="14883"/>
                </a:cubicBezTo>
                <a:lnTo>
                  <a:pt x="138906" y="104180"/>
                </a:lnTo>
                <a:cubicBezTo>
                  <a:pt x="138906" y="110660"/>
                  <a:pt x="134751" y="116179"/>
                  <a:pt x="128984" y="118225"/>
                </a:cubicBezTo>
                <a:lnTo>
                  <a:pt x="128984" y="138906"/>
                </a:lnTo>
                <a:cubicBezTo>
                  <a:pt x="134472" y="138906"/>
                  <a:pt x="138906" y="143340"/>
                  <a:pt x="138906" y="148828"/>
                </a:cubicBezTo>
                <a:cubicBezTo>
                  <a:pt x="138906" y="154316"/>
                  <a:pt x="134472" y="158750"/>
                  <a:pt x="128984" y="158750"/>
                </a:cubicBezTo>
                <a:lnTo>
                  <a:pt x="119062" y="158750"/>
                </a:lnTo>
                <a:close/>
                <a:moveTo>
                  <a:pt x="29766" y="119062"/>
                </a:moveTo>
                <a:cubicBezTo>
                  <a:pt x="24278" y="119062"/>
                  <a:pt x="19844" y="123496"/>
                  <a:pt x="19844" y="128984"/>
                </a:cubicBezTo>
                <a:cubicBezTo>
                  <a:pt x="19844" y="134472"/>
                  <a:pt x="24278" y="138906"/>
                  <a:pt x="29766" y="138906"/>
                </a:cubicBezTo>
                <a:lnTo>
                  <a:pt x="109141" y="138906"/>
                </a:lnTo>
                <a:lnTo>
                  <a:pt x="109141" y="119062"/>
                </a:lnTo>
                <a:lnTo>
                  <a:pt x="29766" y="119062"/>
                </a:lnTo>
                <a:close/>
                <a:moveTo>
                  <a:pt x="39688" y="47129"/>
                </a:moveTo>
                <a:cubicBezTo>
                  <a:pt x="39688" y="51253"/>
                  <a:pt x="43005" y="54570"/>
                  <a:pt x="47129" y="54570"/>
                </a:cubicBezTo>
                <a:lnTo>
                  <a:pt x="101699" y="54570"/>
                </a:lnTo>
                <a:cubicBezTo>
                  <a:pt x="105823" y="54570"/>
                  <a:pt x="109141" y="51253"/>
                  <a:pt x="109141" y="47129"/>
                </a:cubicBezTo>
                <a:cubicBezTo>
                  <a:pt x="109141" y="43005"/>
                  <a:pt x="105823" y="39688"/>
                  <a:pt x="101699" y="39688"/>
                </a:cubicBezTo>
                <a:lnTo>
                  <a:pt x="47129" y="39688"/>
                </a:lnTo>
                <a:cubicBezTo>
                  <a:pt x="43005" y="39688"/>
                  <a:pt x="39688" y="43005"/>
                  <a:pt x="39688" y="47129"/>
                </a:cubicBezTo>
                <a:close/>
                <a:moveTo>
                  <a:pt x="47129" y="69453"/>
                </a:moveTo>
                <a:cubicBezTo>
                  <a:pt x="43005" y="69453"/>
                  <a:pt x="39688" y="72771"/>
                  <a:pt x="39688" y="76895"/>
                </a:cubicBezTo>
                <a:cubicBezTo>
                  <a:pt x="39688" y="81018"/>
                  <a:pt x="43005" y="84336"/>
                  <a:pt x="47129" y="84336"/>
                </a:cubicBezTo>
                <a:lnTo>
                  <a:pt x="101699" y="84336"/>
                </a:lnTo>
                <a:cubicBezTo>
                  <a:pt x="105823" y="84336"/>
                  <a:pt x="109141" y="81018"/>
                  <a:pt x="109141" y="76895"/>
                </a:cubicBezTo>
                <a:cubicBezTo>
                  <a:pt x="109141" y="72771"/>
                  <a:pt x="105823" y="69453"/>
                  <a:pt x="101699" y="69453"/>
                </a:cubicBezTo>
                <a:lnTo>
                  <a:pt x="47129" y="6945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47182" y="811204"/>
            <a:ext cx="1266825" cy="26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SaaS方案融合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0933" y="1231903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多学习了解其他SaaS企业的业务解决方案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，并将通用功能融合赋能到项目实践中，以便日后为客户提供更优的解决方案。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0933" y="1739903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82058" y="185102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88433" y="183515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行业标杆研究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6183" y="2025653"/>
            <a:ext cx="5246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深入研究头部SaaS企业的产品方案和最佳实践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0933" y="2364982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82058" y="24761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88433" y="2460232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功能模块复用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6183" y="2650732"/>
            <a:ext cx="5246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提炼通用功能模块，建立可复用的功能组件库，提升方案输出效率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0933" y="2990060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82058" y="310118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88433" y="3085310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持续迭代优化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6183" y="3275810"/>
            <a:ext cx="5246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将学习成果应用到实际项目中，持续优化产品方案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51008" y="593730"/>
            <a:ext cx="5970059" cy="3131347"/>
          </a:xfrm>
          <a:custGeom>
            <a:avLst/>
            <a:gdLst/>
            <a:ahLst/>
            <a:cxnLst/>
            <a:rect l="l" t="t" r="r" b="b"/>
            <a:pathLst>
              <a:path w="5705475" h="3705225">
                <a:moveTo>
                  <a:pt x="63508" y="0"/>
                </a:moveTo>
                <a:lnTo>
                  <a:pt x="5641967" y="0"/>
                </a:lnTo>
                <a:cubicBezTo>
                  <a:pt x="5677042" y="0"/>
                  <a:pt x="5705475" y="28433"/>
                  <a:pt x="5705475" y="63508"/>
                </a:cubicBezTo>
                <a:lnTo>
                  <a:pt x="5705475" y="3641717"/>
                </a:lnTo>
                <a:cubicBezTo>
                  <a:pt x="5705475" y="3676792"/>
                  <a:pt x="5677042" y="3705225"/>
                  <a:pt x="5641967" y="3705225"/>
                </a:cubicBezTo>
                <a:lnTo>
                  <a:pt x="63508" y="3705225"/>
                </a:lnTo>
                <a:cubicBezTo>
                  <a:pt x="28433" y="3705225"/>
                  <a:pt x="0" y="3676792"/>
                  <a:pt x="0" y="3641717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gradFill flip="none" rotWithShape="1">
            <a:gsLst>
              <a:gs pos="0">
                <a:srgbClr val="C5A16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C5A16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112933" y="7556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224058" y="86677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589183" y="811204"/>
            <a:ext cx="992188" cy="26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新项目实践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12933" y="1231903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有机会能多参与到新项目中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，在拓宽视野和认知的同时，能更加深入理解业务。新项目意味着新挑战、新场景、新解决方案，是快速成长的加速器。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12933" y="1739903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5A16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224058" y="185102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30433" y="183515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主动请缨参与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08183" y="2025653"/>
            <a:ext cx="5246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积极争取参与新项目，主动承担更多责任和挑战，跳出舒适区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12933" y="2364982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5A16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224058" y="24761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30433" y="2460232"/>
            <a:ext cx="61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全周期参与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08183" y="2650732"/>
            <a:ext cx="5246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争取从项目启动到交付的全周期参与，完整体验项目全流程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12933" y="2990060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5A16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224058" y="310118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430433" y="3085310"/>
            <a:ext cx="61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跨领域学习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208183" y="3275810"/>
            <a:ext cx="5246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通过新项目接触不同业务领域，拓宽业务认知边界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9008" y="3845727"/>
            <a:ext cx="5705475" cy="3012273"/>
          </a:xfrm>
          <a:custGeom>
            <a:avLst/>
            <a:gdLst/>
            <a:ahLst/>
            <a:cxnLst/>
            <a:rect l="l" t="t" r="r" b="b"/>
            <a:pathLst>
              <a:path w="5705475" h="3705225">
                <a:moveTo>
                  <a:pt x="63508" y="0"/>
                </a:moveTo>
                <a:lnTo>
                  <a:pt x="5641967" y="0"/>
                </a:lnTo>
                <a:cubicBezTo>
                  <a:pt x="5677042" y="0"/>
                  <a:pt x="5705475" y="28433"/>
                  <a:pt x="5705475" y="63508"/>
                </a:cubicBezTo>
                <a:lnTo>
                  <a:pt x="5705475" y="3641717"/>
                </a:lnTo>
                <a:cubicBezTo>
                  <a:pt x="5705475" y="3676792"/>
                  <a:pt x="5677042" y="3705225"/>
                  <a:pt x="5641967" y="3705225"/>
                </a:cubicBezTo>
                <a:lnTo>
                  <a:pt x="63508" y="3705225"/>
                </a:lnTo>
                <a:cubicBezTo>
                  <a:pt x="28433" y="3705225"/>
                  <a:pt x="0" y="3676792"/>
                  <a:pt x="0" y="3641717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3D8F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270933" y="40076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382058" y="411878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9110" y="86816"/>
                </a:moveTo>
                <a:lnTo>
                  <a:pt x="49919" y="86816"/>
                </a:lnTo>
                <a:cubicBezTo>
                  <a:pt x="50819" y="106815"/>
                  <a:pt x="55252" y="125233"/>
                  <a:pt x="61547" y="138720"/>
                </a:cubicBezTo>
                <a:cubicBezTo>
                  <a:pt x="65081" y="146317"/>
                  <a:pt x="68895" y="151681"/>
                  <a:pt x="72430" y="154967"/>
                </a:cubicBezTo>
                <a:cubicBezTo>
                  <a:pt x="75902" y="158223"/>
                  <a:pt x="78290" y="158750"/>
                  <a:pt x="79530" y="158750"/>
                </a:cubicBezTo>
                <a:cubicBezTo>
                  <a:pt x="80770" y="158750"/>
                  <a:pt x="83158" y="158223"/>
                  <a:pt x="86630" y="154967"/>
                </a:cubicBezTo>
                <a:cubicBezTo>
                  <a:pt x="90165" y="151681"/>
                  <a:pt x="93979" y="146286"/>
                  <a:pt x="97513" y="138720"/>
                </a:cubicBezTo>
                <a:cubicBezTo>
                  <a:pt x="103808" y="125233"/>
                  <a:pt x="108241" y="106815"/>
                  <a:pt x="109141" y="86816"/>
                </a:cubicBezTo>
                <a:close/>
                <a:moveTo>
                  <a:pt x="49888" y="71934"/>
                </a:moveTo>
                <a:lnTo>
                  <a:pt x="109079" y="71934"/>
                </a:lnTo>
                <a:cubicBezTo>
                  <a:pt x="108210" y="51935"/>
                  <a:pt x="103777" y="33517"/>
                  <a:pt x="97482" y="20030"/>
                </a:cubicBezTo>
                <a:cubicBezTo>
                  <a:pt x="93948" y="12464"/>
                  <a:pt x="90134" y="7069"/>
                  <a:pt x="86599" y="3783"/>
                </a:cubicBezTo>
                <a:cubicBezTo>
                  <a:pt x="83127" y="527"/>
                  <a:pt x="80739" y="0"/>
                  <a:pt x="79499" y="0"/>
                </a:cubicBezTo>
                <a:cubicBezTo>
                  <a:pt x="78259" y="0"/>
                  <a:pt x="75871" y="527"/>
                  <a:pt x="72399" y="3783"/>
                </a:cubicBezTo>
                <a:cubicBezTo>
                  <a:pt x="68864" y="7069"/>
                  <a:pt x="65050" y="12464"/>
                  <a:pt x="61516" y="20030"/>
                </a:cubicBezTo>
                <a:cubicBezTo>
                  <a:pt x="55221" y="33517"/>
                  <a:pt x="50788" y="51935"/>
                  <a:pt x="49888" y="71934"/>
                </a:cubicBezTo>
                <a:close/>
                <a:moveTo>
                  <a:pt x="35006" y="71934"/>
                </a:moveTo>
                <a:cubicBezTo>
                  <a:pt x="36091" y="45393"/>
                  <a:pt x="42943" y="20743"/>
                  <a:pt x="52958" y="4558"/>
                </a:cubicBezTo>
                <a:cubicBezTo>
                  <a:pt x="24402" y="14666"/>
                  <a:pt x="3380" y="40680"/>
                  <a:pt x="465" y="71934"/>
                </a:cubicBezTo>
                <a:lnTo>
                  <a:pt x="35006" y="71934"/>
                </a:lnTo>
                <a:close/>
                <a:moveTo>
                  <a:pt x="465" y="86816"/>
                </a:moveTo>
                <a:cubicBezTo>
                  <a:pt x="3380" y="118070"/>
                  <a:pt x="24402" y="144084"/>
                  <a:pt x="52958" y="154192"/>
                </a:cubicBezTo>
                <a:cubicBezTo>
                  <a:pt x="42943" y="138007"/>
                  <a:pt x="36091" y="113357"/>
                  <a:pt x="35006" y="86816"/>
                </a:cubicBezTo>
                <a:lnTo>
                  <a:pt x="465" y="86816"/>
                </a:lnTo>
                <a:close/>
                <a:moveTo>
                  <a:pt x="123992" y="86816"/>
                </a:moveTo>
                <a:cubicBezTo>
                  <a:pt x="122907" y="113357"/>
                  <a:pt x="116055" y="138007"/>
                  <a:pt x="106040" y="154192"/>
                </a:cubicBezTo>
                <a:cubicBezTo>
                  <a:pt x="134596" y="144053"/>
                  <a:pt x="155618" y="118070"/>
                  <a:pt x="158533" y="86816"/>
                </a:cubicBezTo>
                <a:lnTo>
                  <a:pt x="123992" y="86816"/>
                </a:lnTo>
                <a:close/>
                <a:moveTo>
                  <a:pt x="158533" y="71934"/>
                </a:moveTo>
                <a:cubicBezTo>
                  <a:pt x="155618" y="40680"/>
                  <a:pt x="134596" y="14666"/>
                  <a:pt x="106040" y="4558"/>
                </a:cubicBezTo>
                <a:cubicBezTo>
                  <a:pt x="116055" y="20743"/>
                  <a:pt x="122907" y="45393"/>
                  <a:pt x="123992" y="71934"/>
                </a:cubicBezTo>
                <a:lnTo>
                  <a:pt x="158533" y="719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47183" y="4053402"/>
            <a:ext cx="12668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医疗赛道深耕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70933" y="4448396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横向了解医疗赛道其他的业务模式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，拓宽用户思维，多站在用户本身去思考问题，更好地服务好客户。从单一CRM场景向更广泛的医疗数字化场景延伸。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70933" y="4991908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382058" y="510303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88433" y="508715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赛道研究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66183" y="5277658"/>
            <a:ext cx="5246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深入研究医药营销、临床试验、供应链管理等其他医疗赛道业务模式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70933" y="5616986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382058" y="57281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588433" y="5712236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用户视角转换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66183" y="5902736"/>
            <a:ext cx="5246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培养同理心，真正站在用户角度思考问题，理解用户的真实需求和痛点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70933" y="6242064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382058" y="635318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88433" y="6337314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行业洞察积累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366183" y="6527814"/>
            <a:ext cx="5246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关注医疗行业动态，积累行业知识，成为医疗SaaS领域的专家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951008" y="3845727"/>
            <a:ext cx="6042724" cy="3012273"/>
          </a:xfrm>
          <a:custGeom>
            <a:avLst/>
            <a:gdLst/>
            <a:ahLst/>
            <a:cxnLst/>
            <a:rect l="l" t="t" r="r" b="b"/>
            <a:pathLst>
              <a:path w="5705475" h="3705225">
                <a:moveTo>
                  <a:pt x="63508" y="0"/>
                </a:moveTo>
                <a:lnTo>
                  <a:pt x="5641967" y="0"/>
                </a:lnTo>
                <a:cubicBezTo>
                  <a:pt x="5677042" y="0"/>
                  <a:pt x="5705475" y="28433"/>
                  <a:pt x="5705475" y="63508"/>
                </a:cubicBezTo>
                <a:lnTo>
                  <a:pt x="5705475" y="3641717"/>
                </a:lnTo>
                <a:cubicBezTo>
                  <a:pt x="5705475" y="3676792"/>
                  <a:pt x="5677042" y="3705225"/>
                  <a:pt x="5641967" y="3705225"/>
                </a:cubicBezTo>
                <a:lnTo>
                  <a:pt x="63508" y="3705225"/>
                </a:lnTo>
                <a:cubicBezTo>
                  <a:pt x="28433" y="3705225"/>
                  <a:pt x="0" y="3676792"/>
                  <a:pt x="0" y="3641717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gradFill flip="none" rotWithShape="1">
            <a:gsLst>
              <a:gs pos="0">
                <a:srgbClr val="C5A16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C5A16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6112933" y="40076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6224058" y="411878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6589182" y="4053402"/>
            <a:ext cx="13740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得意黑" pitchFamily="34" charset="0"/>
                <a:ea typeface="得意黑" pitchFamily="34" charset="-122"/>
                <a:cs typeface="得意黑" pitchFamily="34" charset="-120"/>
              </a:rPr>
              <a:t>AI场景化探索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112933" y="4483908"/>
            <a:ext cx="576315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5A16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多学习了解AI场景化工具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9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，并结合到实际业务中，在赋能办公的同时，拓宽眼界和思路，尝试探索SaaS产品AI落地场景，不断优化打磨产品，提升用户体验。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112933" y="4991908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5A16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6224058" y="510303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6430433" y="5087158"/>
            <a:ext cx="60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AI工具学习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208183" y="5277658"/>
            <a:ext cx="5246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深入学习AI工具，提升工作效率，赋能产品设计和方案输出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6112933" y="5616986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5A16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6224058" y="57281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6430433" y="5712236"/>
            <a:ext cx="66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AI+医疗探索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208183" y="5902736"/>
            <a:ext cx="5246688" cy="19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40000"/>
              </a:lnSpc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研究AI在医疗领域的应用场景，</a:t>
            </a:r>
            <a:r>
              <a:rPr lang="zh-CN" altLang="zh-CN" sz="87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尝试探索</a:t>
            </a:r>
            <a:r>
              <a:rPr lang="en-US" altLang="zh-CN" sz="87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SaaS</a:t>
            </a:r>
            <a:r>
              <a:rPr lang="zh-CN" altLang="zh-CN" sz="87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</a:t>
            </a:r>
            <a:r>
              <a:rPr lang="en-US" altLang="zh-CN" sz="87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zh-CN" sz="875" dirty="0">
                <a:solidFill>
                  <a:srgbClr val="E8E8E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落地场景，不断的优化打磨产品，提升用户体验</a:t>
            </a:r>
            <a:endParaRPr lang="en-US" sz="875" dirty="0">
              <a:solidFill>
                <a:srgbClr val="E8E8E8">
                  <a:alpha val="8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112933" y="6242064"/>
            <a:ext cx="5381625" cy="563563"/>
          </a:xfrm>
          <a:custGeom>
            <a:avLst/>
            <a:gdLst/>
            <a:ahLst/>
            <a:cxnLst/>
            <a:rect l="l" t="t" r="r" b="b"/>
            <a:pathLst>
              <a:path w="5381625" h="563563">
                <a:moveTo>
                  <a:pt x="31751" y="0"/>
                </a:moveTo>
                <a:lnTo>
                  <a:pt x="5349874" y="0"/>
                </a:lnTo>
                <a:cubicBezTo>
                  <a:pt x="5367410" y="0"/>
                  <a:pt x="5381625" y="14215"/>
                  <a:pt x="5381625" y="31751"/>
                </a:cubicBezTo>
                <a:lnTo>
                  <a:pt x="5381625" y="531811"/>
                </a:lnTo>
                <a:cubicBezTo>
                  <a:pt x="5381625" y="549347"/>
                  <a:pt x="5367410" y="563563"/>
                  <a:pt x="53498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5A16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6224058" y="635318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5A1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6430433" y="6337314"/>
            <a:ext cx="611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产品智能化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208183" y="6527814"/>
            <a:ext cx="5246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alpha val="80000"/>
                  </a:srgbClr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尝试在产品中集成AI能力，提升产品智能化水平，打造差异化竞争优势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564</Words>
  <Application>Microsoft Office PowerPoint</Application>
  <PresentationFormat>宽屏</PresentationFormat>
  <Paragraphs>122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MiSans</vt:lpstr>
      <vt:lpstr>得意黑</vt:lpstr>
      <vt:lpstr>等线</vt:lpstr>
      <vt:lpstr>宋体</vt:lpstr>
      <vt:lpstr>Arial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xiaohui xin</dc:creator>
  <cp:lastModifiedBy>不倒翁 7205</cp:lastModifiedBy>
  <cp:revision>21</cp:revision>
  <dcterms:created xsi:type="dcterms:W3CDTF">2026-01-12T05:50:18Z</dcterms:created>
  <dcterms:modified xsi:type="dcterms:W3CDTF">2026-01-18T18:20:07Z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9464603FA053AD0D9A8B646917D8762A_43</vt:lpwstr>
  </property>
</Properties>
</file>