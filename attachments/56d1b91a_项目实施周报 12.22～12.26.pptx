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"/>
  </p:handoutMasterIdLst>
  <p:sldIdLst>
    <p:sldId id="257" r:id="rId3"/>
    <p:sldId id="262" r:id="rId5"/>
    <p:sldId id="260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abewxy" initials="B" lastIdx="0" clrIdx="0"/>
  <p:cmAuthor id="2" name="tion" initials="t" lastIdx="0" clrIdx="1"/>
  <p:cmAuthor id="3" name="bo huang" initials="" lastIdx="0" clrIdx="2"/>
  <p:cmAuthor id="4" name="Jia Wen" initials="JW" lastIdx="0" clrIdx="3"/>
  <p:cmAuthor id="5" name="VivianSheng" initials="V" lastIdx="0" clrIdx="4"/>
  <p:cmAuthor id="6" name="Shaoan Liu" initials="SL" lastIdx="0" clrIdx="5"/>
  <p:cmAuthor id="7" name="作者" initials="A" lastIdx="0" clrIdx="6"/>
  <p:cmAuthor id="8" name="daisy" initials="d" lastIdx="0" clrIdx="7"/>
  <p:cmAuthor id="9" name="望月" initials="望月" lastIdx="0" clrIdx="8"/>
  <p:cmAuthor id="10" name="林韵涵" initials="林" lastIdx="0" clrIdx="9"/>
  <p:cmAuthor id="11" name="13257" initials="1" lastIdx="0" clrIdx="10"/>
  <p:cmAuthor id="12" name="Windows 用户" initials="W" lastIdx="0" clrIdx="11"/>
  <p:cmAuthor id="13" name="User" initials="U" lastIdx="0" clrIdx="1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 Issue/Problems - Suggestions.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926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2.xml"/><Relationship Id="rId18" Type="http://schemas.openxmlformats.org/officeDocument/2006/relationships/tags" Target="../tags/tag61.xml"/><Relationship Id="rId17" Type="http://schemas.openxmlformats.org/officeDocument/2006/relationships/tags" Target="../tags/tag60.xml"/><Relationship Id="rId16" Type="http://schemas.openxmlformats.org/officeDocument/2006/relationships/tags" Target="../tags/tag59.xml"/><Relationship Id="rId15" Type="http://schemas.openxmlformats.org/officeDocument/2006/relationships/tags" Target="../tags/tag58.xml"/><Relationship Id="rId14" Type="http://schemas.openxmlformats.org/officeDocument/2006/relationships/tags" Target="../tags/tag57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3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6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5"/>
          <p:cNvSpPr txBox="1"/>
          <p:nvPr/>
        </p:nvSpPr>
        <p:spPr>
          <a:xfrm>
            <a:off x="4588564" y="6509616"/>
            <a:ext cx="42436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i="1" dirty="0">
                <a:solidFill>
                  <a:srgbClr val="FFFFFF"/>
                </a:solidFill>
              </a:rPr>
              <a:t>COMMERCIAL EXCELLENCE DELIVERED</a:t>
            </a:r>
            <a:endParaRPr lang="en-US" altLang="zh-CN" sz="2000" b="1" i="1" dirty="0">
              <a:solidFill>
                <a:srgbClr val="FFFFFF"/>
              </a:solidFill>
            </a:endParaRPr>
          </a:p>
        </p:txBody>
      </p:sp>
      <p:sp>
        <p:nvSpPr>
          <p:cNvPr id="2" name="TextBox 5"/>
          <p:cNvSpPr txBox="1"/>
          <p:nvPr/>
        </p:nvSpPr>
        <p:spPr>
          <a:xfrm>
            <a:off x="628448" y="2951311"/>
            <a:ext cx="45643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b="1" i="1" dirty="0">
                <a:solidFill>
                  <a:srgbClr val="FFFFFF"/>
                </a:solidFill>
              </a:rPr>
              <a:t>项目实施周报</a:t>
            </a:r>
            <a:r>
              <a:rPr lang="en-US" altLang="zh-CN" sz="2800" b="1" i="1" dirty="0">
                <a:solidFill>
                  <a:srgbClr val="FFFFFF"/>
                </a:solidFill>
              </a:rPr>
              <a:t> 12.22～12.26</a:t>
            </a:r>
            <a:endParaRPr lang="en-US" altLang="zh-CN" sz="2800" b="1" i="1" dirty="0">
              <a:solidFill>
                <a:srgbClr val="FFFF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2430" y="627253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</a:rPr>
              <a:t>汇报日期</a:t>
            </a:r>
            <a:r>
              <a:rPr lang="en-US" altLang="zh-CN">
                <a:solidFill>
                  <a:schemeClr val="bg1"/>
                </a:solidFill>
              </a:rPr>
              <a:t>：2025.12.26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98640" y="2314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战略客户的项目进展</a:t>
            </a:r>
            <a:r>
              <a:rPr lang="en-US" altLang="zh-CN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信息同步</a:t>
            </a:r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361950" y="784860"/>
          <a:ext cx="11467465" cy="5881370"/>
        </p:xfrm>
        <a:graphic>
          <a:graphicData uri="http://schemas.openxmlformats.org/drawingml/2006/table">
            <a:tbl>
              <a:tblPr firstRow="1"/>
              <a:tblGrid>
                <a:gridCol w="645160"/>
                <a:gridCol w="991235"/>
                <a:gridCol w="8573770"/>
                <a:gridCol w="1257300"/>
              </a:tblGrid>
              <a:tr h="26860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序号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重点项目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项目信息同步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4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项目负责人</a:t>
                      </a:r>
                      <a:endParaRPr lang="zh-CN" altLang="en-US" sz="14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97091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默克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本周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系列会优化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移动端合同管理等功能场景上线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正在根据内审优化的要求做调整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预计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月份月底收尾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；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正在推进的是补充合同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终止合同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、Code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合并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会议日志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；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讲者电子签客户已经下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PO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，预计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9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日上线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2. 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年运维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预计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月份开票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；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3. 25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的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PO，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目前在跟进的是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补充合同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终止合同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预计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月份上线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但是实际到第三方可能时间有影响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刘元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212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华东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本周重点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医美产品组需求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三方项目优化改造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PMS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对接等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运维费用预计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月份开票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跟进中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高静静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7091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齐鲁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运维费的账号数已经邮件给客户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待客户确认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；25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已经全部上线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工时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143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人天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  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待客户邮件确认结算中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；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齐鲁三期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客户说已上线功能跟报价单有出入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按照目前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URS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对比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部分功能客户暂时没有需求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需要做进一步沟通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可能通过扣减人天的方式来调整合同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3.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预计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月份开票的费用有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：WPS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项目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（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金额为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14.628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万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）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二要素要求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（22.6277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万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）、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运维费用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（34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万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）。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刘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娜娜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翰森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本周重点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：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1.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身份认证功能，开发完成，测试中，下周进行第一轮联调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 2.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美团对接申请单功能，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UAT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，上线时间待通知正在评估会议类型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三方项目类型调整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、HCO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白名单管理方案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、dspot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数据对接并展示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等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2.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：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运维合同和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客户仍在内部跟进中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孙菲娅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百济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biz，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本周上线会议打标签，推给百佬荟动态验证码管理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预计下周上线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TPO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月份跟进合同对接需求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其他需求都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暂停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合同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：Q3、Q4CR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已开票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  <a:sym typeface="+mn-ea"/>
                        </a:rPr>
                        <a:t>待回款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王雨佳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1520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和黄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1. 26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年运维合同已走合同内部审批，待审批通过后可盖章，预计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月上旬可完成开票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香港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EM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本周沟通，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HCP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管理模块移除，下周同步客户最新报价，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58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人天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3.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本周推进计划签署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2026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年日常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合同，已将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25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年所有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及项目发给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Iris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确认，待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Iris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确认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26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年该签署多少个人天的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CR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合同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颜鑫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212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扬子江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第三笔验收款按照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URS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内未做完需求的人天扣减，客户内部评估未成完成需求的工时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人天，正在两边沟通协商，目前由赵玥在与客户沟通扣具体的扣减费用，人天确认后可以走后续验收流程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颜鑫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92125"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ctr" fontAlgn="ctr">
                        <a:lnSpc>
                          <a:spcPct val="125000"/>
                        </a:lnSpc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云顶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正在推进海森项目，计划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号上线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2. 26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年运维合同，预计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月开票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张宇通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>
            <p:custDataLst>
              <p:tags r:id="rId2"/>
            </p:custDataLst>
          </p:nvPr>
        </p:nvGraphicFramePr>
        <p:xfrm>
          <a:off x="511175" y="912495"/>
          <a:ext cx="11365865" cy="5803265"/>
        </p:xfrm>
        <a:graphic>
          <a:graphicData uri="http://schemas.openxmlformats.org/drawingml/2006/table">
            <a:tbl>
              <a:tblPr/>
              <a:tblGrid>
                <a:gridCol w="746125"/>
                <a:gridCol w="1018540"/>
                <a:gridCol w="8258175"/>
                <a:gridCol w="1343025"/>
              </a:tblGrid>
              <a:tr h="265430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序号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新项目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项目信息同步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zh-CN" altLang="en-US" sz="16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项目负责人</a:t>
                      </a:r>
                      <a:endParaRPr lang="zh-CN" altLang="en-US" sz="16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95948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泰诺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CRM&amp;EMS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：功能开发收尾，转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测试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接口开发中，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日前完成开发，转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SIT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，存在风险，接口信息依赖上游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OA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提供和确认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UAT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阶段初始化数据收集，已完成第一轮收集，正在进行数据审核，下周数据问题处理和调整，以及导入准备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4.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美团小会资源方案评估已介绍完成，细节问题（预算强控、黑名单、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OCR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审单场景）跟进中，下周会再约时间进行沟通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孙菲娅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8641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礼邦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1. URS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确认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客户已经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线下确认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待正式邮件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回复；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内部开发：功能开发整体进度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85%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CRM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的接口预计下周约客户做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UAT。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李沫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忱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263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3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神基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美团、电子档案需求，合同盖章流程已经流程中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月份开发实施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样品管理，正在开发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目前开发进度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60%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，进度存在一定风险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目标是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7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号提测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神基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26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年运维合同，预计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月开票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张宇通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771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4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凯瑞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本周完成销售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、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医学部的两场培训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更新操作手册给客户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完成培训工作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2. 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跟进初始化准备工作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包括初始化数据导入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正式环境的测试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目前然后一些配置问题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研发在跟进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计划下周一收尾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下周二技术全部上线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林穆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2630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5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百济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SAAS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本周已跟港台用户和大陆业务方代表确认了整体流程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内部正在梳理港台版功能，持续完善原型细节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梳理会议申请权限、产品选择逻辑、审批流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等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一月份研发推进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海外版部署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工作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王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雄伟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2326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6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士卓曼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URS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更新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待客户正式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邮件确认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推进信用报告获取及主合同功能协议的置换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内部开发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：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整体开发进度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50%；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企查查接口已经开发完成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接口开发进度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20%，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正常推进中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林穆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5705"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7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雷允上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本周完成首轮调研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正在梳理方案串讲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下周一跟客户汇报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客户希望我们可以按场景分布上线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表示上线时间是第一位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，2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月份就能有试点单位在用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正在跟研发沟通可能的排期计划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；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拜访管理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客户内部高层开会要求还是在决策易中完成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但是需要跟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做对接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合规强制要求所有营销活动的报销都在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MB；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indent="0" algn="l" fontAlgn="ctr">
                        <a:lnSpc>
                          <a:spcPct val="125000"/>
                        </a:lnSpc>
                        <a:buNone/>
                      </a:pP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杏联没有做调研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但是合规也表示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杏联相关费用的支出也必须走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MB，</a:t>
                      </a: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待后续再沟通方案</a:t>
                      </a:r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>
                        <a:buNone/>
                      </a:pPr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高静静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898640" y="23145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zh-CN" altLang="en-US" sz="1600" b="0" i="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</a:rPr>
              <a:t>新项目</a:t>
            </a:r>
            <a:r>
              <a:rPr lang="zh-CN" altLang="en-US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进展</a:t>
            </a:r>
            <a:r>
              <a:rPr lang="en-US" altLang="zh-CN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/</a:t>
            </a:r>
            <a:r>
              <a:rPr lang="zh-CN" altLang="en-US" sz="1600">
                <a:solidFill>
                  <a:srgbClr val="000000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信息同步</a:t>
            </a:r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 marL="0" indent="0" algn="r"/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7997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6898640" y="23145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r"/>
            <a:r>
              <a:rPr lang="en-US" altLang="zh-CN" sz="1600">
                <a:sym typeface="+mn-ea"/>
              </a:rPr>
              <a:t>ssue/Problems - Suggestions.</a:t>
            </a:r>
            <a:endParaRPr lang="en-US" altLang="zh-CN" sz="1600"/>
          </a:p>
          <a:p>
            <a:pPr marL="0" indent="0" algn="r"/>
            <a:endParaRPr lang="zh-CN" altLang="en-US" sz="1600" b="0" i="0">
              <a:solidFill>
                <a:srgbClr val="000000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93040" y="1617980"/>
          <a:ext cx="11365865" cy="3009265"/>
        </p:xfrm>
        <a:graphic>
          <a:graphicData uri="http://schemas.openxmlformats.org/drawingml/2006/table">
            <a:tbl>
              <a:tblPr/>
              <a:tblGrid>
                <a:gridCol w="2015490"/>
                <a:gridCol w="9350375"/>
              </a:tblGrid>
              <a:tr h="612775"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风险及</a:t>
                      </a: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问题</a:t>
                      </a:r>
                      <a:endParaRPr lang="zh-CN" altLang="en-US" sz="18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p>
                      <a:pPr algn="ctr" fontAlgn="ctr">
                        <a:buClrTx/>
                        <a:buSzTx/>
                        <a:buFontTx/>
                      </a:pPr>
                      <a:r>
                        <a:rPr lang="zh-CN" altLang="en-US" sz="1800" b="1" i="0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说明</a:t>
                      </a:r>
                      <a:endParaRPr lang="zh-CN" altLang="en-US" sz="1800" b="1" i="0">
                        <a:solidFill>
                          <a:schemeClr val="bg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1198245">
                <a:tc>
                  <a:txBody>
                    <a:bodyPr/>
                    <a:p>
                      <a:pPr algn="ctr" fontAlgn="ctr"/>
                      <a:r>
                        <a:rPr lang="zh-CN" altLang="en-US" sz="1200" b="0" i="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</a:rPr>
                        <a:t>翰森</a:t>
                      </a:r>
                      <a:endParaRPr lang="zh-CN" altLang="en-US" sz="1200" b="0" i="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翰森正在评估的需求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客户表示优先级高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但是客户侧经过一周后，需求仍未确认，无法进行开发排期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，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已经同步客户风险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。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涉及需求如下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：</a:t>
                      </a:r>
                      <a:endParaRPr lang="en-US" altLang="zh-CN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、会议类型调整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2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、三方项目赞助类型调整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3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HCO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白名单管理方案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4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、</a:t>
                      </a:r>
                      <a:r>
                        <a:rPr lang="en-US" altLang="zh-CN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dspot</a:t>
                      </a:r>
                      <a:r>
                        <a:rPr lang="zh-CN" altLang="en-US" sz="1200">
                          <a:solidFill>
                            <a:srgbClr val="000000"/>
                          </a:solidFill>
                          <a:latin typeface="微软雅黑" charset="0"/>
                          <a:ea typeface="微软雅黑" charset="0"/>
                          <a:sym typeface="+mn-ea"/>
                        </a:rPr>
                        <a:t>数据对接并展示</a:t>
                      </a:r>
                      <a:endParaRPr lang="zh-CN" altLang="en-US" sz="1200">
                        <a:solidFill>
                          <a:srgbClr val="000000"/>
                        </a:solidFill>
                        <a:latin typeface="微软雅黑" charset="0"/>
                        <a:ea typeface="微软雅黑" charset="0"/>
                        <a:sym typeface="+mn-ea"/>
                      </a:endParaRPr>
                    </a:p>
                  </a:txBody>
                  <a:tcPr marL="13017" marR="13017" marT="13017" marB="0" anchor="ctr" anchorCtr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TABLE_ENDDRAG_ORIGIN_RECT" val="902*463"/>
  <p:tag name="TABLE_ENDDRAG_RECT" val="28*61*902*463"/>
</p:tagLst>
</file>

<file path=ppt/tags/tag64.xml><?xml version="1.0" encoding="utf-8"?>
<p:tagLst xmlns:p="http://schemas.openxmlformats.org/presentationml/2006/main">
  <p:tag name="TABLE_ENDDRAG_ORIGIN_RECT" val="894*456"/>
  <p:tag name="TABLE_ENDDRAG_RECT" val="40*71*894*45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2062</Words>
  <Application>WPS 表格</Application>
  <PresentationFormat>宽屏</PresentationFormat>
  <Paragraphs>186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微软雅黑</vt:lpstr>
      <vt:lpstr>汉仪旗黑</vt:lpstr>
      <vt:lpstr>汉仪书宋二KW</vt:lpstr>
      <vt:lpstr>苹方-简</vt:lpstr>
      <vt:lpstr>微软雅黑</vt:lpstr>
      <vt:lpstr>宋体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linmu</dc:creator>
  <cp:lastModifiedBy>WPS_1761633435</cp:lastModifiedBy>
  <cp:revision>176</cp:revision>
  <dcterms:created xsi:type="dcterms:W3CDTF">2025-12-27T00:46:06Z</dcterms:created>
  <dcterms:modified xsi:type="dcterms:W3CDTF">2025-12-27T00:46:06Z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9313D33DAAF577C7191A2969D6B8C715_41</vt:lpwstr>
  </property>
</Properties>
</file>