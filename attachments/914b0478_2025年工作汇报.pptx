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"/>
  </p:notesMasterIdLst>
  <p:sldIdLst>
    <p:sldId id="2495" r:id="rId3"/>
    <p:sldId id="2885" r:id="rId4"/>
    <p:sldId id="2883" r:id="rId5"/>
    <p:sldId id="250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5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172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AD5B0-C7D0-4DBF-8C44-57D030BD7316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4A5C6-DF35-4DD5-A250-C232E0717C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98D53-B97C-4A27-BFB4-30D81529D50E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C0217-3BCC-430E-BB8C-3F3B98C311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6DF64FF5-AF41-8D44-8EA5-C76EFF349F7B}" type="datetimeFigureOut">
              <a:rPr kumimoji="1" lang="zh-CN" altLang="en-US" smtClean="0"/>
              <a:t>2026/1/19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A035A6CB-1573-CE49-879F-C20378C53C5A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26.png"/><Relationship Id="rId5" Type="http://schemas.openxmlformats.org/officeDocument/2006/relationships/image" Target="../media/image8.png"/><Relationship Id="rId15" Type="http://schemas.openxmlformats.org/officeDocument/2006/relationships/image" Target="../media/image12.pn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占位符 3" descr="高楼大厦的景色&#10;&#10;描述已自动生成"/>
          <p:cNvPicPr>
            <a:picLocks noChangeAspect="1"/>
          </p:cNvPicPr>
          <p:nvPr/>
        </p:nvPicPr>
        <p:blipFill>
          <a:blip r:embed="rId2"/>
          <a:srcRect l="26213" r="26213"/>
          <a:stretch>
            <a:fillRect/>
          </a:stretch>
        </p:blipFill>
        <p:spPr>
          <a:xfrm>
            <a:off x="776136" y="0"/>
            <a:ext cx="4912283" cy="6858000"/>
          </a:xfrm>
          <a:prstGeom prst="rect">
            <a:avLst/>
          </a:prstGeom>
        </p:spPr>
      </p:pic>
      <p:sp>
        <p:nvSpPr>
          <p:cNvPr id="6" name="Rectangle 9"/>
          <p:cNvSpPr/>
          <p:nvPr/>
        </p:nvSpPr>
        <p:spPr>
          <a:xfrm>
            <a:off x="4249277" y="1430504"/>
            <a:ext cx="7942722" cy="372351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776136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5114260" y="2053789"/>
            <a:ext cx="639756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4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2025</a:t>
            </a:r>
            <a:r>
              <a:rPr lang="zh-CN" altLang="en-US" sz="4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年工作汇报</a:t>
            </a:r>
            <a:endParaRPr lang="en-US" sz="45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" name="TextBox 9"/>
          <p:cNvSpPr txBox="1"/>
          <p:nvPr/>
        </p:nvSpPr>
        <p:spPr>
          <a:xfrm>
            <a:off x="7229711" y="2953707"/>
            <a:ext cx="42821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汇报人</a:t>
            </a:r>
            <a:r>
              <a: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：谢斌</a:t>
            </a:r>
            <a:endParaRPr lang="en-US" altLang="zh-CN" sz="16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7" name="TextBox 47"/>
          <p:cNvSpPr txBox="1"/>
          <p:nvPr/>
        </p:nvSpPr>
        <p:spPr>
          <a:xfrm>
            <a:off x="8428934" y="5998019"/>
            <a:ext cx="3082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汇报时间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2026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年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月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19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日</a:t>
            </a:r>
            <a:endParaRPr lang="en-ID" sz="1600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1"/>
          <p:cNvSpPr txBox="1"/>
          <p:nvPr/>
        </p:nvSpPr>
        <p:spPr>
          <a:xfrm>
            <a:off x="363836" y="24486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述职报告：工作成果展示</a:t>
            </a:r>
            <a:endParaRPr kumimoji="0" lang="zh-CN" altLang="en-US" sz="28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AutoShape 7">
            <a:extLst>
              <a:ext uri="{FF2B5EF4-FFF2-40B4-BE49-F238E27FC236}">
                <a16:creationId xmlns:a16="http://schemas.microsoft.com/office/drawing/2014/main" id="{79E2961E-399F-825C-C481-37CF50F7981E}"/>
              </a:ext>
            </a:extLst>
          </p:cNvPr>
          <p:cNvSpPr/>
          <p:nvPr/>
        </p:nvSpPr>
        <p:spPr>
          <a:xfrm>
            <a:off x="626988" y="135353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9" name="Picture 8">
            <a:extLst>
              <a:ext uri="{FF2B5EF4-FFF2-40B4-BE49-F238E27FC236}">
                <a16:creationId xmlns:a16="http://schemas.microsoft.com/office/drawing/2014/main" id="{FD0AA4F5-A2D7-203E-36B6-FCDE21505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188" y="1556730"/>
            <a:ext cx="304800" cy="304800"/>
          </a:xfrm>
          <a:prstGeom prst="rect">
            <a:avLst/>
          </a:prstGeom>
        </p:spPr>
      </p:pic>
      <p:sp>
        <p:nvSpPr>
          <p:cNvPr id="70" name="AutoShape 9">
            <a:extLst>
              <a:ext uri="{FF2B5EF4-FFF2-40B4-BE49-F238E27FC236}">
                <a16:creationId xmlns:a16="http://schemas.microsoft.com/office/drawing/2014/main" id="{E93CD392-14E5-A5AE-AE2B-678ABAB7ABD3}"/>
              </a:ext>
            </a:extLst>
          </p:cNvPr>
          <p:cNvSpPr/>
          <p:nvPr/>
        </p:nvSpPr>
        <p:spPr>
          <a:xfrm>
            <a:off x="1261988" y="155673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云顶新耀</a:t>
            </a:r>
            <a:r>
              <a:rPr 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(</a:t>
            </a:r>
            <a:r>
              <a:rPr lang="en-US" sz="1600" b="1" i="0" u="none" strike="noStrike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核心PM</a:t>
            </a:r>
            <a:r>
              <a:rPr 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)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Picture 10">
            <a:extLst>
              <a:ext uri="{FF2B5EF4-FFF2-40B4-BE49-F238E27FC236}">
                <a16:creationId xmlns:a16="http://schemas.microsoft.com/office/drawing/2014/main" id="{B30B40B5-2065-3B90-2D98-1D2DC75E07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188" y="2115530"/>
            <a:ext cx="203200" cy="203200"/>
          </a:xfrm>
          <a:prstGeom prst="rect">
            <a:avLst/>
          </a:prstGeom>
        </p:spPr>
      </p:pic>
      <p:sp>
        <p:nvSpPr>
          <p:cNvPr id="72" name="AutoShape 11">
            <a:extLst>
              <a:ext uri="{FF2B5EF4-FFF2-40B4-BE49-F238E27FC236}">
                <a16:creationId xmlns:a16="http://schemas.microsoft.com/office/drawing/2014/main" id="{EAAAD792-ABD4-DB82-726D-C1BCE3823199}"/>
              </a:ext>
            </a:extLst>
          </p:cNvPr>
          <p:cNvSpPr/>
          <p:nvPr/>
        </p:nvSpPr>
        <p:spPr>
          <a:xfrm>
            <a:off x="1160388" y="2115530"/>
            <a:ext cx="251581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交付闭环：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完成系统上线，交付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预算管理、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对接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等核心模块。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" name="Picture 12">
            <a:extLst>
              <a:ext uri="{FF2B5EF4-FFF2-40B4-BE49-F238E27FC236}">
                <a16:creationId xmlns:a16="http://schemas.microsoft.com/office/drawing/2014/main" id="{54BC9A6C-9DBA-AC55-AECD-68224DC20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188" y="2877530"/>
            <a:ext cx="203200" cy="203200"/>
          </a:xfrm>
          <a:prstGeom prst="rect">
            <a:avLst/>
          </a:prstGeom>
        </p:spPr>
      </p:pic>
      <p:sp>
        <p:nvSpPr>
          <p:cNvPr id="74" name="AutoShape 13">
            <a:extLst>
              <a:ext uri="{FF2B5EF4-FFF2-40B4-BE49-F238E27FC236}">
                <a16:creationId xmlns:a16="http://schemas.microsoft.com/office/drawing/2014/main" id="{E9B3AD92-6A08-289A-B0A0-6F3A303A18AE}"/>
              </a:ext>
            </a:extLst>
          </p:cNvPr>
          <p:cNvSpPr/>
          <p:nvPr/>
        </p:nvSpPr>
        <p:spPr>
          <a:xfrm>
            <a:off x="1160388" y="287753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稳定运行：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月均处理客户反馈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10-20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，响应率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Picture 14">
            <a:extLst>
              <a:ext uri="{FF2B5EF4-FFF2-40B4-BE49-F238E27FC236}">
                <a16:creationId xmlns:a16="http://schemas.microsoft.com/office/drawing/2014/main" id="{D833C0F0-0DC5-A491-CC03-312E4C1825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188" y="3639530"/>
            <a:ext cx="203200" cy="203200"/>
          </a:xfrm>
          <a:prstGeom prst="rect">
            <a:avLst/>
          </a:prstGeom>
        </p:spPr>
      </p:pic>
      <p:sp>
        <p:nvSpPr>
          <p:cNvPr id="76" name="AutoShape 15">
            <a:extLst>
              <a:ext uri="{FF2B5EF4-FFF2-40B4-BE49-F238E27FC236}">
                <a16:creationId xmlns:a16="http://schemas.microsoft.com/office/drawing/2014/main" id="{AA786426-4EA7-69CF-A07C-36265FFD7983}"/>
              </a:ext>
            </a:extLst>
          </p:cNvPr>
          <p:cNvSpPr/>
          <p:nvPr/>
        </p:nvSpPr>
        <p:spPr>
          <a:xfrm>
            <a:off x="1160388" y="363953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持续迭代：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保持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的功能点上线节奏，目前正推进海森业务整合。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AutoShape 16">
            <a:extLst>
              <a:ext uri="{FF2B5EF4-FFF2-40B4-BE49-F238E27FC236}">
                <a16:creationId xmlns:a16="http://schemas.microsoft.com/office/drawing/2014/main" id="{5C523F98-07FE-44DC-6A48-9580A832AD9B}"/>
              </a:ext>
            </a:extLst>
          </p:cNvPr>
          <p:cNvSpPr/>
          <p:nvPr/>
        </p:nvSpPr>
        <p:spPr>
          <a:xfrm>
            <a:off x="4309988" y="135353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8" name="Picture 17">
            <a:extLst>
              <a:ext uri="{FF2B5EF4-FFF2-40B4-BE49-F238E27FC236}">
                <a16:creationId xmlns:a16="http://schemas.microsoft.com/office/drawing/2014/main" id="{93B09EAF-3B48-876E-F496-ABE41047C1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3188" y="1556730"/>
            <a:ext cx="304800" cy="304800"/>
          </a:xfrm>
          <a:prstGeom prst="rect">
            <a:avLst/>
          </a:prstGeom>
        </p:spPr>
      </p:pic>
      <p:sp>
        <p:nvSpPr>
          <p:cNvPr id="79" name="AutoShape 18">
            <a:extLst>
              <a:ext uri="{FF2B5EF4-FFF2-40B4-BE49-F238E27FC236}">
                <a16:creationId xmlns:a16="http://schemas.microsoft.com/office/drawing/2014/main" id="{8265E51E-07B9-3290-35A1-D47AECAC09B6}"/>
              </a:ext>
            </a:extLst>
          </p:cNvPr>
          <p:cNvSpPr/>
          <p:nvPr/>
        </p:nvSpPr>
        <p:spPr>
          <a:xfrm>
            <a:off x="4944988" y="155673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神基</a:t>
            </a:r>
            <a:r>
              <a:rPr lang="zh-CN" altLang="en-US" sz="16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制药</a:t>
            </a:r>
            <a:r>
              <a:rPr 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(</a:t>
            </a:r>
            <a:r>
              <a:rPr lang="en-US" sz="1600" b="1" i="0" u="none" strike="noStrike" dirty="0" err="1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核心PM</a:t>
            </a:r>
            <a:r>
              <a:rPr 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)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0" name="Picture 19">
            <a:extLst>
              <a:ext uri="{FF2B5EF4-FFF2-40B4-BE49-F238E27FC236}">
                <a16:creationId xmlns:a16="http://schemas.microsoft.com/office/drawing/2014/main" id="{3A8FA077-E7D6-2275-D8BF-D3B2A46DE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3188" y="2115530"/>
            <a:ext cx="203200" cy="203200"/>
          </a:xfrm>
          <a:prstGeom prst="rect">
            <a:avLst/>
          </a:prstGeom>
        </p:spPr>
      </p:pic>
      <p:sp>
        <p:nvSpPr>
          <p:cNvPr id="81" name="AutoShape 20">
            <a:extLst>
              <a:ext uri="{FF2B5EF4-FFF2-40B4-BE49-F238E27FC236}">
                <a16:creationId xmlns:a16="http://schemas.microsoft.com/office/drawing/2014/main" id="{6CFCD6E6-3B2B-CE13-1818-B70D569FAA1E}"/>
              </a:ext>
            </a:extLst>
          </p:cNvPr>
          <p:cNvSpPr/>
          <p:nvPr/>
        </p:nvSpPr>
        <p:spPr>
          <a:xfrm>
            <a:off x="4843388" y="211553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合规落地：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针对行业痛点，成功上线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签到真实性二重验证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2" name="Picture 21">
            <a:extLst>
              <a:ext uri="{FF2B5EF4-FFF2-40B4-BE49-F238E27FC236}">
                <a16:creationId xmlns:a16="http://schemas.microsoft.com/office/drawing/2014/main" id="{66212A77-6ACD-A598-3D43-E68145D651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3188" y="2877530"/>
            <a:ext cx="203200" cy="203200"/>
          </a:xfrm>
          <a:prstGeom prst="rect">
            <a:avLst/>
          </a:prstGeom>
        </p:spPr>
      </p:pic>
      <p:sp>
        <p:nvSpPr>
          <p:cNvPr id="83" name="AutoShape 22">
            <a:extLst>
              <a:ext uri="{FF2B5EF4-FFF2-40B4-BE49-F238E27FC236}">
                <a16:creationId xmlns:a16="http://schemas.microsoft.com/office/drawing/2014/main" id="{03008D6A-4404-8DBF-0403-841456B7D607}"/>
              </a:ext>
            </a:extLst>
          </p:cNvPr>
          <p:cNvSpPr/>
          <p:nvPr/>
        </p:nvSpPr>
        <p:spPr>
          <a:xfrm>
            <a:off x="4843388" y="287753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运维提效：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通过系统优化，反馈量较初期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大幅下降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（现稳定在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60-70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4" name="Picture 23">
            <a:extLst>
              <a:ext uri="{FF2B5EF4-FFF2-40B4-BE49-F238E27FC236}">
                <a16:creationId xmlns:a16="http://schemas.microsoft.com/office/drawing/2014/main" id="{AF05EBF8-9A0A-E154-EDA0-1E772CA0F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3188" y="3639530"/>
            <a:ext cx="203200" cy="203200"/>
          </a:xfrm>
          <a:prstGeom prst="rect">
            <a:avLst/>
          </a:prstGeom>
        </p:spPr>
      </p:pic>
      <p:sp>
        <p:nvSpPr>
          <p:cNvPr id="85" name="AutoShape 24">
            <a:extLst>
              <a:ext uri="{FF2B5EF4-FFF2-40B4-BE49-F238E27FC236}">
                <a16:creationId xmlns:a16="http://schemas.microsoft.com/office/drawing/2014/main" id="{10645E83-A2F6-85DC-AEC1-C06F6C72EA14}"/>
              </a:ext>
            </a:extLst>
          </p:cNvPr>
          <p:cNvSpPr/>
          <p:nvPr/>
        </p:nvSpPr>
        <p:spPr>
          <a:xfrm>
            <a:off x="4843388" y="363953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功能扩展：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稳步推进样品管理、美团对接，月均上线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优化点。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AutoShape 25">
            <a:extLst>
              <a:ext uri="{FF2B5EF4-FFF2-40B4-BE49-F238E27FC236}">
                <a16:creationId xmlns:a16="http://schemas.microsoft.com/office/drawing/2014/main" id="{0FAFB5A0-7557-09A1-4602-2002BFB5010A}"/>
              </a:ext>
            </a:extLst>
          </p:cNvPr>
          <p:cNvSpPr/>
          <p:nvPr/>
        </p:nvSpPr>
        <p:spPr>
          <a:xfrm>
            <a:off x="7992988" y="135353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7" name="Picture 26">
            <a:extLst>
              <a:ext uri="{FF2B5EF4-FFF2-40B4-BE49-F238E27FC236}">
                <a16:creationId xmlns:a16="http://schemas.microsoft.com/office/drawing/2014/main" id="{2D596182-E2CF-0826-5D13-B1E4D527D3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96188" y="1556730"/>
            <a:ext cx="304800" cy="304800"/>
          </a:xfrm>
          <a:prstGeom prst="rect">
            <a:avLst/>
          </a:prstGeom>
        </p:spPr>
      </p:pic>
      <p:sp>
        <p:nvSpPr>
          <p:cNvPr id="88" name="AutoShape 27">
            <a:extLst>
              <a:ext uri="{FF2B5EF4-FFF2-40B4-BE49-F238E27FC236}">
                <a16:creationId xmlns:a16="http://schemas.microsoft.com/office/drawing/2014/main" id="{CB0A5805-8937-5150-B831-77E0395CEB8B}"/>
              </a:ext>
            </a:extLst>
          </p:cNvPr>
          <p:cNvSpPr/>
          <p:nvPr/>
        </p:nvSpPr>
        <p:spPr>
          <a:xfrm>
            <a:off x="8627987" y="1556730"/>
            <a:ext cx="291554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行业拓展</a:t>
            </a:r>
            <a:r>
              <a:rPr lang="en-US" altLang="zh-CN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(</a:t>
            </a:r>
            <a:r>
              <a:rPr lang="zh-CN" alt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士卓曼</a:t>
            </a:r>
            <a:r>
              <a:rPr lang="en-US" altLang="zh-CN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/</a:t>
            </a:r>
            <a:r>
              <a:rPr lang="zh-CN" alt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远大</a:t>
            </a:r>
            <a:r>
              <a:rPr lang="en-US" altLang="zh-CN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/</a:t>
            </a:r>
            <a:r>
              <a:rPr lang="zh-CN" altLang="en-US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礼邦</a:t>
            </a:r>
            <a:r>
              <a:rPr lang="en-US" altLang="zh-CN" sz="1600" b="1" i="0" u="none" strike="noStrike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)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9" name="Picture 28">
            <a:extLst>
              <a:ext uri="{FF2B5EF4-FFF2-40B4-BE49-F238E27FC236}">
                <a16:creationId xmlns:a16="http://schemas.microsoft.com/office/drawing/2014/main" id="{E8AB053F-59C2-A02D-9866-E538D844C5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6188" y="2115530"/>
            <a:ext cx="203200" cy="203200"/>
          </a:xfrm>
          <a:prstGeom prst="rect">
            <a:avLst/>
          </a:prstGeom>
        </p:spPr>
      </p:pic>
      <p:sp>
        <p:nvSpPr>
          <p:cNvPr id="90" name="AutoShape 29">
            <a:extLst>
              <a:ext uri="{FF2B5EF4-FFF2-40B4-BE49-F238E27FC236}">
                <a16:creationId xmlns:a16="http://schemas.microsoft.com/office/drawing/2014/main" id="{DFA46654-46A3-7CEA-41E1-302A066ED107}"/>
              </a:ext>
            </a:extLst>
          </p:cNvPr>
          <p:cNvSpPr/>
          <p:nvPr/>
        </p:nvSpPr>
        <p:spPr>
          <a:xfrm>
            <a:off x="8526388" y="211553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项目覆盖：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项目参与需求评估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方案优化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1" name="Picture 30">
            <a:extLst>
              <a:ext uri="{FF2B5EF4-FFF2-40B4-BE49-F238E27FC236}">
                <a16:creationId xmlns:a16="http://schemas.microsoft.com/office/drawing/2014/main" id="{65DD3E8C-01A3-E7B5-0302-BD4502CC5C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6188" y="2877530"/>
            <a:ext cx="203200" cy="203200"/>
          </a:xfrm>
          <a:prstGeom prst="rect">
            <a:avLst/>
          </a:prstGeom>
        </p:spPr>
      </p:pic>
      <p:sp>
        <p:nvSpPr>
          <p:cNvPr id="92" name="AutoShape 31">
            <a:extLst>
              <a:ext uri="{FF2B5EF4-FFF2-40B4-BE49-F238E27FC236}">
                <a16:creationId xmlns:a16="http://schemas.microsoft.com/office/drawing/2014/main" id="{D0F955F0-42C7-314B-57CF-9F935821B31B}"/>
              </a:ext>
            </a:extLst>
          </p:cNvPr>
          <p:cNvSpPr/>
          <p:nvPr/>
        </p:nvSpPr>
        <p:spPr>
          <a:xfrm>
            <a:off x="8526388" y="287753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经验复用：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沉淀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个药企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器械项目的行业特性，输出通用化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SaaS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解决方案。</a:t>
            </a:r>
            <a:endParaRPr 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AutoShape 31">
            <a:extLst>
              <a:ext uri="{FF2B5EF4-FFF2-40B4-BE49-F238E27FC236}">
                <a16:creationId xmlns:a16="http://schemas.microsoft.com/office/drawing/2014/main" id="{7DB94DBF-7E10-7BEA-DDBA-DB0A48095957}"/>
              </a:ext>
            </a:extLst>
          </p:cNvPr>
          <p:cNvSpPr/>
          <p:nvPr/>
        </p:nvSpPr>
        <p:spPr>
          <a:xfrm>
            <a:off x="626988" y="5216887"/>
            <a:ext cx="10668000" cy="1214086"/>
          </a:xfrm>
          <a:prstGeom prst="roundRect">
            <a:avLst>
              <a:gd name="adj" fmla="val 13333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6" name="Picture 32">
            <a:extLst>
              <a:ext uri="{FF2B5EF4-FFF2-40B4-BE49-F238E27FC236}">
                <a16:creationId xmlns:a16="http://schemas.microsoft.com/office/drawing/2014/main" id="{3A8AC61D-E7C2-F8BF-2138-3934BC35FF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0988" y="5445488"/>
            <a:ext cx="304800" cy="304800"/>
          </a:xfrm>
          <a:prstGeom prst="rect">
            <a:avLst/>
          </a:prstGeom>
        </p:spPr>
      </p:pic>
      <p:sp>
        <p:nvSpPr>
          <p:cNvPr id="97" name="AutoShape 33">
            <a:extLst>
              <a:ext uri="{FF2B5EF4-FFF2-40B4-BE49-F238E27FC236}">
                <a16:creationId xmlns:a16="http://schemas.microsoft.com/office/drawing/2014/main" id="{C63B33E7-74A0-FD09-3AE3-8A360B959BCC}"/>
              </a:ext>
            </a:extLst>
          </p:cNvPr>
          <p:cNvSpPr/>
          <p:nvPr/>
        </p:nvSpPr>
        <p:spPr>
          <a:xfrm>
            <a:off x="1388988" y="5391322"/>
            <a:ext cx="9652000" cy="8341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项目成果：成功交付核心模块，实现系统“零事故”平稳运行，客户满意度高。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个人成果：快速完成业务破局与角色转型，以全生命周期管理视角深耕复杂场景，在攻克业务壁垒与合规挑战中实现了产品交付质量的稳步跃升。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1"/>
          <p:cNvSpPr txBox="1"/>
          <p:nvPr/>
        </p:nvSpPr>
        <p:spPr>
          <a:xfrm>
            <a:off x="363836" y="244861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述职报告：反思与成长</a:t>
            </a: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utoShape 6">
            <a:extLst>
              <a:ext uri="{FF2B5EF4-FFF2-40B4-BE49-F238E27FC236}">
                <a16:creationId xmlns:a16="http://schemas.microsoft.com/office/drawing/2014/main" id="{B91F10E5-926A-476A-D674-3E2DA5D135C5}"/>
              </a:ext>
            </a:extLst>
          </p:cNvPr>
          <p:cNvSpPr/>
          <p:nvPr/>
        </p:nvSpPr>
        <p:spPr>
          <a:xfrm>
            <a:off x="762000" y="1422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核心不足与改进对策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7">
            <a:extLst>
              <a:ext uri="{FF2B5EF4-FFF2-40B4-BE49-F238E27FC236}">
                <a16:creationId xmlns:a16="http://schemas.microsoft.com/office/drawing/2014/main" id="{E3432758-885D-A31A-AC14-6FAA3FD04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930400"/>
            <a:ext cx="304800" cy="304800"/>
          </a:xfrm>
          <a:prstGeom prst="rect">
            <a:avLst/>
          </a:prstGeom>
        </p:spPr>
      </p:pic>
      <p:sp>
        <p:nvSpPr>
          <p:cNvPr id="19" name="AutoShape 8">
            <a:extLst>
              <a:ext uri="{FF2B5EF4-FFF2-40B4-BE49-F238E27FC236}">
                <a16:creationId xmlns:a16="http://schemas.microsoft.com/office/drawing/2014/main" id="{ECEE0351-4B54-2E1C-D429-F9ABC7F65C9B}"/>
              </a:ext>
            </a:extLst>
          </p:cNvPr>
          <p:cNvSpPr/>
          <p:nvPr/>
        </p:nvSpPr>
        <p:spPr>
          <a:xfrm>
            <a:off x="1219200" y="1930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需求颗粒度把控不足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id="{68E34A02-3071-47DA-981C-4454D3EC04EF}"/>
              </a:ext>
            </a:extLst>
          </p:cNvPr>
          <p:cNvSpPr/>
          <p:nvPr/>
        </p:nvSpPr>
        <p:spPr>
          <a:xfrm>
            <a:off x="1219200" y="2286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1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问题描述： 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调研时未筛选核心需求，导致报表字段冗余，研发成本高且客户使用率低。</a:t>
            </a:r>
            <a:endParaRPr lang="en-US" altLang="zh-CN" sz="1400" b="0" i="0" u="none" strike="noStrike" dirty="0">
              <a:solidFill>
                <a:srgbClr val="4950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1400" b="1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改进方案： 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“场景化过滤法”。</a:t>
            </a:r>
            <a:endParaRPr lang="en-US" altLang="zh-CN" sz="1400" b="0" i="0" u="none" strike="noStrike" dirty="0">
              <a:solidFill>
                <a:srgbClr val="4950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285750" indent="-2857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深入具体使用场景判断必要性。</a:t>
            </a:r>
            <a:endParaRPr lang="en-US" altLang="zh-CN" sz="1400" b="0" i="0" u="none" strike="noStrike" dirty="0">
              <a:solidFill>
                <a:srgbClr val="4950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285750" indent="-2857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非核心</a:t>
            </a:r>
            <a:r>
              <a:rPr lang="en-US" altLang="zh-CN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/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低频需求优先采用“后台导出”方案，平衡研发资源与客户体验。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Picture 10">
            <a:extLst>
              <a:ext uri="{FF2B5EF4-FFF2-40B4-BE49-F238E27FC236}">
                <a16:creationId xmlns:a16="http://schemas.microsoft.com/office/drawing/2014/main" id="{47CC65C9-1C32-F358-A119-83D2F68AAB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30400"/>
            <a:ext cx="304800" cy="304800"/>
          </a:xfrm>
          <a:prstGeom prst="rect">
            <a:avLst/>
          </a:prstGeom>
        </p:spPr>
      </p:pic>
      <p:sp>
        <p:nvSpPr>
          <p:cNvPr id="22" name="AutoShape 11">
            <a:extLst>
              <a:ext uri="{FF2B5EF4-FFF2-40B4-BE49-F238E27FC236}">
                <a16:creationId xmlns:a16="http://schemas.microsoft.com/office/drawing/2014/main" id="{937810DA-2011-F11B-8A96-786409A4F99F}"/>
              </a:ext>
            </a:extLst>
          </p:cNvPr>
          <p:cNvSpPr/>
          <p:nvPr/>
        </p:nvSpPr>
        <p:spPr>
          <a:xfrm>
            <a:off x="6934200" y="1930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多线程管理效率待提升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12">
            <a:extLst>
              <a:ext uri="{FF2B5EF4-FFF2-40B4-BE49-F238E27FC236}">
                <a16:creationId xmlns:a16="http://schemas.microsoft.com/office/drawing/2014/main" id="{65817093-BDC3-83E6-B4C8-BDFE4A9F747C}"/>
              </a:ext>
            </a:extLst>
          </p:cNvPr>
          <p:cNvSpPr/>
          <p:nvPr/>
        </p:nvSpPr>
        <p:spPr>
          <a:xfrm>
            <a:off x="6934200" y="2286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问题描述： 在多项目并行（</a:t>
            </a:r>
            <a:r>
              <a:rPr lang="en-US" altLang="zh-CN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A/B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任务切换）时，存在遗忘进度或专注度分配不均的情况。</a:t>
            </a:r>
            <a:endParaRPr lang="en-US" altLang="zh-CN" sz="1400" b="0" i="0" u="none" strike="noStrike" dirty="0">
              <a:solidFill>
                <a:srgbClr val="4950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改进方案： “清单</a:t>
            </a:r>
            <a:r>
              <a:rPr lang="en-US" altLang="zh-CN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+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时间轴管理”。</a:t>
            </a:r>
            <a:endParaRPr lang="en-US" altLang="zh-CN" sz="1400" b="0" i="0" u="none" strike="noStrike" dirty="0">
              <a:solidFill>
                <a:srgbClr val="4950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285750" indent="-2857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每日列出任务清单（</a:t>
            </a:r>
            <a:r>
              <a:rPr lang="en-US" altLang="zh-CN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To-Do List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）并标注优先级。</a:t>
            </a:r>
            <a:endParaRPr lang="en-US" altLang="zh-CN" sz="1400" b="0" i="0" u="none" strike="noStrike" dirty="0">
              <a:solidFill>
                <a:srgbClr val="4950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  <a:p>
            <a:pPr marL="285750" indent="-285750" algn="l">
              <a:lnSpc>
                <a:spcPct val="116666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设置关键节点提醒，周维度复盘多任务推进节奏，提升并行处理能力。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Connector 13">
            <a:extLst>
              <a:ext uri="{FF2B5EF4-FFF2-40B4-BE49-F238E27FC236}">
                <a16:creationId xmlns:a16="http://schemas.microsoft.com/office/drawing/2014/main" id="{C48A6326-E8D5-D5A9-11D9-F3C6DA3FC49E}"/>
              </a:ext>
            </a:extLst>
          </p:cNvPr>
          <p:cNvCxnSpPr/>
          <p:nvPr/>
        </p:nvCxnSpPr>
        <p:spPr>
          <a:xfrm rot="21595908">
            <a:off x="762003" y="3923491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14">
            <a:extLst>
              <a:ext uri="{FF2B5EF4-FFF2-40B4-BE49-F238E27FC236}">
                <a16:creationId xmlns:a16="http://schemas.microsoft.com/office/drawing/2014/main" id="{207902C7-24DD-60AB-BDD6-92BB2230542A}"/>
              </a:ext>
            </a:extLst>
          </p:cNvPr>
          <p:cNvSpPr/>
          <p:nvPr/>
        </p:nvSpPr>
        <p:spPr>
          <a:xfrm>
            <a:off x="761999" y="4183841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关键能力沉淀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Picture 15">
            <a:extLst>
              <a:ext uri="{FF2B5EF4-FFF2-40B4-BE49-F238E27FC236}">
                <a16:creationId xmlns:a16="http://schemas.microsoft.com/office/drawing/2014/main" id="{E5FEDAC5-4CE0-5EA1-7772-75AC275F19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999" y="4691841"/>
            <a:ext cx="304800" cy="304800"/>
          </a:xfrm>
          <a:prstGeom prst="rect">
            <a:avLst/>
          </a:prstGeom>
        </p:spPr>
      </p:pic>
      <p:sp>
        <p:nvSpPr>
          <p:cNvPr id="30" name="AutoShape 16">
            <a:extLst>
              <a:ext uri="{FF2B5EF4-FFF2-40B4-BE49-F238E27FC236}">
                <a16:creationId xmlns:a16="http://schemas.microsoft.com/office/drawing/2014/main" id="{EFF040DE-07B3-F8F2-BDE5-3EBE14CC4F78}"/>
              </a:ext>
            </a:extLst>
          </p:cNvPr>
          <p:cNvSpPr/>
          <p:nvPr/>
        </p:nvSpPr>
        <p:spPr>
          <a:xfrm>
            <a:off x="1219199" y="4691841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业务深度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17">
            <a:extLst>
              <a:ext uri="{FF2B5EF4-FFF2-40B4-BE49-F238E27FC236}">
                <a16:creationId xmlns:a16="http://schemas.microsoft.com/office/drawing/2014/main" id="{E6CFB555-632B-82CD-6C88-9DF10B003EC6}"/>
              </a:ext>
            </a:extLst>
          </p:cNvPr>
          <p:cNvSpPr/>
          <p:nvPr/>
        </p:nvSpPr>
        <p:spPr>
          <a:xfrm>
            <a:off x="1219199" y="5047441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快速构建会议营销、合规验证、器械培训等垂直领域知识库。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1" name="Picture 18">
            <a:extLst>
              <a:ext uri="{FF2B5EF4-FFF2-40B4-BE49-F238E27FC236}">
                <a16:creationId xmlns:a16="http://schemas.microsoft.com/office/drawing/2014/main" id="{769E18E1-0057-0FBC-9CDA-189E6979B1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6999" y="4691841"/>
            <a:ext cx="304800" cy="304800"/>
          </a:xfrm>
          <a:prstGeom prst="rect">
            <a:avLst/>
          </a:prstGeom>
        </p:spPr>
      </p:pic>
      <p:sp>
        <p:nvSpPr>
          <p:cNvPr id="60" name="AutoShape 19">
            <a:extLst>
              <a:ext uri="{FF2B5EF4-FFF2-40B4-BE49-F238E27FC236}">
                <a16:creationId xmlns:a16="http://schemas.microsoft.com/office/drawing/2014/main" id="{071B3A96-5480-E854-7604-44B5DBBE197B}"/>
              </a:ext>
            </a:extLst>
          </p:cNvPr>
          <p:cNvSpPr/>
          <p:nvPr/>
        </p:nvSpPr>
        <p:spPr>
          <a:xfrm>
            <a:off x="6934199" y="4691841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产品技能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AutoShape 20">
            <a:extLst>
              <a:ext uri="{FF2B5EF4-FFF2-40B4-BE49-F238E27FC236}">
                <a16:creationId xmlns:a16="http://schemas.microsoft.com/office/drawing/2014/main" id="{BDB5ECA2-7E3A-55DD-7870-614CFA83ABC4}"/>
              </a:ext>
            </a:extLst>
          </p:cNvPr>
          <p:cNvSpPr/>
          <p:nvPr/>
        </p:nvSpPr>
        <p:spPr>
          <a:xfrm>
            <a:off x="6934199" y="5047441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具备独立输出高保真原型及复杂逻辑PRD的能力，SaaS思维显著提升。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AutoShape 21">
            <a:extLst>
              <a:ext uri="{FF2B5EF4-FFF2-40B4-BE49-F238E27FC236}">
                <a16:creationId xmlns:a16="http://schemas.microsoft.com/office/drawing/2014/main" id="{2E0D8B4D-E59E-2FF5-09F7-48F4C8BE3C05}"/>
              </a:ext>
            </a:extLst>
          </p:cNvPr>
          <p:cNvSpPr/>
          <p:nvPr/>
        </p:nvSpPr>
        <p:spPr>
          <a:xfrm>
            <a:off x="761999" y="6088841"/>
            <a:ext cx="10668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小李PPT1"/>
          <p:cNvSpPr txBox="1"/>
          <p:nvPr/>
        </p:nvSpPr>
        <p:spPr>
          <a:xfrm>
            <a:off x="363836" y="244861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1757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2026 工作计划</a:t>
            </a:r>
            <a:endParaRPr kumimoji="0" lang="zh-CN" altLang="en-US" sz="2800" b="1" u="none" strike="noStrike" kern="1200" cap="none" spc="0" normalizeH="0" baseline="0" dirty="0">
              <a:solidFill>
                <a:srgbClr val="17579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n-ea"/>
            </a:endParaRPr>
          </a:p>
        </p:txBody>
      </p:sp>
      <p:cxnSp>
        <p:nvCxnSpPr>
          <p:cNvPr id="57" name="直线连接符 56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AutoShape 6">
            <a:extLst>
              <a:ext uri="{FF2B5EF4-FFF2-40B4-BE49-F238E27FC236}">
                <a16:creationId xmlns:a16="http://schemas.microsoft.com/office/drawing/2014/main" id="{5EA148C8-1CE0-4582-B106-326DFD912C79}"/>
              </a:ext>
            </a:extLst>
          </p:cNvPr>
          <p:cNvSpPr/>
          <p:nvPr/>
        </p:nvSpPr>
        <p:spPr>
          <a:xfrm>
            <a:off x="762000" y="1651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业务拓界：承接更多挑战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7C86FE4B-1991-C054-FCB8-D4A7C5E780AA}"/>
              </a:ext>
            </a:extLst>
          </p:cNvPr>
          <p:cNvSpPr/>
          <p:nvPr/>
        </p:nvSpPr>
        <p:spPr>
          <a:xfrm>
            <a:off x="762000" y="20574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Expansion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0DD689F-6EB4-D68B-E64C-FCB4E160B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565400"/>
            <a:ext cx="254000" cy="254000"/>
          </a:xfrm>
          <a:prstGeom prst="rect">
            <a:avLst/>
          </a:prstGeom>
        </p:spPr>
      </p:pic>
      <p:sp>
        <p:nvSpPr>
          <p:cNvPr id="6" name="AutoShape 9">
            <a:extLst>
              <a:ext uri="{FF2B5EF4-FFF2-40B4-BE49-F238E27FC236}">
                <a16:creationId xmlns:a16="http://schemas.microsoft.com/office/drawing/2014/main" id="{E4207D3B-F375-5323-53C0-781CECF6FA26}"/>
              </a:ext>
            </a:extLst>
          </p:cNvPr>
          <p:cNvSpPr/>
          <p:nvPr/>
        </p:nvSpPr>
        <p:spPr>
          <a:xfrm>
            <a:off x="1143000" y="25654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多项目并行：</a:t>
            </a:r>
            <a:r>
              <a:rPr lang="en-US" sz="1400" b="0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在保障核心项目基础上，主动承接2-3个新增重点项目。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044B2C0B-AD17-43C1-9008-BEFA4025E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505200"/>
            <a:ext cx="254000" cy="254000"/>
          </a:xfrm>
          <a:prstGeom prst="rect">
            <a:avLst/>
          </a:prstGeom>
        </p:spPr>
      </p:pic>
      <p:sp>
        <p:nvSpPr>
          <p:cNvPr id="13" name="AutoShape 11">
            <a:extLst>
              <a:ext uri="{FF2B5EF4-FFF2-40B4-BE49-F238E27FC236}">
                <a16:creationId xmlns:a16="http://schemas.microsoft.com/office/drawing/2014/main" id="{EB20F080-0A41-993B-6F89-02D43D1ACE45}"/>
              </a:ext>
            </a:extLst>
          </p:cNvPr>
          <p:cNvSpPr/>
          <p:nvPr/>
        </p:nvSpPr>
        <p:spPr>
          <a:xfrm>
            <a:off x="1143000" y="35052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en-US" sz="1400" b="1" i="0" u="none" strike="noStrike" dirty="0" err="1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全流程主导</a:t>
            </a:r>
            <a:r>
              <a:rPr lang="en-US" sz="1400" b="1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zh-CN" altLang="en-US" sz="1400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从“执行者”向“方案建议者”转型，前置参与项目规划。 </a:t>
            </a:r>
            <a:r>
              <a:rPr 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承担Owner角色，实现100%全链路把控。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Connector 12">
            <a:extLst>
              <a:ext uri="{FF2B5EF4-FFF2-40B4-BE49-F238E27FC236}">
                <a16:creationId xmlns:a16="http://schemas.microsoft.com/office/drawing/2014/main" id="{0810081D-8922-3AA8-F0F3-28606726A622}"/>
              </a:ext>
            </a:extLst>
          </p:cNvPr>
          <p:cNvCxnSpPr/>
          <p:nvPr/>
        </p:nvCxnSpPr>
        <p:spPr>
          <a:xfrm rot="5383629">
            <a:off x="2984500" y="2978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13">
            <a:extLst>
              <a:ext uri="{FF2B5EF4-FFF2-40B4-BE49-F238E27FC236}">
                <a16:creationId xmlns:a16="http://schemas.microsoft.com/office/drawing/2014/main" id="{49F29095-999B-34F6-54A8-E4A33AD9C7C8}"/>
              </a:ext>
            </a:extLst>
          </p:cNvPr>
          <p:cNvSpPr/>
          <p:nvPr/>
        </p:nvSpPr>
        <p:spPr>
          <a:xfrm>
            <a:off x="4572000" y="1651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敏捷迭代：提速与提质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14">
            <a:extLst>
              <a:ext uri="{FF2B5EF4-FFF2-40B4-BE49-F238E27FC236}">
                <a16:creationId xmlns:a16="http://schemas.microsoft.com/office/drawing/2014/main" id="{83D13FE7-429E-961A-97C7-4EB56A4FFE02}"/>
              </a:ext>
            </a:extLst>
          </p:cNvPr>
          <p:cNvSpPr/>
          <p:nvPr/>
        </p:nvSpPr>
        <p:spPr>
          <a:xfrm>
            <a:off x="4572000" y="20574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Efficiency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Picture 15">
            <a:extLst>
              <a:ext uri="{FF2B5EF4-FFF2-40B4-BE49-F238E27FC236}">
                <a16:creationId xmlns:a16="http://schemas.microsoft.com/office/drawing/2014/main" id="{BA63A5FE-A308-2B68-A86E-95390F1F42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2565400"/>
            <a:ext cx="254000" cy="254000"/>
          </a:xfrm>
          <a:prstGeom prst="rect">
            <a:avLst/>
          </a:prstGeom>
        </p:spPr>
      </p:pic>
      <p:sp>
        <p:nvSpPr>
          <p:cNvPr id="27" name="AutoShape 16">
            <a:extLst>
              <a:ext uri="{FF2B5EF4-FFF2-40B4-BE49-F238E27FC236}">
                <a16:creationId xmlns:a16="http://schemas.microsoft.com/office/drawing/2014/main" id="{0038D8E6-60EE-248C-0EED-2D44A2B54749}"/>
              </a:ext>
            </a:extLst>
          </p:cNvPr>
          <p:cNvSpPr/>
          <p:nvPr/>
        </p:nvSpPr>
        <p:spPr>
          <a:xfrm>
            <a:off x="4953000" y="25654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1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团队协同</a:t>
            </a:r>
            <a:r>
              <a:rPr lang="zh-CN" altLang="en-US" sz="140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 沉淀项目文档，主动分享经验，助力团队整体效能提升。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" name="Picture 17">
            <a:extLst>
              <a:ext uri="{FF2B5EF4-FFF2-40B4-BE49-F238E27FC236}">
                <a16:creationId xmlns:a16="http://schemas.microsoft.com/office/drawing/2014/main" id="{141240E6-9D56-186C-5308-05DC452A18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3505200"/>
            <a:ext cx="254000" cy="254000"/>
          </a:xfrm>
          <a:prstGeom prst="rect">
            <a:avLst/>
          </a:prstGeom>
        </p:spPr>
      </p:pic>
      <p:sp>
        <p:nvSpPr>
          <p:cNvPr id="51" name="AutoShape 18">
            <a:extLst>
              <a:ext uri="{FF2B5EF4-FFF2-40B4-BE49-F238E27FC236}">
                <a16:creationId xmlns:a16="http://schemas.microsoft.com/office/drawing/2014/main" id="{0BEBA2F0-C9D8-D4F9-F3CB-A920AF1DFC27}"/>
              </a:ext>
            </a:extLst>
          </p:cNvPr>
          <p:cNvSpPr/>
          <p:nvPr/>
        </p:nvSpPr>
        <p:spPr>
          <a:xfrm>
            <a:off x="4953000" y="35052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需求落地率：</a:t>
            </a:r>
            <a:r>
              <a:rPr 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确保重大版本按期交付，落地率保持100%。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Connector 19">
            <a:extLst>
              <a:ext uri="{FF2B5EF4-FFF2-40B4-BE49-F238E27FC236}">
                <a16:creationId xmlns:a16="http://schemas.microsoft.com/office/drawing/2014/main" id="{BA5CF022-B502-3EBD-1352-6791F9CE1C6F}"/>
              </a:ext>
            </a:extLst>
          </p:cNvPr>
          <p:cNvCxnSpPr/>
          <p:nvPr/>
        </p:nvCxnSpPr>
        <p:spPr>
          <a:xfrm rot="5383629">
            <a:off x="6794500" y="2978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" name="AutoShape 20">
            <a:extLst>
              <a:ext uri="{FF2B5EF4-FFF2-40B4-BE49-F238E27FC236}">
                <a16:creationId xmlns:a16="http://schemas.microsoft.com/office/drawing/2014/main" id="{2D2B27FB-376D-1A49-2812-12E353F816FB}"/>
              </a:ext>
            </a:extLst>
          </p:cNvPr>
          <p:cNvSpPr/>
          <p:nvPr/>
        </p:nvSpPr>
        <p:spPr>
          <a:xfrm>
            <a:off x="8382000" y="1651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价值深挖：SaaS化与标准化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AutoShape 21">
            <a:extLst>
              <a:ext uri="{FF2B5EF4-FFF2-40B4-BE49-F238E27FC236}">
                <a16:creationId xmlns:a16="http://schemas.microsoft.com/office/drawing/2014/main" id="{5150E8BF-D720-C427-421E-A1564D3F13FA}"/>
              </a:ext>
            </a:extLst>
          </p:cNvPr>
          <p:cNvSpPr/>
          <p:nvPr/>
        </p:nvSpPr>
        <p:spPr>
          <a:xfrm>
            <a:off x="8382000" y="20574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Value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Picture 22">
            <a:extLst>
              <a:ext uri="{FF2B5EF4-FFF2-40B4-BE49-F238E27FC236}">
                <a16:creationId xmlns:a16="http://schemas.microsoft.com/office/drawing/2014/main" id="{3EBE3B0E-C57D-9A02-2DC7-1F74E6BFB9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2565400"/>
            <a:ext cx="254000" cy="254000"/>
          </a:xfrm>
          <a:prstGeom prst="rect">
            <a:avLst/>
          </a:prstGeom>
        </p:spPr>
      </p:pic>
      <p:sp>
        <p:nvSpPr>
          <p:cNvPr id="73" name="AutoShape 23">
            <a:extLst>
              <a:ext uri="{FF2B5EF4-FFF2-40B4-BE49-F238E27FC236}">
                <a16:creationId xmlns:a16="http://schemas.microsoft.com/office/drawing/2014/main" id="{7EA05474-F980-C519-17BE-02E7A01BB765}"/>
              </a:ext>
            </a:extLst>
          </p:cNvPr>
          <p:cNvSpPr/>
          <p:nvPr/>
        </p:nvSpPr>
        <p:spPr>
          <a:xfrm>
            <a:off x="8763000" y="25654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 err="1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产品力升级：</a:t>
            </a:r>
            <a:r>
              <a:rPr lang="en-US" sz="1400" b="0" i="0" u="none" strike="noStrike" dirty="0" err="1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提炼通用需求</a:t>
            </a:r>
            <a:r>
              <a:rPr 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输出更具通用性的 </a:t>
            </a:r>
            <a:r>
              <a:rPr lang="en-US" altLang="zh-CN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SaaS 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产品方案，减少定制化开发成本。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" name="Picture 24">
            <a:extLst>
              <a:ext uri="{FF2B5EF4-FFF2-40B4-BE49-F238E27FC236}">
                <a16:creationId xmlns:a16="http://schemas.microsoft.com/office/drawing/2014/main" id="{0502856B-7CCC-0AFA-D651-E9450879E3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2000" y="3505200"/>
            <a:ext cx="254000" cy="254000"/>
          </a:xfrm>
          <a:prstGeom prst="rect">
            <a:avLst/>
          </a:prstGeom>
        </p:spPr>
      </p:pic>
      <p:sp>
        <p:nvSpPr>
          <p:cNvPr id="75" name="AutoShape 25">
            <a:extLst>
              <a:ext uri="{FF2B5EF4-FFF2-40B4-BE49-F238E27FC236}">
                <a16:creationId xmlns:a16="http://schemas.microsoft.com/office/drawing/2014/main" id="{F44F081B-97A6-051F-5CC3-07EA37E0D815}"/>
              </a:ext>
            </a:extLst>
          </p:cNvPr>
          <p:cNvSpPr/>
          <p:nvPr/>
        </p:nvSpPr>
        <p:spPr>
          <a:xfrm>
            <a:off x="8763000" y="3505200"/>
            <a:ext cx="292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 err="1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主动赋能</a:t>
            </a:r>
            <a:r>
              <a:rPr lang="en-US" sz="1400" b="1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zh-CN" altLang="en-US" sz="1400" b="0" i="0" u="none" strike="noStrike" dirty="0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针对客户潜在痛点及早提出优化提案，由“被动接需求”转向 “主动造价值”。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Connector 26">
            <a:extLst>
              <a:ext uri="{FF2B5EF4-FFF2-40B4-BE49-F238E27FC236}">
                <a16:creationId xmlns:a16="http://schemas.microsoft.com/office/drawing/2014/main" id="{6506D907-F464-04E1-129A-7D01EEBCD963}"/>
              </a:ext>
            </a:extLst>
          </p:cNvPr>
          <p:cNvCxnSpPr/>
          <p:nvPr/>
        </p:nvCxnSpPr>
        <p:spPr>
          <a:xfrm rot="21595908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7" name="Picture 27">
            <a:extLst>
              <a:ext uri="{FF2B5EF4-FFF2-40B4-BE49-F238E27FC236}">
                <a16:creationId xmlns:a16="http://schemas.microsoft.com/office/drawing/2014/main" id="{ECC4D87B-7E71-DDC3-C66D-0FB4868DF1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2000" y="5207000"/>
            <a:ext cx="304800" cy="304800"/>
          </a:xfrm>
          <a:prstGeom prst="rect">
            <a:avLst/>
          </a:prstGeom>
        </p:spPr>
      </p:pic>
      <p:sp>
        <p:nvSpPr>
          <p:cNvPr id="78" name="AutoShape 28">
            <a:extLst>
              <a:ext uri="{FF2B5EF4-FFF2-40B4-BE49-F238E27FC236}">
                <a16:creationId xmlns:a16="http://schemas.microsoft.com/office/drawing/2014/main" id="{8D0D06ED-E636-36F6-9459-F47712D04613}"/>
              </a:ext>
            </a:extLst>
          </p:cNvPr>
          <p:cNvSpPr/>
          <p:nvPr/>
        </p:nvSpPr>
        <p:spPr>
          <a:xfrm>
            <a:off x="1193800" y="52324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950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通过业务拓界、敏捷迭代与价值深挖，为团队和公司创造更大价值。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高级商务蓝黄配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004695"/>
      </a:accent1>
      <a:accent2>
        <a:srgbClr val="3077BC"/>
      </a:accent2>
      <a:accent3>
        <a:srgbClr val="F4BB31"/>
      </a:accent3>
      <a:accent4>
        <a:srgbClr val="BBCEE5"/>
      </a:accent4>
      <a:accent5>
        <a:srgbClr val="C4C6C6"/>
      </a:accent5>
      <a:accent6>
        <a:srgbClr val="EFEDE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506</Words>
  <Application>Microsoft Office PowerPoint</Application>
  <PresentationFormat>宽屏</PresentationFormat>
  <Paragraphs>51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Alibaba PuHuiTi</vt:lpstr>
      <vt:lpstr>等线</vt:lpstr>
      <vt:lpstr>等线 Light</vt:lpstr>
      <vt:lpstr>微软雅黑</vt:lpstr>
      <vt:lpstr>Arial</vt:lpstr>
      <vt:lpstr>Poppins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xiaohui xin</dc:creator>
  <cp:lastModifiedBy>Willson Xie</cp:lastModifiedBy>
  <cp:revision>6</cp:revision>
  <dcterms:created xsi:type="dcterms:W3CDTF">2026-01-12T05:50:18Z</dcterms:created>
  <dcterms:modified xsi:type="dcterms:W3CDTF">2026-01-19T12:18:41Z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9464603FA053AD0D9A8B646917D8762A_43</vt:lpwstr>
  </property>
</Properties>
</file>