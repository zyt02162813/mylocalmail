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495" r:id="rId4"/>
    <p:sldId id="2885" r:id="rId5"/>
    <p:sldId id="2883" r:id="rId7"/>
    <p:sldId id="2508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5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50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AD5B0-C7D0-4DBF-8C44-57D030BD73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4A5C6-DF35-4DD5-A250-C232E0717C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874E2-4638-A144-B945-139F2EEBE11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64FF5-AF41-8D44-8EA5-C76EFF349F7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5A6CB-1573-CE49-879F-C20378C53C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30432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431704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32976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834249" y="504141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730432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431704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6132976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834249" y="3248980"/>
            <a:ext cx="2556669" cy="2555875"/>
          </a:xfrm>
          <a:solidFill>
            <a:schemeClr val="accent1"/>
          </a:solidFill>
        </p:spPr>
        <p:txBody>
          <a:bodyPr/>
          <a:lstStyle/>
          <a:p>
            <a:pPr lvl="0"/>
            <a:endParaRPr lang="en-US" noProof="0">
              <a:sym typeface="Poppins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ln>
            <a:noFill/>
          </a:ln>
        </p:spPr>
        <p:txBody>
          <a:bodyPr rtlCol="0">
            <a:normAutofit/>
          </a:bodyPr>
          <a:lstStyle/>
          <a:p>
            <a:pPr lvl="0"/>
            <a:endParaRPr lang="en-ID" noProof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98D53-B97C-4A27-BFB4-30D81529D5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C0217-3BCC-430E-BB8C-3F3B98C311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6DF64FF5-AF41-8D44-8EA5-C76EFF349F7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libaba PuHuiTi" pitchFamily="18" charset="-122"/>
                <a:ea typeface="Alibaba PuHuiTi" pitchFamily="18" charset="-122"/>
              </a:defRPr>
            </a:lvl1pPr>
          </a:lstStyle>
          <a:p>
            <a:fld id="{A035A6CB-1573-CE49-879F-C20378C53C5A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libaba PuHuiTi" pitchFamily="18" charset="-122"/>
          <a:ea typeface="Alibaba PuHuiTi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11.xml"/><Relationship Id="rId19" Type="http://schemas.openxmlformats.org/officeDocument/2006/relationships/slideLayout" Target="../slideLayouts/slideLayout13.xml"/><Relationship Id="rId18" Type="http://schemas.openxmlformats.org/officeDocument/2006/relationships/image" Target="../media/image7.png"/><Relationship Id="rId17" Type="http://schemas.openxmlformats.org/officeDocument/2006/relationships/tags" Target="../tags/tag24.xml"/><Relationship Id="rId16" Type="http://schemas.openxmlformats.org/officeDocument/2006/relationships/image" Target="../media/image6.png"/><Relationship Id="rId15" Type="http://schemas.openxmlformats.org/officeDocument/2006/relationships/tags" Target="../tags/tag23.xml"/><Relationship Id="rId14" Type="http://schemas.openxmlformats.org/officeDocument/2006/relationships/image" Target="../media/image5.png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6" Type="http://schemas.openxmlformats.org/officeDocument/2006/relationships/notesSlide" Target="../notesSlides/notesSlide3.x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4.png"/><Relationship Id="rId33" Type="http://schemas.openxmlformats.org/officeDocument/2006/relationships/image" Target="../media/image3.png"/><Relationship Id="rId32" Type="http://schemas.openxmlformats.org/officeDocument/2006/relationships/image" Target="../media/image2.png"/><Relationship Id="rId31" Type="http://schemas.openxmlformats.org/officeDocument/2006/relationships/tags" Target="../tags/tag49.xml"/><Relationship Id="rId30" Type="http://schemas.openxmlformats.org/officeDocument/2006/relationships/tags" Target="../tags/tag48.xml"/><Relationship Id="rId3" Type="http://schemas.openxmlformats.org/officeDocument/2006/relationships/tags" Target="../tags/tag27.xml"/><Relationship Id="rId29" Type="http://schemas.openxmlformats.org/officeDocument/2006/relationships/tags" Target="../tags/tag47.xml"/><Relationship Id="rId28" Type="http://schemas.openxmlformats.org/officeDocument/2006/relationships/tags" Target="../tags/tag46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6.xml"/><Relationship Id="rId19" Type="http://schemas.openxmlformats.org/officeDocument/2006/relationships/image" Target="../media/image13.svg"/><Relationship Id="rId18" Type="http://schemas.openxmlformats.org/officeDocument/2006/relationships/image" Target="../media/image12.png"/><Relationship Id="rId17" Type="http://schemas.openxmlformats.org/officeDocument/2006/relationships/tags" Target="../tags/tag37.xml"/><Relationship Id="rId16" Type="http://schemas.openxmlformats.org/officeDocument/2006/relationships/image" Target="../media/image11.svg"/><Relationship Id="rId15" Type="http://schemas.openxmlformats.org/officeDocument/2006/relationships/image" Target="../media/image10.png"/><Relationship Id="rId14" Type="http://schemas.openxmlformats.org/officeDocument/2006/relationships/tags" Target="../tags/tag36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占位符 3" descr="高楼大厦的景色&#10;&#10;描述已自动生成"/>
          <p:cNvPicPr>
            <a:picLocks noChangeAspect="1"/>
          </p:cNvPicPr>
          <p:nvPr/>
        </p:nvPicPr>
        <p:blipFill>
          <a:blip r:embed="rId1"/>
          <a:srcRect l="26213" r="26213"/>
          <a:stretch>
            <a:fillRect/>
          </a:stretch>
        </p:blipFill>
        <p:spPr>
          <a:xfrm>
            <a:off x="776136" y="0"/>
            <a:ext cx="4912283" cy="6858000"/>
          </a:xfrm>
          <a:prstGeom prst="rect">
            <a:avLst/>
          </a:prstGeom>
        </p:spPr>
      </p:pic>
      <p:sp>
        <p:nvSpPr>
          <p:cNvPr id="6" name="Rectangle 9"/>
          <p:cNvSpPr/>
          <p:nvPr/>
        </p:nvSpPr>
        <p:spPr>
          <a:xfrm>
            <a:off x="4249277" y="1430504"/>
            <a:ext cx="7942722" cy="3723515"/>
          </a:xfrm>
          <a:prstGeom prst="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  <a:gs pos="0">
                <a:srgbClr val="00E7BD"/>
              </a:gs>
              <a:gs pos="100000">
                <a:srgbClr val="0080DD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776136" cy="6858000"/>
          </a:xfrm>
          <a:prstGeom prst="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  <a:gs pos="0">
                <a:srgbClr val="21C4F5"/>
              </a:gs>
              <a:gs pos="100000">
                <a:srgbClr val="00E5B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5114260" y="2053789"/>
            <a:ext cx="6397561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45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工作汇报</a:t>
            </a:r>
            <a:endParaRPr lang="en-US" sz="45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4" name="TextBox 9"/>
          <p:cNvSpPr txBox="1"/>
          <p:nvPr/>
        </p:nvSpPr>
        <p:spPr>
          <a:xfrm>
            <a:off x="7229711" y="2953707"/>
            <a:ext cx="428211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 err="1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汇报人</a:t>
            </a:r>
            <a:r>
              <a: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王雨佳</a:t>
            </a:r>
            <a:endParaRPr lang="zh-CN" altLang="en-US" sz="16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5" name="TextBox 42"/>
          <p:cNvSpPr txBox="1"/>
          <p:nvPr/>
        </p:nvSpPr>
        <p:spPr>
          <a:xfrm>
            <a:off x="5560828" y="4017058"/>
            <a:ext cx="5950993" cy="53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ID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Here you can describe the main work report content</a:t>
            </a:r>
            <a:r>
              <a:rPr lang="en-US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ID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Here you can describe the main work report content. Here you can describe the main work report content</a:t>
            </a:r>
            <a:r>
              <a:rPr lang="en-US" altLang="zh-CN" sz="100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endParaRPr lang="en-ID" sz="100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6" name="TextBox 9"/>
          <p:cNvSpPr txBox="1"/>
          <p:nvPr/>
        </p:nvSpPr>
        <p:spPr>
          <a:xfrm>
            <a:off x="7229711" y="453642"/>
            <a:ext cx="428211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28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ID" sz="2800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7" name="TextBox 47"/>
          <p:cNvSpPr txBox="1"/>
          <p:nvPr/>
        </p:nvSpPr>
        <p:spPr>
          <a:xfrm>
            <a:off x="8428934" y="5998019"/>
            <a:ext cx="3082887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1600" dirty="0" err="1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汇报时间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2026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年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月</a:t>
            </a:r>
            <a:r>
              <a:rPr lang="en-US" altLang="zh-CN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</a:t>
            </a:r>
            <a:r>
              <a:rPr lang="zh-CN" altLang="en-US" sz="1600" dirty="0">
                <a:solidFill>
                  <a:schemeClr val="accent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日</a:t>
            </a:r>
            <a:endParaRPr lang="en-ID" sz="1600" dirty="0">
              <a:solidFill>
                <a:schemeClr val="accent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1"/>
          <p:cNvSpPr txBox="1"/>
          <p:nvPr/>
        </p:nvSpPr>
        <p:spPr>
          <a:xfrm>
            <a:off x="369551" y="244861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800" b="1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latin typeface="微软雅黑" panose="020B0503020204020204" charset="-122"/>
                <a:cs typeface="微软雅黑" panose="020B0503020204020204" charset="-122"/>
              </a:rPr>
              <a:t>工作成果展示</a:t>
            </a:r>
            <a:endParaRPr kumimoji="0" lang="zh-CN" altLang="en-US" sz="2800" b="1" u="none" strike="noStrike" kern="1200" cap="none" spc="0" normalizeH="0" baseline="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矩形: 圆角 44"/>
          <p:cNvSpPr/>
          <p:nvPr>
            <p:custDataLst>
              <p:tags r:id="rId1"/>
            </p:custDataLst>
          </p:nvPr>
        </p:nvSpPr>
        <p:spPr>
          <a:xfrm>
            <a:off x="553720" y="1247775"/>
            <a:ext cx="10800080" cy="1760855"/>
          </a:xfrm>
          <a:prstGeom prst="roundRect">
            <a:avLst>
              <a:gd name="adj" fmla="val 5124"/>
            </a:avLst>
          </a:prstGeom>
          <a:gradFill>
            <a:gsLst>
              <a:gs pos="0">
                <a:schemeClr val="accent2">
                  <a:lumMod val="5000"/>
                  <a:lumOff val="95000"/>
                  <a:alpha val="0"/>
                </a:schemeClr>
              </a:gs>
              <a:gs pos="100000">
                <a:schemeClr val="accent2">
                  <a:lumMod val="20000"/>
                  <a:lumOff val="80000"/>
                  <a:alpha val="20000"/>
                </a:schemeClr>
              </a:gs>
            </a:gsLst>
            <a:lin ang="0" scaled="0"/>
          </a:gradFill>
          <a:ln w="9525">
            <a:gradFill flip="none" rotWithShape="1"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chemeClr val="accent2">
                    <a:lumMod val="60000"/>
                    <a:lumOff val="40000"/>
                    <a:alpha val="100000"/>
                  </a:scheme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3" name="矩形 102"/>
          <p:cNvSpPr/>
          <p:nvPr>
            <p:custDataLst>
              <p:tags r:id="rId2"/>
            </p:custDataLst>
          </p:nvPr>
        </p:nvSpPr>
        <p:spPr>
          <a:xfrm>
            <a:off x="3439795" y="1248410"/>
            <a:ext cx="7914005" cy="17887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完成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50+CR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需求设计，</a:t>
            </a:r>
            <a:r>
              <a:rPr lang="en-US" altLang="zh-C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40+UAT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及上线，解决</a:t>
            </a:r>
            <a:r>
              <a:rPr lang="en-US" altLang="zh-C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10+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紧急问题处理；并完成相关操作手册、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UAT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报告、需求文档等文件产出。负责月度排期规划与全程管理，进行多轮需求确认并与研发进行评审，有效协调资源，保障项目如期上线。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跟进与落实季度合同（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CR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）相关费用回款事宜，确保项目商业回报的顺利实现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梳理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SAAS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自办会逻辑，合规风控，完成飞检与签到方案。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04" name="直接连接符 103"/>
          <p:cNvCxnSpPr/>
          <p:nvPr>
            <p:custDataLst>
              <p:tags r:id="rId3"/>
            </p:custDataLst>
          </p:nvPr>
        </p:nvCxnSpPr>
        <p:spPr>
          <a:xfrm>
            <a:off x="3225800" y="1527175"/>
            <a:ext cx="0" cy="91503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3000">
                  <a:schemeClr val="accent2">
                    <a:alpha val="10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: 圆角 44"/>
          <p:cNvSpPr/>
          <p:nvPr>
            <p:custDataLst>
              <p:tags r:id="rId4"/>
            </p:custDataLst>
          </p:nvPr>
        </p:nvSpPr>
        <p:spPr>
          <a:xfrm>
            <a:off x="553720" y="3213735"/>
            <a:ext cx="10800080" cy="1473200"/>
          </a:xfrm>
          <a:prstGeom prst="roundRect">
            <a:avLst>
              <a:gd name="adj" fmla="val 5124"/>
            </a:avLst>
          </a:prstGeom>
          <a:gradFill>
            <a:gsLst>
              <a:gs pos="0">
                <a:schemeClr val="accent3">
                  <a:lumMod val="5000"/>
                  <a:lumOff val="95000"/>
                  <a:alpha val="0"/>
                </a:schemeClr>
              </a:gs>
              <a:gs pos="100000">
                <a:schemeClr val="accent3">
                  <a:lumMod val="20000"/>
                  <a:lumOff val="80000"/>
                  <a:alpha val="20000"/>
                </a:schemeClr>
              </a:gs>
            </a:gsLst>
            <a:lin ang="0" scaled="0"/>
          </a:gradFill>
          <a:ln w="9525">
            <a:gradFill flip="none" rotWithShape="1">
              <a:gsLst>
                <a:gs pos="0">
                  <a:schemeClr val="accent3">
                    <a:lumMod val="20000"/>
                    <a:lumOff val="80000"/>
                    <a:alpha val="100000"/>
                  </a:schemeClr>
                </a:gs>
                <a:gs pos="100000">
                  <a:schemeClr val="accent3">
                    <a:lumMod val="60000"/>
                    <a:lumOff val="40000"/>
                    <a:alpha val="100000"/>
                  </a:scheme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6" name="矩形 105"/>
          <p:cNvSpPr/>
          <p:nvPr>
            <p:custDataLst>
              <p:tags r:id="rId5"/>
            </p:custDataLst>
          </p:nvPr>
        </p:nvSpPr>
        <p:spPr>
          <a:xfrm>
            <a:off x="3430270" y="3214370"/>
            <a:ext cx="7923527" cy="14725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完成并持续优化《方案重点确认事项》、《待办清单》、《系统功能设计说明书》、《字段逻辑》等关键文档，为项目开发提供了清晰、准确的依据，显著提升团队协作效率。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完成核心业务模块的产品设计，完成了讲者管理、材料管理、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HCO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管理、会议管理、三方活动，飞检及审批流程等的原型设计、需求说明撰写及总计约</a:t>
            </a:r>
            <a:r>
              <a:rPr lang="en-US" altLang="zh-C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500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页调研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&amp;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&amp;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培训的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PPT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制作。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07" name="直接连接符 106"/>
          <p:cNvCxnSpPr/>
          <p:nvPr>
            <p:custDataLst>
              <p:tags r:id="rId6"/>
            </p:custDataLst>
          </p:nvPr>
        </p:nvCxnSpPr>
        <p:spPr>
          <a:xfrm>
            <a:off x="3225800" y="3493135"/>
            <a:ext cx="0" cy="91503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53000">
                  <a:schemeClr val="accent3">
                    <a:alpha val="100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: 圆角 44"/>
          <p:cNvSpPr/>
          <p:nvPr>
            <p:custDataLst>
              <p:tags r:id="rId7"/>
            </p:custDataLst>
          </p:nvPr>
        </p:nvSpPr>
        <p:spPr>
          <a:xfrm>
            <a:off x="553720" y="4864735"/>
            <a:ext cx="10800080" cy="1473200"/>
          </a:xfrm>
          <a:prstGeom prst="roundRect">
            <a:avLst>
              <a:gd name="adj" fmla="val 5124"/>
            </a:avLst>
          </a:prstGeom>
          <a:gradFill>
            <a:gsLst>
              <a:gs pos="0">
                <a:schemeClr val="accent2">
                  <a:lumMod val="5000"/>
                  <a:lumOff val="95000"/>
                  <a:alpha val="0"/>
                </a:schemeClr>
              </a:gs>
              <a:gs pos="100000">
                <a:schemeClr val="accent2">
                  <a:lumMod val="20000"/>
                  <a:lumOff val="80000"/>
                  <a:alpha val="20000"/>
                </a:schemeClr>
              </a:gs>
            </a:gsLst>
            <a:lin ang="0" scaled="0"/>
          </a:gradFill>
          <a:ln w="9525">
            <a:gradFill flip="none" rotWithShape="1"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chemeClr val="accent2">
                    <a:lumMod val="60000"/>
                    <a:lumOff val="40000"/>
                    <a:alpha val="100000"/>
                  </a:schemeClr>
                </a:gs>
              </a:gsLst>
              <a:lin ang="10800000" scaled="1"/>
              <a:tileRect/>
            </a:gradFill>
            <a:round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9" name="矩形 108"/>
          <p:cNvSpPr/>
          <p:nvPr>
            <p:custDataLst>
              <p:tags r:id="rId8"/>
            </p:custDataLst>
          </p:nvPr>
        </p:nvSpPr>
        <p:spPr>
          <a:xfrm>
            <a:off x="3430270" y="4864735"/>
            <a:ext cx="7923525" cy="147256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完成讲者、材料、三方机构、自办会、合同等模块原型和调研串讲</a:t>
            </a:r>
            <a:r>
              <a:rPr lang="en-US" altLang="zh-CN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50+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PPT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10" name="直接连接符 109"/>
          <p:cNvCxnSpPr/>
          <p:nvPr>
            <p:custDataLst>
              <p:tags r:id="rId9"/>
            </p:custDataLst>
          </p:nvPr>
        </p:nvCxnSpPr>
        <p:spPr>
          <a:xfrm>
            <a:off x="3225800" y="5143500"/>
            <a:ext cx="0" cy="915035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3000">
                  <a:schemeClr val="accent2">
                    <a:alpha val="10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图片 1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" y="1527175"/>
            <a:ext cx="2418715" cy="1118870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000" y="3457575"/>
            <a:ext cx="2479040" cy="887095"/>
          </a:xfrm>
          <a:prstGeom prst="rect">
            <a:avLst/>
          </a:prstGeom>
        </p:spPr>
      </p:pic>
      <p:pic>
        <p:nvPicPr>
          <p:cNvPr id="115" name="图片 1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0470" y="4876800"/>
            <a:ext cx="1287780" cy="1426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1"/>
          <p:cNvSpPr txBox="1"/>
          <p:nvPr/>
        </p:nvSpPr>
        <p:spPr>
          <a:xfrm>
            <a:off x="368599" y="244861"/>
            <a:ext cx="1960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800" b="1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latin typeface="微软雅黑" panose="020B0503020204020204" charset="-122"/>
                <a:cs typeface="微软雅黑" panose="020B0503020204020204" charset="-122"/>
              </a:rPr>
              <a:t>反思与成长</a:t>
            </a:r>
            <a:endParaRPr lang="zh-CN" altLang="en-US" sz="2800" b="1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图形 37"/>
          <p:cNvSpPr/>
          <p:nvPr>
            <p:custDataLst>
              <p:tags r:id="rId1"/>
            </p:custDataLst>
          </p:nvPr>
        </p:nvSpPr>
        <p:spPr>
          <a:xfrm rot="180000" flipH="1">
            <a:off x="313373" y="2376805"/>
            <a:ext cx="11367135" cy="2439035"/>
          </a:xfrm>
          <a:custGeom>
            <a:avLst/>
            <a:gdLst>
              <a:gd name="connsiteX0" fmla="*/ 0 w 3361848"/>
              <a:gd name="connsiteY0" fmla="*/ 0 h 925070"/>
              <a:gd name="connsiteX1" fmla="*/ 311849 w 3361848"/>
              <a:gd name="connsiteY1" fmla="*/ 179165 h 925070"/>
              <a:gd name="connsiteX2" fmla="*/ 543973 w 3361848"/>
              <a:gd name="connsiteY2" fmla="*/ 194881 h 925070"/>
              <a:gd name="connsiteX3" fmla="*/ 709517 w 3361848"/>
              <a:gd name="connsiteY3" fmla="*/ 320707 h 925070"/>
              <a:gd name="connsiteX4" fmla="*/ 966692 w 3361848"/>
              <a:gd name="connsiteY4" fmla="*/ 410623 h 925070"/>
              <a:gd name="connsiteX5" fmla="*/ 1284065 w 3361848"/>
              <a:gd name="connsiteY5" fmla="*/ 296609 h 925070"/>
              <a:gd name="connsiteX6" fmla="*/ 1512284 w 3361848"/>
              <a:gd name="connsiteY6" fmla="*/ 311182 h 925070"/>
              <a:gd name="connsiteX7" fmla="*/ 1748218 w 3361848"/>
              <a:gd name="connsiteY7" fmla="*/ 496729 h 925070"/>
              <a:gd name="connsiteX8" fmla="*/ 1927098 w 3361848"/>
              <a:gd name="connsiteY8" fmla="*/ 597694 h 925070"/>
              <a:gd name="connsiteX9" fmla="*/ 2317147 w 3361848"/>
              <a:gd name="connsiteY9" fmla="*/ 627221 h 925070"/>
              <a:gd name="connsiteX10" fmla="*/ 2581466 w 3361848"/>
              <a:gd name="connsiteY10" fmla="*/ 710756 h 925070"/>
              <a:gd name="connsiteX11" fmla="*/ 2710720 w 3361848"/>
              <a:gd name="connsiteY11" fmla="*/ 818198 h 925070"/>
              <a:gd name="connsiteX12" fmla="*/ 3011900 w 3361848"/>
              <a:gd name="connsiteY12" fmla="*/ 924878 h 925070"/>
              <a:gd name="connsiteX13" fmla="*/ 3361849 w 3361848"/>
              <a:gd name="connsiteY13" fmla="*/ 887921 h 92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1848" h="925070">
                <a:moveTo>
                  <a:pt x="0" y="0"/>
                </a:moveTo>
                <a:cubicBezTo>
                  <a:pt x="0" y="0"/>
                  <a:pt x="152114" y="187357"/>
                  <a:pt x="311849" y="179165"/>
                </a:cubicBezTo>
                <a:cubicBezTo>
                  <a:pt x="389668" y="175165"/>
                  <a:pt x="472154" y="156019"/>
                  <a:pt x="543973" y="194881"/>
                </a:cubicBezTo>
                <a:cubicBezTo>
                  <a:pt x="604266" y="227552"/>
                  <a:pt x="655606" y="278797"/>
                  <a:pt x="709517" y="320707"/>
                </a:cubicBezTo>
                <a:cubicBezTo>
                  <a:pt x="784765" y="379286"/>
                  <a:pt x="868204" y="424434"/>
                  <a:pt x="966692" y="410623"/>
                </a:cubicBezTo>
                <a:cubicBezTo>
                  <a:pt x="1079183" y="394811"/>
                  <a:pt x="1174052" y="321564"/>
                  <a:pt x="1284065" y="296609"/>
                </a:cubicBezTo>
                <a:cubicBezTo>
                  <a:pt x="1359503" y="279464"/>
                  <a:pt x="1439989" y="282416"/>
                  <a:pt x="1512284" y="311182"/>
                </a:cubicBezTo>
                <a:cubicBezTo>
                  <a:pt x="1607439" y="348996"/>
                  <a:pt x="1669733" y="435007"/>
                  <a:pt x="1748218" y="496729"/>
                </a:cubicBezTo>
                <a:cubicBezTo>
                  <a:pt x="1802035" y="539115"/>
                  <a:pt x="1860899" y="577787"/>
                  <a:pt x="1927098" y="597694"/>
                </a:cubicBezTo>
                <a:cubicBezTo>
                  <a:pt x="2051018" y="635127"/>
                  <a:pt x="2189321" y="609505"/>
                  <a:pt x="2317147" y="627221"/>
                </a:cubicBezTo>
                <a:cubicBezTo>
                  <a:pt x="2408396" y="639890"/>
                  <a:pt x="2502789" y="660368"/>
                  <a:pt x="2581466" y="710756"/>
                </a:cubicBezTo>
                <a:cubicBezTo>
                  <a:pt x="2628900" y="741140"/>
                  <a:pt x="2668429" y="781431"/>
                  <a:pt x="2710720" y="818198"/>
                </a:cubicBezTo>
                <a:cubicBezTo>
                  <a:pt x="2793968" y="890588"/>
                  <a:pt x="2901791" y="928116"/>
                  <a:pt x="3011900" y="924878"/>
                </a:cubicBezTo>
                <a:cubicBezTo>
                  <a:pt x="3130391" y="921449"/>
                  <a:pt x="3241739" y="868299"/>
                  <a:pt x="3361849" y="887921"/>
                </a:cubicBezTo>
              </a:path>
            </a:pathLst>
          </a:custGeom>
          <a:noFill/>
          <a:ln w="196850" cap="rnd">
            <a:solidFill>
              <a:srgbClr val="45CF4B">
                <a:lumMod val="60000"/>
                <a:lumOff val="40000"/>
                <a:alpha val="16000"/>
              </a:srgbClr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102" name="图形 37"/>
          <p:cNvSpPr/>
          <p:nvPr>
            <p:custDataLst>
              <p:tags r:id="rId2"/>
            </p:custDataLst>
          </p:nvPr>
        </p:nvSpPr>
        <p:spPr>
          <a:xfrm rot="180000" flipH="1">
            <a:off x="313373" y="2376805"/>
            <a:ext cx="11367135" cy="2439035"/>
          </a:xfrm>
          <a:custGeom>
            <a:avLst/>
            <a:gdLst>
              <a:gd name="connsiteX0" fmla="*/ 0 w 3361848"/>
              <a:gd name="connsiteY0" fmla="*/ 0 h 925070"/>
              <a:gd name="connsiteX1" fmla="*/ 311849 w 3361848"/>
              <a:gd name="connsiteY1" fmla="*/ 179165 h 925070"/>
              <a:gd name="connsiteX2" fmla="*/ 543973 w 3361848"/>
              <a:gd name="connsiteY2" fmla="*/ 194881 h 925070"/>
              <a:gd name="connsiteX3" fmla="*/ 709517 w 3361848"/>
              <a:gd name="connsiteY3" fmla="*/ 320707 h 925070"/>
              <a:gd name="connsiteX4" fmla="*/ 966692 w 3361848"/>
              <a:gd name="connsiteY4" fmla="*/ 410623 h 925070"/>
              <a:gd name="connsiteX5" fmla="*/ 1284065 w 3361848"/>
              <a:gd name="connsiteY5" fmla="*/ 296609 h 925070"/>
              <a:gd name="connsiteX6" fmla="*/ 1512284 w 3361848"/>
              <a:gd name="connsiteY6" fmla="*/ 311182 h 925070"/>
              <a:gd name="connsiteX7" fmla="*/ 1748218 w 3361848"/>
              <a:gd name="connsiteY7" fmla="*/ 496729 h 925070"/>
              <a:gd name="connsiteX8" fmla="*/ 1927098 w 3361848"/>
              <a:gd name="connsiteY8" fmla="*/ 597694 h 925070"/>
              <a:gd name="connsiteX9" fmla="*/ 2317147 w 3361848"/>
              <a:gd name="connsiteY9" fmla="*/ 627221 h 925070"/>
              <a:gd name="connsiteX10" fmla="*/ 2581466 w 3361848"/>
              <a:gd name="connsiteY10" fmla="*/ 710756 h 925070"/>
              <a:gd name="connsiteX11" fmla="*/ 2710720 w 3361848"/>
              <a:gd name="connsiteY11" fmla="*/ 818198 h 925070"/>
              <a:gd name="connsiteX12" fmla="*/ 3011900 w 3361848"/>
              <a:gd name="connsiteY12" fmla="*/ 924878 h 925070"/>
              <a:gd name="connsiteX13" fmla="*/ 3361849 w 3361848"/>
              <a:gd name="connsiteY13" fmla="*/ 887921 h 92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361848" h="925070">
                <a:moveTo>
                  <a:pt x="0" y="0"/>
                </a:moveTo>
                <a:cubicBezTo>
                  <a:pt x="0" y="0"/>
                  <a:pt x="152114" y="187357"/>
                  <a:pt x="311849" y="179165"/>
                </a:cubicBezTo>
                <a:cubicBezTo>
                  <a:pt x="389668" y="175165"/>
                  <a:pt x="472154" y="156019"/>
                  <a:pt x="543973" y="194881"/>
                </a:cubicBezTo>
                <a:cubicBezTo>
                  <a:pt x="604266" y="227552"/>
                  <a:pt x="655606" y="278797"/>
                  <a:pt x="709517" y="320707"/>
                </a:cubicBezTo>
                <a:cubicBezTo>
                  <a:pt x="784765" y="379286"/>
                  <a:pt x="868204" y="424434"/>
                  <a:pt x="966692" y="410623"/>
                </a:cubicBezTo>
                <a:cubicBezTo>
                  <a:pt x="1079183" y="394811"/>
                  <a:pt x="1174052" y="321564"/>
                  <a:pt x="1284065" y="296609"/>
                </a:cubicBezTo>
                <a:cubicBezTo>
                  <a:pt x="1359503" y="279464"/>
                  <a:pt x="1439989" y="282416"/>
                  <a:pt x="1512284" y="311182"/>
                </a:cubicBezTo>
                <a:cubicBezTo>
                  <a:pt x="1607439" y="348996"/>
                  <a:pt x="1669733" y="435007"/>
                  <a:pt x="1748218" y="496729"/>
                </a:cubicBezTo>
                <a:cubicBezTo>
                  <a:pt x="1802035" y="539115"/>
                  <a:pt x="1860899" y="577787"/>
                  <a:pt x="1927098" y="597694"/>
                </a:cubicBezTo>
                <a:cubicBezTo>
                  <a:pt x="2051018" y="635127"/>
                  <a:pt x="2189321" y="609505"/>
                  <a:pt x="2317147" y="627221"/>
                </a:cubicBezTo>
                <a:cubicBezTo>
                  <a:pt x="2408396" y="639890"/>
                  <a:pt x="2502789" y="660368"/>
                  <a:pt x="2581466" y="710756"/>
                </a:cubicBezTo>
                <a:cubicBezTo>
                  <a:pt x="2628900" y="741140"/>
                  <a:pt x="2668429" y="781431"/>
                  <a:pt x="2710720" y="818198"/>
                </a:cubicBezTo>
                <a:cubicBezTo>
                  <a:pt x="2793968" y="890588"/>
                  <a:pt x="2901791" y="928116"/>
                  <a:pt x="3011900" y="924878"/>
                </a:cubicBezTo>
                <a:cubicBezTo>
                  <a:pt x="3130391" y="921449"/>
                  <a:pt x="3241739" y="868299"/>
                  <a:pt x="3361849" y="887921"/>
                </a:cubicBezTo>
              </a:path>
            </a:pathLst>
          </a:custGeom>
          <a:noFill/>
          <a:ln w="28575" cap="rnd" cmpd="sng">
            <a:solidFill>
              <a:srgbClr val="0070C0"/>
            </a:solidFill>
            <a:prstDash val="sysDash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endParaRPr lang="zh-CN" altLang="en-US"/>
          </a:p>
        </p:txBody>
      </p:sp>
      <p:sp>
        <p:nvSpPr>
          <p:cNvPr id="103" name="任意多边形: 形状 16"/>
          <p:cNvSpPr/>
          <p:nvPr>
            <p:custDataLst>
              <p:tags r:id="rId3"/>
            </p:custDataLst>
          </p:nvPr>
        </p:nvSpPr>
        <p:spPr>
          <a:xfrm>
            <a:off x="4566603" y="3558540"/>
            <a:ext cx="287020" cy="347345"/>
          </a:xfrm>
          <a:custGeom>
            <a:avLst/>
            <a:gdLst>
              <a:gd name="connsiteX0" fmla="*/ 324000 w 648000"/>
              <a:gd name="connsiteY0" fmla="*/ 0 h 782204"/>
              <a:gd name="connsiteX1" fmla="*/ 553103 w 648000"/>
              <a:gd name="connsiteY1" fmla="*/ 94897 h 782204"/>
              <a:gd name="connsiteX2" fmla="*/ 553103 w 648000"/>
              <a:gd name="connsiteY2" fmla="*/ 553102 h 782204"/>
              <a:gd name="connsiteX3" fmla="*/ 324000 w 648000"/>
              <a:gd name="connsiteY3" fmla="*/ 782204 h 782204"/>
              <a:gd name="connsiteX4" fmla="*/ 94898 w 648000"/>
              <a:gd name="connsiteY4" fmla="*/ 553102 h 782204"/>
              <a:gd name="connsiteX5" fmla="*/ 94898 w 648000"/>
              <a:gd name="connsiteY5" fmla="*/ 94897 h 782204"/>
              <a:gd name="connsiteX6" fmla="*/ 324000 w 648000"/>
              <a:gd name="connsiteY6" fmla="*/ 0 h 78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8000" h="782204">
                <a:moveTo>
                  <a:pt x="324000" y="0"/>
                </a:moveTo>
                <a:cubicBezTo>
                  <a:pt x="406919" y="0"/>
                  <a:pt x="489838" y="31632"/>
                  <a:pt x="553103" y="94897"/>
                </a:cubicBezTo>
                <a:cubicBezTo>
                  <a:pt x="679633" y="221426"/>
                  <a:pt x="679633" y="426572"/>
                  <a:pt x="553103" y="553102"/>
                </a:cubicBezTo>
                <a:lnTo>
                  <a:pt x="324000" y="782204"/>
                </a:lnTo>
                <a:lnTo>
                  <a:pt x="94898" y="553102"/>
                </a:lnTo>
                <a:cubicBezTo>
                  <a:pt x="-31632" y="426572"/>
                  <a:pt x="-31632" y="221426"/>
                  <a:pt x="94898" y="94897"/>
                </a:cubicBezTo>
                <a:cubicBezTo>
                  <a:pt x="158163" y="31632"/>
                  <a:pt x="241081" y="0"/>
                  <a:pt x="324000" y="0"/>
                </a:cubicBezTo>
                <a:close/>
              </a:path>
            </a:pathLst>
          </a:custGeom>
          <a:solidFill>
            <a:srgbClr val="45CF4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5400000" algn="t" rotWithShape="0">
              <a:srgbClr val="45CF4B">
                <a:lumMod val="75000"/>
                <a:alpha val="12000"/>
              </a:srgbClr>
            </a:outerShdw>
          </a:effectLst>
        </p:spPr>
        <p:txBody>
          <a:bodyPr rot="0" spcFirstLastPara="0" vertOverflow="overflow" horzOverflow="overflow" vert="horz" wrap="none" lIns="0" tIns="0" rIns="0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ctr"/>
            <a:endParaRPr lang="en-US" altLang="zh-CN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椭圆 103"/>
          <p:cNvSpPr/>
          <p:nvPr>
            <p:custDataLst>
              <p:tags r:id="rId4"/>
            </p:custDataLst>
          </p:nvPr>
        </p:nvSpPr>
        <p:spPr>
          <a:xfrm>
            <a:off x="4582478" y="3898265"/>
            <a:ext cx="255270" cy="86360"/>
          </a:xfrm>
          <a:prstGeom prst="ellipse">
            <a:avLst/>
          </a:prstGeom>
          <a:solidFill>
            <a:srgbClr val="444758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5" name="椭圆 104"/>
          <p:cNvSpPr/>
          <p:nvPr>
            <p:custDataLst>
              <p:tags r:id="rId5"/>
            </p:custDataLst>
          </p:nvPr>
        </p:nvSpPr>
        <p:spPr>
          <a:xfrm>
            <a:off x="4666933" y="3662680"/>
            <a:ext cx="86360" cy="8636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6"/>
            </p:custDataLst>
          </p:nvPr>
        </p:nvSpPr>
        <p:spPr>
          <a:xfrm>
            <a:off x="1739265" y="4600575"/>
            <a:ext cx="5159375" cy="20739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 fontAlgn="auto">
              <a:lnSpc>
                <a:spcPct val="150000"/>
              </a:lnSpc>
              <a:buAutoNum type="arabicPeriod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聚焦于提升复杂项目群的统筹管理能力，强化资源协调、风险预判与干系人管理技巧。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AutoNum type="arabicPeriod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深入学习敏捷与混合项目管理方法论，推动流程标准化与组织效能提升。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微软雅黑" panose="020B0503020204020204" charset="-122"/>
            </a:endParaRPr>
          </a:p>
          <a:p>
            <a:pPr marL="342900" indent="-342900" algn="l" fontAlgn="auto">
              <a:lnSpc>
                <a:spcPct val="150000"/>
              </a:lnSpc>
              <a:buAutoNum type="arabicPeriod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注重培养领导力与沟通影响力，从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“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任务交付者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”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向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“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价值促成者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”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微软雅黑" panose="020B0503020204020204" charset="-122"/>
              </a:rPr>
              <a:t>转型，支持团队在高质量交付的同时实现可持续协作与创新。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微软雅黑" panose="020B0503020204020204" charset="-122"/>
            </a:endParaRPr>
          </a:p>
        </p:txBody>
      </p:sp>
      <p:sp>
        <p:nvSpPr>
          <p:cNvPr id="108" name="任意多边形: 形状 16"/>
          <p:cNvSpPr/>
          <p:nvPr>
            <p:custDataLst>
              <p:tags r:id="rId7"/>
            </p:custDataLst>
          </p:nvPr>
        </p:nvSpPr>
        <p:spPr>
          <a:xfrm>
            <a:off x="8741093" y="3175000"/>
            <a:ext cx="287020" cy="347345"/>
          </a:xfrm>
          <a:custGeom>
            <a:avLst/>
            <a:gdLst>
              <a:gd name="connsiteX0" fmla="*/ 324000 w 648000"/>
              <a:gd name="connsiteY0" fmla="*/ 0 h 782204"/>
              <a:gd name="connsiteX1" fmla="*/ 553103 w 648000"/>
              <a:gd name="connsiteY1" fmla="*/ 94897 h 782204"/>
              <a:gd name="connsiteX2" fmla="*/ 553103 w 648000"/>
              <a:gd name="connsiteY2" fmla="*/ 553102 h 782204"/>
              <a:gd name="connsiteX3" fmla="*/ 324000 w 648000"/>
              <a:gd name="connsiteY3" fmla="*/ 782204 h 782204"/>
              <a:gd name="connsiteX4" fmla="*/ 94898 w 648000"/>
              <a:gd name="connsiteY4" fmla="*/ 553102 h 782204"/>
              <a:gd name="connsiteX5" fmla="*/ 94898 w 648000"/>
              <a:gd name="connsiteY5" fmla="*/ 94897 h 782204"/>
              <a:gd name="connsiteX6" fmla="*/ 324000 w 648000"/>
              <a:gd name="connsiteY6" fmla="*/ 0 h 78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8000" h="782204">
                <a:moveTo>
                  <a:pt x="324000" y="0"/>
                </a:moveTo>
                <a:cubicBezTo>
                  <a:pt x="406919" y="0"/>
                  <a:pt x="489838" y="31632"/>
                  <a:pt x="553103" y="94897"/>
                </a:cubicBezTo>
                <a:cubicBezTo>
                  <a:pt x="679633" y="221426"/>
                  <a:pt x="679633" y="426572"/>
                  <a:pt x="553103" y="553102"/>
                </a:cubicBezTo>
                <a:lnTo>
                  <a:pt x="324000" y="782204"/>
                </a:lnTo>
                <a:lnTo>
                  <a:pt x="94898" y="553102"/>
                </a:lnTo>
                <a:cubicBezTo>
                  <a:pt x="-31632" y="426572"/>
                  <a:pt x="-31632" y="221426"/>
                  <a:pt x="94898" y="94897"/>
                </a:cubicBezTo>
                <a:cubicBezTo>
                  <a:pt x="158163" y="31632"/>
                  <a:pt x="241081" y="0"/>
                  <a:pt x="324000" y="0"/>
                </a:cubicBezTo>
                <a:close/>
              </a:path>
            </a:pathLst>
          </a:custGeom>
          <a:solidFill>
            <a:srgbClr val="45CF4B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38100" dir="5400000" algn="t" rotWithShape="0">
              <a:srgbClr val="45CF4B">
                <a:lumMod val="75000"/>
                <a:alpha val="12000"/>
              </a:srgbClr>
            </a:outerShdw>
          </a:effectLst>
        </p:spPr>
        <p:txBody>
          <a:bodyPr rot="0" spcFirstLastPara="0" vertOverflow="overflow" horzOverflow="overflow" vert="horz" wrap="none" lIns="0" tIns="0" rIns="0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ctr"/>
            <a:endParaRPr lang="en-US" altLang="zh-CN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椭圆 108"/>
          <p:cNvSpPr/>
          <p:nvPr>
            <p:custDataLst>
              <p:tags r:id="rId8"/>
            </p:custDataLst>
          </p:nvPr>
        </p:nvSpPr>
        <p:spPr>
          <a:xfrm>
            <a:off x="8756968" y="3514725"/>
            <a:ext cx="255270" cy="86360"/>
          </a:xfrm>
          <a:prstGeom prst="ellipse">
            <a:avLst/>
          </a:prstGeom>
          <a:solidFill>
            <a:srgbClr val="444758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0" name="椭圆 109"/>
          <p:cNvSpPr/>
          <p:nvPr>
            <p:custDataLst>
              <p:tags r:id="rId9"/>
            </p:custDataLst>
          </p:nvPr>
        </p:nvSpPr>
        <p:spPr>
          <a:xfrm>
            <a:off x="8841423" y="3279140"/>
            <a:ext cx="86360" cy="8636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10"/>
            </p:custDataLst>
          </p:nvPr>
        </p:nvSpPr>
        <p:spPr>
          <a:xfrm>
            <a:off x="6586855" y="1446530"/>
            <a:ext cx="4961890" cy="12357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 fontAlgn="auto">
              <a:lnSpc>
                <a:spcPct val="140000"/>
              </a:lnSpc>
              <a:buAutoNum type="arabicPeriod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未来将持续深化用户洞察与商业理解的双重能力，系统提升需求挖掘、价值判断与产品策略制定水平。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fontAlgn="auto">
              <a:lnSpc>
                <a:spcPct val="140000"/>
              </a:lnSpc>
              <a:buAutoNum type="arabicPeriod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重点加强数据驱动决策能力；同时拓展对技术边界与行业趋势的敏感度，提升跨团队协同效率。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  <a:p>
            <a:pPr marL="342900" indent="-342900" algn="l" fontAlgn="auto">
              <a:lnSpc>
                <a:spcPct val="140000"/>
              </a:lnSpc>
              <a:buAutoNum type="arabicPeriod"/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 panose="020B0503020204020204" charset="-122"/>
                <a:sym typeface="微软雅黑" panose="020B0503020204020204" charset="-122"/>
              </a:rPr>
              <a:t>长期目标是成长为能够定义产品愿景、驱动业务增长并具备全局视野的战略型产品负责人</a:t>
            </a:r>
            <a:endParaRPr lang="zh-CN" altLang="en-US" sz="1400" kern="0" dirty="0">
              <a:ln>
                <a:noFill/>
                <a:prstDash val="sysDot"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11"/>
            </p:custDataLst>
          </p:nvPr>
        </p:nvSpPr>
        <p:spPr>
          <a:xfrm>
            <a:off x="7486333" y="1082040"/>
            <a:ext cx="2795905" cy="4254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lang="zh-CN" altLang="en-US" sz="2400" b="1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latin typeface="微软雅黑" panose="020B0503020204020204" charset="-122"/>
                <a:cs typeface="微软雅黑" panose="020B0503020204020204" charset="-122"/>
              </a:rPr>
              <a:t>产品经理</a:t>
            </a:r>
            <a:endParaRPr lang="zh-CN" altLang="en-US" sz="2400" b="1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椭圆 114"/>
          <p:cNvSpPr/>
          <p:nvPr>
            <p:custDataLst>
              <p:tags r:id="rId12"/>
            </p:custDataLst>
          </p:nvPr>
        </p:nvSpPr>
        <p:spPr>
          <a:xfrm>
            <a:off x="11548428" y="2595880"/>
            <a:ext cx="255270" cy="86360"/>
          </a:xfrm>
          <a:prstGeom prst="ellipse">
            <a:avLst/>
          </a:prstGeom>
          <a:solidFill>
            <a:srgbClr val="444758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16" name="图片 115" descr="抠图处理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/>
          <a:srcRect/>
          <a:stretch>
            <a:fillRect/>
          </a:stretch>
        </p:blipFill>
        <p:spPr>
          <a:xfrm flipH="1">
            <a:off x="205423" y="3950970"/>
            <a:ext cx="1097280" cy="1010285"/>
          </a:xfrm>
          <a:prstGeom prst="rect">
            <a:avLst/>
          </a:prstGeom>
        </p:spPr>
      </p:pic>
      <p:sp>
        <p:nvSpPr>
          <p:cNvPr id="117" name="图形 43"/>
          <p:cNvSpPr/>
          <p:nvPr>
            <p:custDataLst>
              <p:tags r:id="rId15"/>
            </p:custDataLst>
          </p:nvPr>
        </p:nvSpPr>
        <p:spPr>
          <a:xfrm>
            <a:off x="11668443" y="2054225"/>
            <a:ext cx="317280" cy="572833"/>
          </a:xfrm>
          <a:custGeom>
            <a:avLst/>
            <a:gdLst>
              <a:gd name="connsiteX0" fmla="*/ 312896 w 317280"/>
              <a:gd name="connsiteY0" fmla="*/ 142685 h 572833"/>
              <a:gd name="connsiteX1" fmla="*/ 26480 w 317280"/>
              <a:gd name="connsiteY1" fmla="*/ 0 h 572833"/>
              <a:gd name="connsiteX2" fmla="*/ 2858 w 317280"/>
              <a:gd name="connsiteY2" fmla="*/ 0 h 572833"/>
              <a:gd name="connsiteX3" fmla="*/ 0 w 317280"/>
              <a:gd name="connsiteY3" fmla="*/ 4096 h 572833"/>
              <a:gd name="connsiteX4" fmla="*/ 0 w 317280"/>
              <a:gd name="connsiteY4" fmla="*/ 568738 h 572833"/>
              <a:gd name="connsiteX5" fmla="*/ 2858 w 317280"/>
              <a:gd name="connsiteY5" fmla="*/ 572834 h 572833"/>
              <a:gd name="connsiteX6" fmla="*/ 23622 w 317280"/>
              <a:gd name="connsiteY6" fmla="*/ 572834 h 572833"/>
              <a:gd name="connsiteX7" fmla="*/ 26480 w 317280"/>
              <a:gd name="connsiteY7" fmla="*/ 568738 h 572833"/>
              <a:gd name="connsiteX8" fmla="*/ 26480 w 317280"/>
              <a:gd name="connsiteY8" fmla="*/ 280607 h 572833"/>
              <a:gd name="connsiteX9" fmla="*/ 312515 w 317280"/>
              <a:gd name="connsiteY9" fmla="*/ 156877 h 572833"/>
              <a:gd name="connsiteX10" fmla="*/ 312896 w 317280"/>
              <a:gd name="connsiteY10" fmla="*/ 142685 h 572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7280" h="572833">
                <a:moveTo>
                  <a:pt x="312896" y="142685"/>
                </a:moveTo>
                <a:lnTo>
                  <a:pt x="26480" y="0"/>
                </a:lnTo>
                <a:lnTo>
                  <a:pt x="2858" y="0"/>
                </a:lnTo>
                <a:cubicBezTo>
                  <a:pt x="1334" y="0"/>
                  <a:pt x="0" y="1810"/>
                  <a:pt x="0" y="4096"/>
                </a:cubicBezTo>
                <a:lnTo>
                  <a:pt x="0" y="568738"/>
                </a:lnTo>
                <a:cubicBezTo>
                  <a:pt x="0" y="571024"/>
                  <a:pt x="1334" y="572834"/>
                  <a:pt x="2858" y="572834"/>
                </a:cubicBezTo>
                <a:lnTo>
                  <a:pt x="23622" y="572834"/>
                </a:lnTo>
                <a:cubicBezTo>
                  <a:pt x="25241" y="572834"/>
                  <a:pt x="26480" y="571024"/>
                  <a:pt x="26480" y="568738"/>
                </a:cubicBezTo>
                <a:lnTo>
                  <a:pt x="26480" y="280607"/>
                </a:lnTo>
                <a:lnTo>
                  <a:pt x="312515" y="156877"/>
                </a:lnTo>
                <a:cubicBezTo>
                  <a:pt x="318707" y="154210"/>
                  <a:pt x="318897" y="145637"/>
                  <a:pt x="312896" y="142685"/>
                </a:cubicBezTo>
                <a:close/>
              </a:path>
            </a:pathLst>
          </a:custGeom>
          <a:solidFill>
            <a:srgbClr val="45CF4B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50800" dist="25400" dir="5400000" algn="t" rotWithShape="0">
              <a:srgbClr val="45CF4B">
                <a:lumMod val="75000"/>
                <a:alpha val="12000"/>
              </a:srgbClr>
            </a:outerShdw>
          </a:effectLst>
        </p:spPr>
        <p:txBody>
          <a:bodyPr rot="0" spcFirstLastPara="0" vertOverflow="overflow" horzOverflow="overflow" vert="horz" wrap="none" lIns="0" tIns="0" rIns="0" bIns="7175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9" name="图片 118" descr="远程办公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7020" y="3662680"/>
            <a:ext cx="2923540" cy="2923540"/>
          </a:xfrm>
          <a:prstGeom prst="rect">
            <a:avLst/>
          </a:prstGeom>
        </p:spPr>
      </p:pic>
      <p:sp>
        <p:nvSpPr>
          <p:cNvPr id="120" name="文本框 119"/>
          <p:cNvSpPr txBox="1"/>
          <p:nvPr>
            <p:custDataLst>
              <p:tags r:id="rId17"/>
            </p:custDataLst>
          </p:nvPr>
        </p:nvSpPr>
        <p:spPr>
          <a:xfrm>
            <a:off x="3236278" y="4132580"/>
            <a:ext cx="2795905" cy="4254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/>
            <a:r>
              <a:rPr lang="zh-CN" altLang="en-US" sz="2400" b="1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latin typeface="微软雅黑" panose="020B0503020204020204" charset="-122"/>
                <a:cs typeface="微软雅黑" panose="020B0503020204020204" charset="-122"/>
              </a:rPr>
              <a:t>项目经理</a:t>
            </a:r>
            <a:endParaRPr lang="zh-CN" altLang="en-US" sz="2400" b="1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2" name="图片 121" descr="智能办公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07615" y="967740"/>
            <a:ext cx="2782570" cy="2782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小李PPT1"/>
          <p:cNvSpPr txBox="1"/>
          <p:nvPr/>
        </p:nvSpPr>
        <p:spPr>
          <a:xfrm>
            <a:off x="327641" y="244861"/>
            <a:ext cx="32988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800" b="1">
                <a:gradFill>
                  <a:gsLst>
                    <a:gs pos="50000">
                      <a:srgbClr val="3474CB"/>
                    </a:gs>
                    <a:gs pos="0">
                      <a:srgbClr val="03BEC1"/>
                    </a:gs>
                    <a:gs pos="100000">
                      <a:srgbClr val="8E52DF"/>
                    </a:gs>
                  </a:gsLst>
                  <a:lin ang="5400000" scaled="1"/>
                </a:gradFill>
                <a:latin typeface="微软雅黑" panose="020B0503020204020204" charset="-122"/>
                <a:cs typeface="微软雅黑" panose="020B0503020204020204" charset="-122"/>
              </a:rPr>
              <a:t>2026 近期工作计划</a:t>
            </a:r>
            <a:endParaRPr kumimoji="0" lang="zh-CN" altLang="en-US" sz="2800" b="1" u="none" strike="noStrike" kern="1200" cap="none" spc="0" normalizeH="0" baseline="0">
              <a:gradFill>
                <a:gsLst>
                  <a:gs pos="50000">
                    <a:srgbClr val="3474CB"/>
                  </a:gs>
                  <a:gs pos="0">
                    <a:srgbClr val="03BEC1"/>
                  </a:gs>
                  <a:gs pos="100000">
                    <a:srgbClr val="8E52DF"/>
                  </a:gs>
                </a:gsLst>
                <a:lin ang="5400000" scaled="1"/>
              </a:gra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57" name="直线连接符 56"/>
          <p:cNvCxnSpPr/>
          <p:nvPr/>
        </p:nvCxnSpPr>
        <p:spPr>
          <a:xfrm>
            <a:off x="454763" y="798737"/>
            <a:ext cx="11282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任意多边形: 形状 45"/>
          <p:cNvSpPr/>
          <p:nvPr>
            <p:custDataLst>
              <p:tags r:id="rId1"/>
            </p:custDataLst>
          </p:nvPr>
        </p:nvSpPr>
        <p:spPr>
          <a:xfrm>
            <a:off x="5529263" y="4703445"/>
            <a:ext cx="2719539" cy="1430389"/>
          </a:xfrm>
          <a:custGeom>
            <a:avLst/>
            <a:gdLst>
              <a:gd name="connsiteX0" fmla="*/ 1334340 w 2668680"/>
              <a:gd name="connsiteY0" fmla="*/ 1534736 h 1534735"/>
              <a:gd name="connsiteX1" fmla="*/ 0 w 2668680"/>
              <a:gd name="connsiteY1" fmla="*/ 757593 h 1534735"/>
              <a:gd name="connsiteX2" fmla="*/ 1334340 w 2668680"/>
              <a:gd name="connsiteY2" fmla="*/ 0 h 1534735"/>
              <a:gd name="connsiteX3" fmla="*/ 2668681 w 2668680"/>
              <a:gd name="connsiteY3" fmla="*/ 76248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8680" h="1534735">
                <a:moveTo>
                  <a:pt x="1334340" y="1534736"/>
                </a:moveTo>
                <a:lnTo>
                  <a:pt x="0" y="757593"/>
                </a:lnTo>
                <a:lnTo>
                  <a:pt x="1334340" y="0"/>
                </a:lnTo>
                <a:lnTo>
                  <a:pt x="2668681" y="76248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00000"/>
                </a:schemeClr>
              </a:gs>
              <a:gs pos="35000">
                <a:schemeClr val="accent1">
                  <a:lumMod val="85000"/>
                  <a:lumOff val="15000"/>
                  <a:alpha val="100000"/>
                </a:scheme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2" name="任意多边形: 形状 51"/>
          <p:cNvSpPr/>
          <p:nvPr>
            <p:custDataLst>
              <p:tags r:id="rId2"/>
            </p:custDataLst>
          </p:nvPr>
        </p:nvSpPr>
        <p:spPr>
          <a:xfrm>
            <a:off x="6050598" y="4975225"/>
            <a:ext cx="1676883" cy="886781"/>
          </a:xfrm>
          <a:custGeom>
            <a:avLst/>
            <a:gdLst>
              <a:gd name="connsiteX0" fmla="*/ 826020 w 1645523"/>
              <a:gd name="connsiteY0" fmla="*/ 951471 h 951471"/>
              <a:gd name="connsiteX1" fmla="*/ 0 w 1645523"/>
              <a:gd name="connsiteY1" fmla="*/ 457814 h 951471"/>
              <a:gd name="connsiteX2" fmla="*/ 817874 w 1645523"/>
              <a:gd name="connsiteY2" fmla="*/ 0 h 951471"/>
              <a:gd name="connsiteX3" fmla="*/ 1645523 w 1645523"/>
              <a:gd name="connsiteY3" fmla="*/ 469219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1">
                <a:moveTo>
                  <a:pt x="826020" y="951471"/>
                </a:moveTo>
                <a:lnTo>
                  <a:pt x="0" y="457814"/>
                </a:lnTo>
                <a:lnTo>
                  <a:pt x="817874" y="0"/>
                </a:lnTo>
                <a:lnTo>
                  <a:pt x="1645523" y="469219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3" name="任意多边形: 形状 52"/>
          <p:cNvSpPr/>
          <p:nvPr>
            <p:custDataLst>
              <p:tags r:id="rId3"/>
            </p:custDataLst>
          </p:nvPr>
        </p:nvSpPr>
        <p:spPr>
          <a:xfrm>
            <a:off x="6888798" y="3224530"/>
            <a:ext cx="2717878" cy="1430389"/>
          </a:xfrm>
          <a:custGeom>
            <a:avLst/>
            <a:gdLst>
              <a:gd name="connsiteX0" fmla="*/ 1334340 w 2667051"/>
              <a:gd name="connsiteY0" fmla="*/ 1534736 h 1534735"/>
              <a:gd name="connsiteX1" fmla="*/ 0 w 2667051"/>
              <a:gd name="connsiteY1" fmla="*/ 757592 h 1534735"/>
              <a:gd name="connsiteX2" fmla="*/ 1334340 w 2667051"/>
              <a:gd name="connsiteY2" fmla="*/ 0 h 1534735"/>
              <a:gd name="connsiteX3" fmla="*/ 2667052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4340" y="1534736"/>
                </a:moveTo>
                <a:lnTo>
                  <a:pt x="0" y="757592"/>
                </a:lnTo>
                <a:lnTo>
                  <a:pt x="1334340" y="0"/>
                </a:lnTo>
                <a:lnTo>
                  <a:pt x="2667052" y="764110"/>
                </a:lnTo>
                <a:close/>
              </a:path>
            </a:pathLst>
          </a:custGeom>
          <a:gradFill>
            <a:gsLst>
              <a:gs pos="100000">
                <a:schemeClr val="accent2">
                  <a:lumMod val="60000"/>
                  <a:lumOff val="40000"/>
                  <a:alpha val="100000"/>
                </a:schemeClr>
              </a:gs>
              <a:gs pos="35000">
                <a:schemeClr val="accent2">
                  <a:lumMod val="85000"/>
                  <a:lumOff val="15000"/>
                  <a:alpha val="100000"/>
                </a:scheme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4" name="任意多边形: 形状 53"/>
          <p:cNvSpPr/>
          <p:nvPr>
            <p:custDataLst>
              <p:tags r:id="rId4"/>
            </p:custDataLst>
          </p:nvPr>
        </p:nvSpPr>
        <p:spPr>
          <a:xfrm>
            <a:off x="7410133" y="3496310"/>
            <a:ext cx="1676883" cy="886780"/>
          </a:xfrm>
          <a:custGeom>
            <a:avLst/>
            <a:gdLst>
              <a:gd name="connsiteX0" fmla="*/ 826020 w 1645523"/>
              <a:gd name="connsiteY0" fmla="*/ 951471 h 951470"/>
              <a:gd name="connsiteX1" fmla="*/ 0 w 1645523"/>
              <a:gd name="connsiteY1" fmla="*/ 459443 h 951470"/>
              <a:gd name="connsiteX2" fmla="*/ 817874 w 1645523"/>
              <a:gd name="connsiteY2" fmla="*/ 0 h 951470"/>
              <a:gd name="connsiteX3" fmla="*/ 1645523 w 1645523"/>
              <a:gd name="connsiteY3" fmla="*/ 470848 h 95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任意多边形: 形状 56"/>
          <p:cNvSpPr/>
          <p:nvPr>
            <p:custDataLst>
              <p:tags r:id="rId5"/>
            </p:custDataLst>
          </p:nvPr>
        </p:nvSpPr>
        <p:spPr>
          <a:xfrm>
            <a:off x="8248968" y="1745615"/>
            <a:ext cx="2717878" cy="1430389"/>
          </a:xfrm>
          <a:custGeom>
            <a:avLst/>
            <a:gdLst>
              <a:gd name="connsiteX0" fmla="*/ 1332711 w 2667051"/>
              <a:gd name="connsiteY0" fmla="*/ 1534736 h 1534735"/>
              <a:gd name="connsiteX1" fmla="*/ 0 w 2667051"/>
              <a:gd name="connsiteY1" fmla="*/ 759222 h 1534735"/>
              <a:gd name="connsiteX2" fmla="*/ 1332711 w 2667051"/>
              <a:gd name="connsiteY2" fmla="*/ 0 h 1534735"/>
              <a:gd name="connsiteX3" fmla="*/ 2667051 w 2667051"/>
              <a:gd name="connsiteY3" fmla="*/ 764110 h 1534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7051" h="1534735">
                <a:moveTo>
                  <a:pt x="1332711" y="1534736"/>
                </a:moveTo>
                <a:lnTo>
                  <a:pt x="0" y="759222"/>
                </a:lnTo>
                <a:lnTo>
                  <a:pt x="1332711" y="0"/>
                </a:lnTo>
                <a:lnTo>
                  <a:pt x="2667051" y="76411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60000"/>
                  <a:lumOff val="40000"/>
                  <a:alpha val="100000"/>
                </a:schemeClr>
              </a:gs>
              <a:gs pos="35000">
                <a:schemeClr val="accent1">
                  <a:lumMod val="85000"/>
                  <a:lumOff val="15000"/>
                  <a:alpha val="100000"/>
                </a:schemeClr>
              </a:gs>
            </a:gsLst>
            <a:lin ang="10800000" scaled="0"/>
          </a:gra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任意多边形: 形状 59"/>
          <p:cNvSpPr/>
          <p:nvPr>
            <p:custDataLst>
              <p:tags r:id="rId6"/>
            </p:custDataLst>
          </p:nvPr>
        </p:nvSpPr>
        <p:spPr>
          <a:xfrm>
            <a:off x="8768398" y="2017395"/>
            <a:ext cx="1678543" cy="886781"/>
          </a:xfrm>
          <a:custGeom>
            <a:avLst/>
            <a:gdLst>
              <a:gd name="connsiteX0" fmla="*/ 827649 w 1647152"/>
              <a:gd name="connsiteY0" fmla="*/ 951471 h 951471"/>
              <a:gd name="connsiteX1" fmla="*/ 0 w 1647152"/>
              <a:gd name="connsiteY1" fmla="*/ 459443 h 951471"/>
              <a:gd name="connsiteX2" fmla="*/ 819503 w 1647152"/>
              <a:gd name="connsiteY2" fmla="*/ 0 h 951471"/>
              <a:gd name="connsiteX3" fmla="*/ 1647153 w 1647152"/>
              <a:gd name="connsiteY3" fmla="*/ 470848 h 951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FFFFFF"/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任意多边形: 形状 60"/>
          <p:cNvSpPr/>
          <p:nvPr>
            <p:custDataLst>
              <p:tags r:id="rId7"/>
            </p:custDataLst>
          </p:nvPr>
        </p:nvSpPr>
        <p:spPr>
          <a:xfrm>
            <a:off x="6886258" y="3926205"/>
            <a:ext cx="1359769" cy="1483536"/>
          </a:xfrm>
          <a:custGeom>
            <a:avLst/>
            <a:gdLst>
              <a:gd name="connsiteX0" fmla="*/ 0 w 1334340"/>
              <a:gd name="connsiteY0" fmla="*/ 0 h 1591759"/>
              <a:gd name="connsiteX1" fmla="*/ 0 w 1334340"/>
              <a:gd name="connsiteY1" fmla="*/ 829279 h 1591759"/>
              <a:gd name="connsiteX2" fmla="*/ 1334340 w 1334340"/>
              <a:gd name="connsiteY2" fmla="*/ 1591759 h 1591759"/>
              <a:gd name="connsiteX3" fmla="*/ 1334340 w 1334340"/>
              <a:gd name="connsiteY3" fmla="*/ 777144 h 1591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任意多边形: 形状 61"/>
          <p:cNvSpPr/>
          <p:nvPr>
            <p:custDataLst>
              <p:tags r:id="rId8"/>
            </p:custDataLst>
          </p:nvPr>
        </p:nvSpPr>
        <p:spPr>
          <a:xfrm>
            <a:off x="8248968" y="2453005"/>
            <a:ext cx="1358109" cy="1483535"/>
          </a:xfrm>
          <a:custGeom>
            <a:avLst/>
            <a:gdLst>
              <a:gd name="connsiteX0" fmla="*/ 0 w 1332711"/>
              <a:gd name="connsiteY0" fmla="*/ 0 h 1591758"/>
              <a:gd name="connsiteX1" fmla="*/ 0 w 1332711"/>
              <a:gd name="connsiteY1" fmla="*/ 827650 h 1591758"/>
              <a:gd name="connsiteX2" fmla="*/ 1332711 w 1332711"/>
              <a:gd name="connsiteY2" fmla="*/ 1591759 h 1591758"/>
              <a:gd name="connsiteX3" fmla="*/ 1332711 w 1332711"/>
              <a:gd name="connsiteY3" fmla="*/ 775514 h 1591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3" name="任意多边形: 形状 62"/>
          <p:cNvSpPr/>
          <p:nvPr>
            <p:custDataLst>
              <p:tags r:id="rId9"/>
            </p:custDataLst>
          </p:nvPr>
        </p:nvSpPr>
        <p:spPr>
          <a:xfrm>
            <a:off x="6888798" y="2457450"/>
            <a:ext cx="4077648" cy="3864481"/>
          </a:xfrm>
          <a:custGeom>
            <a:avLst/>
            <a:gdLst>
              <a:gd name="connsiteX0" fmla="*/ 2667052 w 4001391"/>
              <a:gd name="connsiteY0" fmla="*/ 772256 h 4146393"/>
              <a:gd name="connsiteX1" fmla="*/ 2667052 w 4001391"/>
              <a:gd name="connsiteY1" fmla="*/ 1586871 h 4146393"/>
              <a:gd name="connsiteX2" fmla="*/ 1334340 w 4001391"/>
              <a:gd name="connsiteY2" fmla="*/ 2357498 h 4146393"/>
              <a:gd name="connsiteX3" fmla="*/ 1334340 w 4001391"/>
              <a:gd name="connsiteY3" fmla="*/ 3172113 h 4146393"/>
              <a:gd name="connsiteX4" fmla="*/ 0 w 4001391"/>
              <a:gd name="connsiteY4" fmla="*/ 3944369 h 4146393"/>
              <a:gd name="connsiteX5" fmla="*/ 0 w 4001391"/>
              <a:gd name="connsiteY5" fmla="*/ 4146393 h 4146393"/>
              <a:gd name="connsiteX6" fmla="*/ 1502151 w 4001391"/>
              <a:gd name="connsiteY6" fmla="*/ 3273126 h 4146393"/>
              <a:gd name="connsiteX7" fmla="*/ 1502151 w 4001391"/>
              <a:gd name="connsiteY7" fmla="*/ 2456881 h 4146393"/>
              <a:gd name="connsiteX8" fmla="*/ 2825087 w 4001391"/>
              <a:gd name="connsiteY8" fmla="*/ 1687884 h 4146393"/>
              <a:gd name="connsiteX9" fmla="*/ 2825087 w 4001391"/>
              <a:gd name="connsiteY9" fmla="*/ 863493 h 4146393"/>
              <a:gd name="connsiteX10" fmla="*/ 4001392 w 4001391"/>
              <a:gd name="connsiteY10" fmla="*/ 190620 h 4146393"/>
              <a:gd name="connsiteX11" fmla="*/ 4001392 w 4001391"/>
              <a:gd name="connsiteY11" fmla="*/ 0 h 4146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chemeClr val="tx1">
              <a:lumMod val="35000"/>
              <a:lumOff val="65000"/>
              <a:alpha val="35000"/>
            </a:schemeClr>
          </a:solidFill>
          <a:ln w="16291" cap="flat">
            <a:noFill/>
            <a:prstDash val="solid"/>
            <a:miter/>
          </a:ln>
        </p:spPr>
        <p:txBody>
          <a:bodyPr rtlCol="0" anchor="ctr"/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6" name="任意多边形: 形状 63"/>
          <p:cNvSpPr/>
          <p:nvPr>
            <p:custDataLst>
              <p:tags r:id="rId10"/>
            </p:custDataLst>
          </p:nvPr>
        </p:nvSpPr>
        <p:spPr>
          <a:xfrm>
            <a:off x="5529263" y="5409565"/>
            <a:ext cx="1359769" cy="912594"/>
          </a:xfrm>
          <a:custGeom>
            <a:avLst/>
            <a:gdLst>
              <a:gd name="connsiteX0" fmla="*/ 1334340 w 1334340"/>
              <a:gd name="connsiteY0" fmla="*/ 777143 h 979167"/>
              <a:gd name="connsiteX1" fmla="*/ 0 w 1334340"/>
              <a:gd name="connsiteY1" fmla="*/ 0 h 979167"/>
              <a:gd name="connsiteX2" fmla="*/ 0 w 1334340"/>
              <a:gd name="connsiteY2" fmla="*/ 215058 h 979167"/>
              <a:gd name="connsiteX3" fmla="*/ 1334340 w 1334340"/>
              <a:gd name="connsiteY3" fmla="*/ 979168 h 97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chemeClr val="tx1">
              <a:lumMod val="25000"/>
              <a:lumOff val="75000"/>
              <a:alpha val="25000"/>
            </a:schemeClr>
          </a:solidFill>
          <a:ln w="162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0" name="图片 12" descr="343439383331313b343532303032383bbfcdbba7b9dcc0ed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55118" y="5184775"/>
            <a:ext cx="468000" cy="468000"/>
          </a:xfrm>
          <a:prstGeom prst="rect">
            <a:avLst/>
          </a:prstGeom>
        </p:spPr>
      </p:pic>
      <p:pic>
        <p:nvPicPr>
          <p:cNvPr id="21" name="图片 19" descr="343439383331313b343532303033353bc4dcd0a7b7fecef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14653" y="3705225"/>
            <a:ext cx="468000" cy="468000"/>
          </a:xfrm>
          <a:prstGeom prst="rect">
            <a:avLst/>
          </a:prstGeom>
        </p:spPr>
      </p:pic>
      <p:pic>
        <p:nvPicPr>
          <p:cNvPr id="26" name="图片 5" descr="343439383331313b343532303032323bb2fac6b7d5b9cabe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73553" y="2226310"/>
            <a:ext cx="468000" cy="4680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0"/>
            </p:custDataLst>
          </p:nvPr>
        </p:nvSpPr>
        <p:spPr>
          <a:xfrm>
            <a:off x="3463925" y="1304290"/>
            <a:ext cx="4676140" cy="1635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继续跟进与落实季度合同（</a:t>
            </a:r>
            <a:r>
              <a:rPr lang="en-US" altLang="zh-CN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CR</a:t>
            </a: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）相关费用回款事宜，确保项目商业回报的顺利实现</a:t>
            </a:r>
            <a:endParaRPr lang="zh-CN" altLang="en-US" sz="16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管理协调客户需求预期，尽量减少研发资源投入</a:t>
            </a:r>
            <a:endParaRPr lang="zh-CN" altLang="en-US" sz="16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协助</a:t>
            </a:r>
            <a:r>
              <a:rPr lang="en-US" altLang="zh-CN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SAAS</a:t>
            </a: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转型</a:t>
            </a:r>
            <a:endParaRPr lang="zh-CN" altLang="en-US" sz="16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50" name="矩形 49"/>
          <p:cNvSpPr/>
          <p:nvPr>
            <p:custDataLst>
              <p:tags r:id="rId21"/>
            </p:custDataLst>
          </p:nvPr>
        </p:nvSpPr>
        <p:spPr>
          <a:xfrm>
            <a:off x="2024698" y="1507490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p>
            <a:pPr algn="r"/>
            <a:r>
              <a:rPr lang="zh-CN" altLang="en-US" sz="2400" b="1" kern="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+mn-lt"/>
              </a:rPr>
              <a:t>百济神州</a:t>
            </a:r>
            <a:endParaRPr lang="zh-CN" altLang="en-US" sz="2400" b="1" kern="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22"/>
            </p:custDataLst>
          </p:nvPr>
        </p:nvSpPr>
        <p:spPr>
          <a:xfrm>
            <a:off x="3175635" y="3322320"/>
            <a:ext cx="3568700" cy="12268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完成一期</a:t>
            </a:r>
            <a:r>
              <a:rPr lang="en-US" altLang="zh-CN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UAT</a:t>
            </a: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及上线后的需求跟进</a:t>
            </a:r>
            <a:endParaRPr lang="zh-CN" altLang="en-US" sz="16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解决客户反馈的问题</a:t>
            </a:r>
            <a:r>
              <a:rPr lang="en-US" altLang="zh-CN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​</a:t>
            </a:r>
            <a:endParaRPr lang="en-US" altLang="zh-CN" sz="16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58" name="矩形 57"/>
          <p:cNvSpPr/>
          <p:nvPr>
            <p:custDataLst>
              <p:tags r:id="rId23"/>
            </p:custDataLst>
          </p:nvPr>
        </p:nvSpPr>
        <p:spPr>
          <a:xfrm>
            <a:off x="1737043" y="3288030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p>
            <a:pPr algn="r"/>
            <a:r>
              <a:rPr lang="zh-CN" altLang="en-US" sz="2400" b="1" kern="0" dirty="0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+mn-lt"/>
              </a:rPr>
              <a:t>泰诺麦博</a:t>
            </a:r>
            <a:endParaRPr lang="zh-CN" altLang="en-US" sz="2400" b="1" kern="0" dirty="0">
              <a:solidFill>
                <a:schemeClr val="accent2"/>
              </a:solidFill>
              <a:latin typeface="等线" panose="02010600030101010101" charset="-122"/>
              <a:ea typeface="等线" panose="02010600030101010101" charset="-122"/>
              <a:cs typeface="+mn-lt"/>
            </a:endParaRPr>
          </a:p>
        </p:txBody>
      </p:sp>
      <p:sp>
        <p:nvSpPr>
          <p:cNvPr id="73" name="文本框 72"/>
          <p:cNvSpPr txBox="1"/>
          <p:nvPr>
            <p:custDataLst>
              <p:tags r:id="rId24"/>
            </p:custDataLst>
          </p:nvPr>
        </p:nvSpPr>
        <p:spPr>
          <a:xfrm>
            <a:off x="2423160" y="4932045"/>
            <a:ext cx="2704465" cy="726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协助雷允上相关产品工作</a:t>
            </a:r>
            <a:endParaRPr lang="zh-CN" altLang="en-US" sz="16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完成蓝图</a:t>
            </a:r>
            <a:r>
              <a:rPr lang="en-US" altLang="zh-CN" sz="16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PPT</a:t>
            </a:r>
            <a:endParaRPr lang="en-US" altLang="zh-CN" sz="16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p:sp>
        <p:nvSpPr>
          <p:cNvPr id="74" name="矩形 73"/>
          <p:cNvSpPr/>
          <p:nvPr>
            <p:custDataLst>
              <p:tags r:id="rId25"/>
            </p:custDataLst>
          </p:nvPr>
        </p:nvSpPr>
        <p:spPr>
          <a:xfrm>
            <a:off x="1022033" y="4869180"/>
            <a:ext cx="1158630" cy="578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p>
            <a:pPr algn="r"/>
            <a:r>
              <a:rPr lang="zh-CN" altLang="en-US" sz="2400" b="1" kern="0" dirty="0">
                <a:solidFill>
                  <a:schemeClr val="accent1"/>
                </a:solidFill>
                <a:latin typeface="等线" panose="02010600030101010101" charset="-122"/>
                <a:ea typeface="等线" panose="02010600030101010101" charset="-122"/>
                <a:cs typeface="+mn-lt"/>
              </a:rPr>
              <a:t>雷允上</a:t>
            </a:r>
            <a:endParaRPr lang="zh-CN" altLang="en-US" sz="2400" b="1" kern="0" dirty="0">
              <a:solidFill>
                <a:schemeClr val="accent1"/>
              </a:solidFill>
              <a:latin typeface="等线" panose="02010600030101010101" charset="-122"/>
              <a:ea typeface="等线" panose="02010600030101010101" charset="-122"/>
              <a:cs typeface="+mn-lt"/>
            </a:endParaRPr>
          </a:p>
        </p:txBody>
      </p:sp>
      <p:sp>
        <p:nvSpPr>
          <p:cNvPr id="75" name="矩形 74"/>
          <p:cNvSpPr/>
          <p:nvPr>
            <p:custDataLst>
              <p:tags r:id="rId26"/>
            </p:custDataLst>
          </p:nvPr>
        </p:nvSpPr>
        <p:spPr>
          <a:xfrm>
            <a:off x="3275648" y="1583690"/>
            <a:ext cx="66421" cy="494532"/>
          </a:xfrm>
          <a:prstGeom prst="rect">
            <a:avLst/>
          </a:prstGeom>
          <a:gradFill>
            <a:gsLst>
              <a:gs pos="100000">
                <a:schemeClr val="accent1">
                  <a:lumMod val="40000"/>
                  <a:lumOff val="60000"/>
                  <a:alpha val="100000"/>
                </a:schemeClr>
              </a:gs>
              <a:gs pos="0">
                <a:schemeClr val="accent1">
                  <a:lumMod val="85000"/>
                  <a:lumOff val="15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6" name="矩形 75"/>
          <p:cNvSpPr/>
          <p:nvPr>
            <p:custDataLst>
              <p:tags r:id="rId27"/>
            </p:custDataLst>
          </p:nvPr>
        </p:nvSpPr>
        <p:spPr>
          <a:xfrm>
            <a:off x="2967673" y="3366770"/>
            <a:ext cx="66421" cy="494532"/>
          </a:xfrm>
          <a:prstGeom prst="rect">
            <a:avLst/>
          </a:prstGeom>
          <a:gradFill>
            <a:gsLst>
              <a:gs pos="100000">
                <a:schemeClr val="accent2">
                  <a:lumMod val="40000"/>
                  <a:lumOff val="60000"/>
                  <a:alpha val="100000"/>
                </a:schemeClr>
              </a:gs>
              <a:gs pos="0">
                <a:schemeClr val="accent2">
                  <a:lumMod val="85000"/>
                  <a:lumOff val="15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7" name="矩形 76"/>
          <p:cNvSpPr/>
          <p:nvPr>
            <p:custDataLst>
              <p:tags r:id="rId28"/>
            </p:custDataLst>
          </p:nvPr>
        </p:nvSpPr>
        <p:spPr>
          <a:xfrm>
            <a:off x="2268538" y="4947920"/>
            <a:ext cx="66421" cy="494532"/>
          </a:xfrm>
          <a:prstGeom prst="rect">
            <a:avLst/>
          </a:prstGeom>
          <a:gradFill>
            <a:gsLst>
              <a:gs pos="100000">
                <a:schemeClr val="accent1">
                  <a:lumMod val="40000"/>
                  <a:lumOff val="60000"/>
                  <a:alpha val="100000"/>
                </a:schemeClr>
              </a:gs>
              <a:gs pos="0">
                <a:schemeClr val="accent1">
                  <a:lumMod val="85000"/>
                  <a:lumOff val="15000"/>
                  <a:alpha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cxnSp>
        <p:nvCxnSpPr>
          <p:cNvPr id="78" name="直接连接符 77"/>
          <p:cNvCxnSpPr/>
          <p:nvPr>
            <p:custDataLst>
              <p:tags r:id="rId29"/>
            </p:custDataLst>
          </p:nvPr>
        </p:nvCxnSpPr>
        <p:spPr>
          <a:xfrm>
            <a:off x="8163878" y="1934210"/>
            <a:ext cx="1078706" cy="0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>
            <p:custDataLst>
              <p:tags r:id="rId30"/>
            </p:custDataLst>
          </p:nvPr>
        </p:nvCxnSpPr>
        <p:spPr>
          <a:xfrm>
            <a:off x="6739573" y="3542030"/>
            <a:ext cx="904875" cy="0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>
            <p:custDataLst>
              <p:tags r:id="rId31"/>
            </p:custDataLst>
          </p:nvPr>
        </p:nvCxnSpPr>
        <p:spPr>
          <a:xfrm>
            <a:off x="5301298" y="5115560"/>
            <a:ext cx="795338" cy="0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86850" y="2131060"/>
            <a:ext cx="1219200" cy="56388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532370" y="3641090"/>
            <a:ext cx="1554480" cy="556260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88430" y="4940300"/>
            <a:ext cx="800735" cy="8870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638_2*l_h_i*1_1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6,7,6,7,6,7]}"/>
</p:tagLst>
</file>

<file path=ppt/tags/tag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638_2*l_h_f*1_1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6,7,6,7,6,7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638_2*l_h_i*1_1_1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299999713897705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6,7,6,7,6,7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638_2*l_h_i*1_2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6,7,6,7,6,7]}"/>
</p:tagLst>
</file>

<file path=ppt/tags/tag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638_2*l_h_f*1_2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6,7,6,7,6,7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638_2*l_h_i*1_2_1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299999713897705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6,7,6,7,6,7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638_2*l_h_i*1_3_2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800000011920929,&quot;colorType&quot;:1,&quot;foreColorIndex&quot;:5,&quot;pos&quot;:1,&quot;transparency&quot;:0.800000011920929}],&quot;type&quot;:3},&quot;glow&quot;:{&quot;colorType&quot;:0},&quot;line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6,7,6,7,6,7]}"/>
</p:tagLst>
</file>

<file path=ppt/tags/tag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638_2*l_h_f*1_3_1"/>
  <p:tag name="KSO_WM_TEMPLATE_CATEGORY" val="diagram"/>
  <p:tag name="KSO_WM_TEMPLATE_INDEX" val="20231638"/>
  <p:tag name="KSO_WM_UNIT_LAYERLEVEL" val="1_1_1"/>
  <p:tag name="KSO_WM_TAG_VERSION" val="3.0"/>
  <p:tag name="KSO_WM_DIAGRAM_GROUP_CODE" val="l1-1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DIAGRAM_USE_COLOR_VALUE" val="{&quot;color_scheme&quot;:1,&quot;color_type&quot;:1,&quot;theme_color_indexes&quot;:[6,7,6,7,6,7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638_2*l_h_i*1_3_1"/>
  <p:tag name="KSO_WM_TEMPLATE_CATEGORY" val="diagram"/>
  <p:tag name="KSO_WM_TEMPLATE_INDEX" val="20231638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400.8001153612513,&quot;left&quot;:43.59998779296875,&quot;top&quot;:98.24996337890624,&quot;width&quot;:850.4000244140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299999713897705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VERSION" val="3"/>
  <p:tag name="KSO_WM_DIAGRAM_COLOR_TRICK" val="1"/>
  <p:tag name="KSO_WM_DIAGRAM_COLOR_TEXT_CAN_REMOVE" val="n"/>
  <p:tag name="KSO_WM_DIAGRAM_USE_COLOR_VALUE" val="{&quot;color_scheme&quot;:1,&quot;color_type&quot;:1,&quot;theme_color_indexes&quot;:[6,7,6,7,6,7]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40493041_1*m_i*1_1"/>
  <p:tag name="KSO_WM_TEMPLATE_CATEGORY" val="diagram"/>
  <p:tag name="KSO_WM_TEMPLATE_INDEX" val="40493041"/>
  <p:tag name="KSO_WM_UNIT_LAYERLEVEL" val="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LINE_FORE_SCHEMECOLOR_INDEX" val="5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8399999737739563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40493041_1*m_i*1_2"/>
  <p:tag name="KSO_WM_TEMPLATE_CATEGORY" val="diagram"/>
  <p:tag name="KSO_WM_TEMPLATE_INDEX" val="40493041"/>
  <p:tag name="KSO_WM_UNIT_LAYERLEVEL" val="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LINE_FORE_SCHEMECOLOR_INDEX" val="5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40493041_1*m_h_i*1_1_1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40493041_1*m_h_i*1_1_2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FILL_TYPE" val="1"/>
  <p:tag name="KSO_WM_UNIT_FILL_FORE_SCHEMECOLOR_INDEX" val="6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40493041_1*m_h_i*1_1_3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40493041_1*m_h_f*1_1_1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TEXT_FILL_FORE_SCHEMECOLOR_INDEX" val="1"/>
  <p:tag name="KSO_WM_UNIT_TEXT_FILL_TYPE" val="1"/>
  <p:tag name="KSO_WM_UNIT_PRESET_TEXT" val="单击此处添加文本，简明扼要地阐述您的观点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40493041_1*m_h_i*1_2_1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40493041_1*m_h_i*1_2_2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FILL_TYPE" val="1"/>
  <p:tag name="KSO_WM_UNIT_FILL_FORE_SCHEMECOLOR_INDEX" val="6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40493041_1*m_h_i*1_2_3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40493041_1*m_h_f*1_2_1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TEXT_FILL_FORE_SCHEMECOLOR_INDEX" val="1"/>
  <p:tag name="KSO_WM_UNIT_TEXT_FILL_TYPE" val="1"/>
  <p:tag name="KSO_WM_UNIT_PRESET_TEXT" val="单击此处添加文本，简明扼要地阐述您的观点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40493041_1*m_h_a*1_2_1"/>
  <p:tag name="KSO_WM_TEMPLATE_CATEGORY" val="diagram"/>
  <p:tag name="KSO_WM_TEMPLATE_INDEX" val="40493041"/>
  <p:tag name="KSO_WM_UNIT_LAYERLEVEL" val="1_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TEXT_FILL_FORE_SCHEMECOLOR_INDEX" val="1"/>
  <p:tag name="KSO_WM_UNIT_TEXT_FILL_TYPE" val="1"/>
  <p:tag name="KSO_WM_UNIT_PRESET_TEXT" val="景点2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3"/>
  <p:tag name="KSO_WM_UNIT_ID" val="diagram40493041_1*m_i*1_3"/>
  <p:tag name="KSO_WM_TEMPLATE_CATEGORY" val="diagram"/>
  <p:tag name="KSO_WM_TEMPLATE_INDEX" val="40493041"/>
  <p:tag name="KSO_WM_UNIT_LAYERLEVEL" val="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FILL_TYPE" val="1"/>
  <p:tag name="KSO_WM_UNIT_FILL_FORE_SCHEMECOLOR_INDEX" val="6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4"/>
  <p:tag name="KSO_WM_UNIT_ID" val="diagram40493041_1*m_i*1_4"/>
  <p:tag name="KSO_WM_TEMPLATE_CATEGORY" val="diagram"/>
  <p:tag name="KSO_WM_TEMPLATE_INDEX" val="40493041"/>
  <p:tag name="KSO_WM_UNIT_LAYERLEVEL" val="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5"/>
  <p:tag name="KSO_WM_UNIT_ID" val="diagram40493041_1*m_i*1_5"/>
  <p:tag name="KSO_WM_TEMPLATE_CATEGORY" val="diagram"/>
  <p:tag name="KSO_WM_TEMPLATE_INDEX" val="40493041"/>
  <p:tag name="KSO_WM_UNIT_LAYERLEVEL" val="1_1"/>
  <p:tag name="KSO_WM_TAG_VERSION" val="3.0"/>
  <p:tag name="KSO_WM_BEAUTIFY_FLAG" val="#wm#"/>
  <p:tag name="KSO_WM_DIAGRAM_VIRTUALLY_FRAME" val="{&quot;height&quot;:440.35,&quot;left&quot;:16.17503937007873,&quot;top&quot;:85.2,&quot;width&quot;:927.6206149267962}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2,&quot;rgb&quot;:&quot;#ffffff&quot;,&quot;transparency&quot;:0},&quot;type&quot;:1},&quot;shadow&quot;:{&quot;brightness&quot;:-0.25,&quot;colorType&quot;:1,&quot;foreColorIndex&quot;:5,&quot;transparency&quot;:0.879999995231628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40493041_1*m_h_a*1_2_1"/>
  <p:tag name="KSO_WM_TEMPLATE_CATEGORY" val="diagram"/>
  <p:tag name="KSO_WM_TEMPLATE_INDEX" val="40493041"/>
  <p:tag name="KSO_WM_UNIT_LAYERLEVEL" val="1_1_1"/>
  <p:tag name="KSO_WM_TAG_VERSION" val="3.0"/>
  <p:tag name="KSO_WM_DIAGRAM_VIRTUALLY_FRAME" val="{&quot;height&quot;:431.76605834960935,&quot;left&quot;:16.17503937007873,&quot;top&quot;:90.5,&quot;width&quot;:927.6206149267962}"/>
  <p:tag name="KSO_WM_UNIT_TEXT_FILL_FORE_SCHEMECOLOR_INDEX" val="1"/>
  <p:tag name="KSO_WM_UNIT_TEXT_FILL_TYPE" val="1"/>
  <p:tag name="KSO_WM_UNIT_PRESET_TEXT" val="景点2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5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5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.15000000596046448,&quot;colorType&quot;:1,&quot;foreColorIndex&quot;:5,&quot;pos&quot;:0.349999994039535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4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4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i*1_1"/>
  <p:tag name="KSO_WM_TEMPLATE_CATEGORY" val="diagram"/>
  <p:tag name="KSO_WM_TEMPLATE_INDEX" val="20234406"/>
  <p:tag name="KSO_WM_UNIT_LAYERLEVEL" val="1_1"/>
  <p:tag name="KSO_WM_TAG_VERSION" val="3.0"/>
  <p:tag name="KSO_WM_UNIT_TYPE" val="m_i"/>
  <p:tag name="KSO_WM_UNIT_INDEX" val="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.6499999761581421,&quot;colorType&quot;:1,&quot;foreColorIndex&quot;:13,&quot;transparency&quot;:0.64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5"/>
  <p:tag name="KSO_WM_UNIT_LINE_FORE_SCHEMECOLOR_INDEX" val="-2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6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6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.75,&quot;colorType&quot;:1,&quot;foreColorIndex&quot;:13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75"/>
  <p:tag name="KSO_WM_UNIT_LINE_FORE_SCHEMECOLOR_INDEX" val="-2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1_1"/>
  <p:tag name="KSO_WM_TEMPLATE_CATEGORY" val="diagram"/>
  <p:tag name="KSO_WM_TEMPLATE_INDEX" val="20234406"/>
  <p:tag name="KSO_WM_UNIT_LAYERLEVEL" val="1_1_1"/>
  <p:tag name="KSO_WM_TAG_VERSION" val="3.0"/>
  <p:tag name="KSO_WM_UNIT_VALUE" val="127*144"/>
  <p:tag name="KSO_WM_UNIT_TYPE" val="m_h_x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2_1"/>
  <p:tag name="KSO_WM_TEMPLATE_CATEGORY" val="diagram"/>
  <p:tag name="KSO_WM_TEMPLATE_INDEX" val="20234406"/>
  <p:tag name="KSO_WM_UNIT_LAYERLEVEL" val="1_1_1"/>
  <p:tag name="KSO_WM_TAG_VERSION" val="3.0"/>
  <p:tag name="KSO_WM_UNIT_VALUE" val="132*129"/>
  <p:tag name="KSO_WM_UNIT_TYPE" val="m_h_x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x*1_3_1"/>
  <p:tag name="KSO_WM_TEMPLATE_CATEGORY" val="diagram"/>
  <p:tag name="KSO_WM_TEMPLATE_INDEX" val="20234406"/>
  <p:tag name="KSO_WM_UNIT_LAYERLEVEL" val="1_1_1"/>
  <p:tag name="KSO_WM_TAG_VERSION" val="3.0"/>
  <p:tag name="KSO_WM_UNIT_VALUE" val="107*144"/>
  <p:tag name="KSO_WM_UNIT_TYPE" val="m_h_x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3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3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2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简明扼要地阐述您的内容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2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f*1_1_1"/>
  <p:tag name="KSO_WM_TEMPLATE_CATEGORY" val="diagram"/>
  <p:tag name="KSO_WM_TEMPLATE_INDEX" val="20234406"/>
  <p:tag name="KSO_WM_UNIT_LAYERLEVEL" val="1_1_1"/>
  <p:tag name="KSO_WM_TAG_VERSION" val="3.0"/>
  <p:tag name="KSO_WM_UNIT_SUBTYPE" val="a"/>
  <p:tag name="KSO_WM_UNIT_NOCLEAR" val="0"/>
  <p:tag name="KSO_WM_UNIT_VALUE" val="80"/>
  <p:tag name="KSO_WM_UNIT_TYPE" val="m_h_f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具体内容，文字是您思想的提炼，简明扼要地阐述您的观点根据需要可酌情增减文字，以便观者能够准确地理解您所传达的思想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3"/>
  <p:tag name="KSO_WM_TEMPLATE_CATEGORY" val="diagram"/>
  <p:tag name="KSO_WM_TEMPLATE_INDEX" val="20234406"/>
  <p:tag name="KSO_WM_UNIT_LAYERLEVEL" val="1_1_1"/>
  <p:tag name="KSO_WM_TAG_VERSION" val="3.0"/>
  <p:tag name="KSO_WM_UNIT_SUBTYPE" val="nb"/>
  <p:tag name="KSO_WM_UNIT_TYPE" val="m_h_i"/>
  <p:tag name="KSO_WM_UNIT_INDEX" val="1_1_3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-2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2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2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gradient&quot;:[{&quot;brightness&quot;:0.6000000238418579,&quot;colorType&quot;:1,&quot;foreColorIndex&quot;:5,&quot;pos&quot;:1,&quot;transparency&quot;:0},{&quot;brightness&quot;:0.15000000596046448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-2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3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3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2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2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406_1*m_h_i*1_1_1"/>
  <p:tag name="KSO_WM_TEMPLATE_CATEGORY" val="diagram"/>
  <p:tag name="KSO_WM_TEMPLATE_INDEX" val="20234406"/>
  <p:tag name="KSO_WM_UNIT_LAYERLEVEL" val="1_1_1"/>
  <p:tag name="KSO_WM_TAG_VERSION" val="3.0"/>
  <p:tag name="KSO_WM_UNIT_TYPE" val="m_h_i"/>
  <p:tag name="KSO_WM_UNIT_INDEX" val="1_1_1"/>
  <p:tag name="KSO_WM_DIAGRAM_GROUP_CODE" val="m1-1"/>
  <p:tag name="KSO_WM_DIAGRAM_VERSION" val="3"/>
  <p:tag name="KSO_WM_DIAGRAM_COLOR_TRICK" val="1"/>
  <p:tag name="KSO_WM_DIAGRAM_COLOR_TEXT_CAN_REMOVE" val="n"/>
  <p:tag name="KSO_WM_DIAGRAM_MAX_ITEMCNT" val="4"/>
  <p:tag name="KSO_WM_DIAGRAM_MIN_ITEMCNT" val="3"/>
  <p:tag name="KSO_WM_DIAGRAM_VIRTUALLY_FRAME" val="{&quot;height&quot;:412.5,&quot;left&quot;:80.4750393700787,&quot;top&quot;:102.7,&quot;width&quot;:783.056141732283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resource_record_key" val="{&quot;70&quot;:[3326188,3325727,3312756,3430046,3321416,331899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高级商务蓝黄配色">
      <a:dk1>
        <a:srgbClr val="383535"/>
      </a:dk1>
      <a:lt1>
        <a:srgbClr val="FEFFFF"/>
      </a:lt1>
      <a:dk2>
        <a:srgbClr val="9EA0A0"/>
      </a:dk2>
      <a:lt2>
        <a:srgbClr val="EFEFEF"/>
      </a:lt2>
      <a:accent1>
        <a:srgbClr val="004695"/>
      </a:accent1>
      <a:accent2>
        <a:srgbClr val="3077BC"/>
      </a:accent2>
      <a:accent3>
        <a:srgbClr val="F4BB31"/>
      </a:accent3>
      <a:accent4>
        <a:srgbClr val="BBCEE5"/>
      </a:accent4>
      <a:accent5>
        <a:srgbClr val="C4C6C6"/>
      </a:accent5>
      <a:accent6>
        <a:srgbClr val="EFEDEF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WPS 演示</Application>
  <PresentationFormat>宽屏</PresentationFormat>
  <Paragraphs>53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Alibaba PuHuiTi</vt:lpstr>
      <vt:lpstr>Poppins</vt:lpstr>
      <vt:lpstr>微软雅黑</vt:lpstr>
      <vt:lpstr>等线</vt:lpstr>
      <vt:lpstr>Arial Unicode MS</vt:lpstr>
      <vt:lpstr>等线 Light</vt:lpstr>
      <vt:lpstr>Segoe Print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xiaohui xin</dc:creator>
  <cp:lastModifiedBy>WYJ</cp:lastModifiedBy>
  <cp:revision>17</cp:revision>
  <dcterms:created xsi:type="dcterms:W3CDTF">2026-01-12T05:50:00Z</dcterms:created>
  <dcterms:modified xsi:type="dcterms:W3CDTF">2026-01-19T10:26:36Z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34018835A50A48968E40D6DB366BC105_13</vt:lpwstr>
  </property>
</Properties>
</file>