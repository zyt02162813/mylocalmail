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495" r:id="rId4"/>
    <p:sldId id="2885" r:id="rId5"/>
    <p:sldId id="2883" r:id="rId7"/>
    <p:sldId id="250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D5B0-C7D0-4DBF-8C44-57D030BD7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4A5C6-DF35-4DD5-A250-C232E0717C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6DF64FF5-AF41-8D44-8EA5-C76EFF349F7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A035A6CB-1573-CE49-879F-C20378C53C5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5" Type="http://schemas.openxmlformats.org/officeDocument/2006/relationships/notesSlide" Target="../notesSlides/notesSlide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8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../media/image2.png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占位符 3" descr="高楼大厦的景色&#10;&#10;描述已自动生成"/>
          <p:cNvPicPr>
            <a:picLocks noChangeAspect="1"/>
          </p:cNvPicPr>
          <p:nvPr/>
        </p:nvPicPr>
        <p:blipFill>
          <a:blip r:embed="rId1"/>
          <a:srcRect l="26213" r="26213"/>
          <a:stretch>
            <a:fillRect/>
          </a:stretch>
        </p:blipFill>
        <p:spPr>
          <a:xfrm>
            <a:off x="776136" y="0"/>
            <a:ext cx="4912283" cy="6858000"/>
          </a:xfrm>
          <a:prstGeom prst="rect">
            <a:avLst/>
          </a:prstGeom>
        </p:spPr>
      </p:pic>
      <p:sp>
        <p:nvSpPr>
          <p:cNvPr id="6" name="Rectangle 9"/>
          <p:cNvSpPr/>
          <p:nvPr/>
        </p:nvSpPr>
        <p:spPr>
          <a:xfrm>
            <a:off x="4249277" y="1430504"/>
            <a:ext cx="7942722" cy="37235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76136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7096125" y="2053590"/>
            <a:ext cx="441579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2025</a:t>
            </a:r>
            <a:r>
              <a:rPr lang="zh-CN" altLang="en-US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工作汇报</a:t>
            </a:r>
            <a:endParaRPr lang="en-US" sz="4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TextBox 9"/>
          <p:cNvSpPr txBox="1"/>
          <p:nvPr/>
        </p:nvSpPr>
        <p:spPr>
          <a:xfrm>
            <a:off x="7229711" y="2953707"/>
            <a:ext cx="42821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：刘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娜娜</a:t>
            </a:r>
            <a:endParaRPr lang="zh-CN" altLang="en-US" sz="16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TextBox 42"/>
          <p:cNvSpPr txBox="1"/>
          <p:nvPr/>
        </p:nvSpPr>
        <p:spPr>
          <a:xfrm>
            <a:off x="5560828" y="4017058"/>
            <a:ext cx="5950993" cy="53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Here you can describe the main work report content. 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endParaRPr lang="en-ID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7" name="TextBox 47"/>
          <p:cNvSpPr txBox="1"/>
          <p:nvPr/>
        </p:nvSpPr>
        <p:spPr>
          <a:xfrm>
            <a:off x="8428934" y="5998019"/>
            <a:ext cx="308288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汇报时间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年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月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19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</a:t>
            </a:r>
            <a:endParaRPr lang="en-ID" sz="16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3836" y="244861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述职报告：工作成果展示</a:t>
            </a:r>
            <a:endParaRPr kumimoji="0" lang="zh-CN" altLang="en-US" sz="28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454660" y="922020"/>
            <a:ext cx="3351530" cy="4451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齐鲁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3085" y="1725295"/>
            <a:ext cx="2668270" cy="3789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齐鲁三期实施工作：包括需求细节调研、方案确认、开发进度跟进、细节逻辑沟通确认、上线配置支持，圆满完成高质量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交付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齐鲁运维支持：日常热线咨询、在线文档、微信等问题处理，第一时间响应客户，当天完成并回复，获得客户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认可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日常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：根据客户反馈的业务痛点，结合系统当前逻辑现状，给出合理化建议及方案，顺利完成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需求上线，为客户业务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顺利开展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搭桥铺路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wps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系统集成：应客户方要求，在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个月内完成了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wps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系统集成商务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合同流程、需求评估、方案确认及开发、测试、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上线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41" name="任意形状 40"/>
          <p:cNvSpPr/>
          <p:nvPr/>
        </p:nvSpPr>
        <p:spPr>
          <a:xfrm>
            <a:off x="466089" y="5689601"/>
            <a:ext cx="11262360" cy="756920"/>
          </a:xfrm>
          <a:custGeom>
            <a:avLst/>
            <a:gdLst>
              <a:gd name="connsiteX0" fmla="*/ 0 w 11262360"/>
              <a:gd name="connsiteY0" fmla="*/ 0 h 721360"/>
              <a:gd name="connsiteX1" fmla="*/ 11262360 w 11262360"/>
              <a:gd name="connsiteY1" fmla="*/ 0 h 721360"/>
              <a:gd name="connsiteX2" fmla="*/ 11262360 w 11262360"/>
              <a:gd name="connsiteY2" fmla="*/ 721360 h 721360"/>
              <a:gd name="connsiteX3" fmla="*/ 0 w 11262360"/>
              <a:gd name="connsiteY3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2360" h="721360">
                <a:moveTo>
                  <a:pt x="0" y="0"/>
                </a:moveTo>
                <a:lnTo>
                  <a:pt x="11262360" y="0"/>
                </a:lnTo>
                <a:lnTo>
                  <a:pt x="11262360" y="721360"/>
                </a:lnTo>
                <a:lnTo>
                  <a:pt x="0" y="72136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1"/>
              </a:gs>
            </a:gsLst>
            <a:lin ang="0" scaled="0"/>
          </a:gradFill>
          <a:ln w="89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32601" y="5953400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kumimoji="1" lang="zh-CN" altLang="en-US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单位总营收</a:t>
            </a:r>
            <a:endParaRPr kumimoji="1" lang="zh-CN" altLang="en-US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078480" y="5745050"/>
            <a:ext cx="15985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60</a:t>
            </a:r>
            <a:r>
              <a:rPr kumimoji="1" lang="zh-CN" altLang="en-US" sz="3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亿元</a:t>
            </a:r>
            <a:endParaRPr kumimoji="1" lang="zh-CN" altLang="en-US" sz="3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563096" y="5953400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总销售额提升</a:t>
            </a:r>
            <a:endParaRPr kumimoji="1" lang="zh-CN" altLang="en-US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996856" y="5726762"/>
            <a:ext cx="1217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20%</a:t>
            </a:r>
            <a:endParaRPr kumimoji="1" lang="zh-CN" altLang="en-US" sz="40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8" name="直线连接符 47"/>
          <p:cNvCxnSpPr/>
          <p:nvPr/>
        </p:nvCxnSpPr>
        <p:spPr>
          <a:xfrm>
            <a:off x="4187786" y="5870602"/>
            <a:ext cx="0" cy="4106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/>
          <p:cNvCxnSpPr/>
          <p:nvPr/>
        </p:nvCxnSpPr>
        <p:spPr>
          <a:xfrm>
            <a:off x="8004215" y="5870602"/>
            <a:ext cx="0" cy="4106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4655361" y="5953400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kumimoji="1" lang="zh-CN" altLang="en-US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单位总投资</a:t>
            </a:r>
            <a:endParaRPr kumimoji="1" lang="zh-CN" altLang="en-US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901240" y="5745050"/>
            <a:ext cx="15985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15</a:t>
            </a:r>
            <a:r>
              <a:rPr kumimoji="1" lang="zh-CN" altLang="en-US" sz="3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亿元</a:t>
            </a:r>
            <a:endParaRPr kumimoji="1" lang="zh-CN" altLang="en-US" sz="3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6089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13160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02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97003" y="2660724"/>
            <a:ext cx="14745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GB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kumimoji="1" lang="zh-CN" altLang="en-US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实际情况自行替换</a:t>
            </a:r>
            <a:endParaRPr kumimoji="1" lang="zh-CN" altLang="en-US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68468" y="2429583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gradFill>
                  <a:gsLst>
                    <a:gs pos="70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1"/>
                </a:gra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</a:t>
            </a:r>
            <a:endParaRPr kumimoji="1" lang="zh-CN" altLang="en-US" sz="4000" b="1" dirty="0">
              <a:gradFill>
                <a:gsLst>
                  <a:gs pos="70000">
                    <a:schemeClr val="bg1">
                      <a:alpha val="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2311" y="2660724"/>
            <a:ext cx="14745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GB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kumimoji="1" lang="zh-CN" altLang="en-US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实际情况自行替换</a:t>
            </a:r>
            <a:endParaRPr kumimoji="1" lang="zh-CN" altLang="en-US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074795" y="922020"/>
            <a:ext cx="2097405" cy="44513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瀚晖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364605" y="922020"/>
            <a:ext cx="1724660" cy="44513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平安盐野</a:t>
            </a:r>
            <a:r>
              <a:rPr lang="zh-CN" altLang="en-US">
                <a:solidFill>
                  <a:schemeClr val="bg1"/>
                </a:solidFill>
              </a:rPr>
              <a:t>义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357870" y="922020"/>
            <a:ext cx="1699895" cy="44513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万邦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10326370" y="922020"/>
            <a:ext cx="1412240" cy="445135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其他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84245" y="1725295"/>
            <a:ext cx="2668270" cy="3789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2025-2026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运维合同细节确认及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签署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日常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：应合规要求，对签到数据进行标签识别，并支持申诉，签到信息符合合规要求；与海正药业内部学习平台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API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接口开发对接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瀚晖运维：日常签到数据清洗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反馈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结算：阶段性结算资料准备，包括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HCP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清洗费用、二要素校验、运维费用、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费用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等。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15405" y="1725295"/>
            <a:ext cx="1760220" cy="3789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2025-2026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运维合同细节确认及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签署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日常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：应客户要求，结合系统当前逻辑完成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调整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373745" y="1725295"/>
            <a:ext cx="1760220" cy="3789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一期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&amp;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二期结项资料准备，完成尾款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清算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2025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年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工时确认及费用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结算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2026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日常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：需求评估、协调开发资源、开发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沟通跟进及上线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支持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332085" y="1725295"/>
            <a:ext cx="1760220" cy="37890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复宏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2025-2026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运维合同流程跟进，包括运维费计算方式调整、沟通及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确认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复宏运维费账号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跟进结算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罗欣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2025-2026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运维合同流程跟进，包括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包括运维费计算方式调整、沟通及确认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  <a:sym typeface="+mn-ea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凯西结算资料整理、</a:t>
            </a:r>
            <a:r>
              <a:rPr lang="en-US" altLang="zh-CN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CR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需求</a:t>
            </a:r>
            <a:r>
              <a: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rPr>
              <a:t>跟进</a:t>
            </a: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marL="171450" indent="-1714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effectLst/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3836" y="244861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述职报告：反思与成长</a:t>
            </a:r>
            <a:endParaRPr lang="zh-CN" altLang="en-US" sz="28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任意形状 35"/>
          <p:cNvSpPr/>
          <p:nvPr/>
        </p:nvSpPr>
        <p:spPr>
          <a:xfrm>
            <a:off x="618490" y="1639571"/>
            <a:ext cx="3135630" cy="1250950"/>
          </a:xfrm>
          <a:custGeom>
            <a:avLst/>
            <a:gdLst>
              <a:gd name="connsiteX0" fmla="*/ 0 w 3135630"/>
              <a:gd name="connsiteY0" fmla="*/ 0 h 1250950"/>
              <a:gd name="connsiteX1" fmla="*/ 3135630 w 3135630"/>
              <a:gd name="connsiteY1" fmla="*/ 0 h 1250950"/>
              <a:gd name="connsiteX2" fmla="*/ 3135630 w 3135630"/>
              <a:gd name="connsiteY2" fmla="*/ 1250950 h 1250950"/>
              <a:gd name="connsiteX3" fmla="*/ 0 w 3135630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形状 37"/>
          <p:cNvSpPr/>
          <p:nvPr/>
        </p:nvSpPr>
        <p:spPr>
          <a:xfrm>
            <a:off x="618490" y="3346451"/>
            <a:ext cx="3135630" cy="1250950"/>
          </a:xfrm>
          <a:custGeom>
            <a:avLst/>
            <a:gdLst>
              <a:gd name="connsiteX0" fmla="*/ 0 w 3135630"/>
              <a:gd name="connsiteY0" fmla="*/ 0 h 1250950"/>
              <a:gd name="connsiteX1" fmla="*/ 3135630 w 3135630"/>
              <a:gd name="connsiteY1" fmla="*/ 0 h 1250950"/>
              <a:gd name="connsiteX2" fmla="*/ 3135630 w 3135630"/>
              <a:gd name="connsiteY2" fmla="*/ 1250950 h 1250950"/>
              <a:gd name="connsiteX3" fmla="*/ 0 w 3135630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形状 39"/>
          <p:cNvSpPr/>
          <p:nvPr/>
        </p:nvSpPr>
        <p:spPr>
          <a:xfrm>
            <a:off x="618490" y="5052061"/>
            <a:ext cx="3135630" cy="1250950"/>
          </a:xfrm>
          <a:custGeom>
            <a:avLst/>
            <a:gdLst>
              <a:gd name="connsiteX0" fmla="*/ 0 w 3135630"/>
              <a:gd name="connsiteY0" fmla="*/ 0 h 1250950"/>
              <a:gd name="connsiteX1" fmla="*/ 3135630 w 3135630"/>
              <a:gd name="connsiteY1" fmla="*/ 0 h 1250950"/>
              <a:gd name="connsiteX2" fmla="*/ 3135630 w 3135630"/>
              <a:gd name="connsiteY2" fmla="*/ 1250950 h 1250950"/>
              <a:gd name="connsiteX3" fmla="*/ 0 w 3135630"/>
              <a:gd name="connsiteY3" fmla="*/ 1250950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5630" h="1250950">
                <a:moveTo>
                  <a:pt x="0" y="0"/>
                </a:moveTo>
                <a:lnTo>
                  <a:pt x="3135630" y="0"/>
                </a:lnTo>
                <a:lnTo>
                  <a:pt x="3135630" y="1250950"/>
                </a:lnTo>
                <a:lnTo>
                  <a:pt x="0" y="1250950"/>
                </a:lnTo>
                <a:close/>
              </a:path>
            </a:pathLst>
          </a:custGeom>
          <a:solidFill>
            <a:schemeClr val="bg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7762" y="3073120"/>
            <a:ext cx="2336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技能提升不足</a:t>
            </a:r>
            <a:endParaRPr kumimoji="1" lang="zh-CN" altLang="en-US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98191" y="3527930"/>
            <a:ext cx="18758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</a:t>
            </a:r>
            <a:endParaRPr kumimoji="1" lang="zh-CN" altLang="en-US" sz="3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5" name="Freeform 16"/>
          <p:cNvSpPr>
            <a:spLocks noChangeArrowheads="1"/>
          </p:cNvSpPr>
          <p:nvPr/>
        </p:nvSpPr>
        <p:spPr bwMode="auto">
          <a:xfrm>
            <a:off x="3308060" y="3110324"/>
            <a:ext cx="244041" cy="271727"/>
          </a:xfrm>
          <a:custGeom>
            <a:avLst/>
            <a:gdLst>
              <a:gd name="T0" fmla="*/ 932 w 1051"/>
              <a:gd name="T1" fmla="*/ 1050 h 1169"/>
              <a:gd name="T2" fmla="*/ 932 w 1051"/>
              <a:gd name="T3" fmla="*/ 411 h 1169"/>
              <a:gd name="T4" fmla="*/ 117 w 1051"/>
              <a:gd name="T5" fmla="*/ 411 h 1169"/>
              <a:gd name="T6" fmla="*/ 117 w 1051"/>
              <a:gd name="T7" fmla="*/ 1050 h 1169"/>
              <a:gd name="T8" fmla="*/ 932 w 1051"/>
              <a:gd name="T9" fmla="*/ 1050 h 1169"/>
              <a:gd name="T10" fmla="*/ 932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2 w 1051"/>
              <a:gd name="T17" fmla="*/ 1168 h 1169"/>
              <a:gd name="T18" fmla="*/ 117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7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7 w 1051"/>
              <a:gd name="T35" fmla="*/ 118 h 1169"/>
              <a:gd name="T36" fmla="*/ 757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2 w 1051"/>
              <a:gd name="T43" fmla="*/ 118 h 1169"/>
              <a:gd name="T44" fmla="*/ 369 w 1051"/>
              <a:gd name="T45" fmla="*/ 935 h 1169"/>
              <a:gd name="T46" fmla="*/ 306 w 1051"/>
              <a:gd name="T47" fmla="*/ 873 h 1169"/>
              <a:gd name="T48" fmla="*/ 448 w 1051"/>
              <a:gd name="T49" fmla="*/ 730 h 1169"/>
              <a:gd name="T50" fmla="*/ 306 w 1051"/>
              <a:gd name="T51" fmla="*/ 588 h 1169"/>
              <a:gd name="T52" fmla="*/ 369 w 1051"/>
              <a:gd name="T53" fmla="*/ 525 h 1169"/>
              <a:gd name="T54" fmla="*/ 511 w 1051"/>
              <a:gd name="T55" fmla="*/ 668 h 1169"/>
              <a:gd name="T56" fmla="*/ 653 w 1051"/>
              <a:gd name="T57" fmla="*/ 525 h 1169"/>
              <a:gd name="T58" fmla="*/ 714 w 1051"/>
              <a:gd name="T59" fmla="*/ 588 h 1169"/>
              <a:gd name="T60" fmla="*/ 571 w 1051"/>
              <a:gd name="T61" fmla="*/ 730 h 1169"/>
              <a:gd name="T62" fmla="*/ 714 w 1051"/>
              <a:gd name="T63" fmla="*/ 873 h 1169"/>
              <a:gd name="T64" fmla="*/ 653 w 1051"/>
              <a:gd name="T65" fmla="*/ 935 h 1169"/>
              <a:gd name="T66" fmla="*/ 511 w 1051"/>
              <a:gd name="T67" fmla="*/ 793 h 1169"/>
              <a:gd name="T68" fmla="*/ 369 w 1051"/>
              <a:gd name="T69" fmla="*/ 9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9"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369" y="935"/>
                </a:moveTo>
                <a:lnTo>
                  <a:pt x="306" y="873"/>
                </a:lnTo>
                <a:lnTo>
                  <a:pt x="448" y="730"/>
                </a:lnTo>
                <a:lnTo>
                  <a:pt x="306" y="588"/>
                </a:lnTo>
                <a:lnTo>
                  <a:pt x="369" y="525"/>
                </a:lnTo>
                <a:lnTo>
                  <a:pt x="511" y="668"/>
                </a:lnTo>
                <a:lnTo>
                  <a:pt x="653" y="525"/>
                </a:lnTo>
                <a:lnTo>
                  <a:pt x="714" y="588"/>
                </a:lnTo>
                <a:lnTo>
                  <a:pt x="571" y="730"/>
                </a:lnTo>
                <a:lnTo>
                  <a:pt x="714" y="873"/>
                </a:lnTo>
                <a:lnTo>
                  <a:pt x="653" y="935"/>
                </a:lnTo>
                <a:lnTo>
                  <a:pt x="511" y="793"/>
                </a:lnTo>
                <a:lnTo>
                  <a:pt x="369" y="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57" name="Freeform 16"/>
          <p:cNvSpPr>
            <a:spLocks noChangeArrowheads="1"/>
          </p:cNvSpPr>
          <p:nvPr/>
        </p:nvSpPr>
        <p:spPr bwMode="auto">
          <a:xfrm>
            <a:off x="3308060" y="4806560"/>
            <a:ext cx="244041" cy="271727"/>
          </a:xfrm>
          <a:custGeom>
            <a:avLst/>
            <a:gdLst>
              <a:gd name="T0" fmla="*/ 932 w 1051"/>
              <a:gd name="T1" fmla="*/ 1050 h 1169"/>
              <a:gd name="T2" fmla="*/ 932 w 1051"/>
              <a:gd name="T3" fmla="*/ 411 h 1169"/>
              <a:gd name="T4" fmla="*/ 117 w 1051"/>
              <a:gd name="T5" fmla="*/ 411 h 1169"/>
              <a:gd name="T6" fmla="*/ 117 w 1051"/>
              <a:gd name="T7" fmla="*/ 1050 h 1169"/>
              <a:gd name="T8" fmla="*/ 932 w 1051"/>
              <a:gd name="T9" fmla="*/ 1050 h 1169"/>
              <a:gd name="T10" fmla="*/ 932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2 w 1051"/>
              <a:gd name="T17" fmla="*/ 1168 h 1169"/>
              <a:gd name="T18" fmla="*/ 117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7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7 w 1051"/>
              <a:gd name="T35" fmla="*/ 118 h 1169"/>
              <a:gd name="T36" fmla="*/ 757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2 w 1051"/>
              <a:gd name="T43" fmla="*/ 118 h 1169"/>
              <a:gd name="T44" fmla="*/ 369 w 1051"/>
              <a:gd name="T45" fmla="*/ 935 h 1169"/>
              <a:gd name="T46" fmla="*/ 306 w 1051"/>
              <a:gd name="T47" fmla="*/ 873 h 1169"/>
              <a:gd name="T48" fmla="*/ 448 w 1051"/>
              <a:gd name="T49" fmla="*/ 730 h 1169"/>
              <a:gd name="T50" fmla="*/ 306 w 1051"/>
              <a:gd name="T51" fmla="*/ 588 h 1169"/>
              <a:gd name="T52" fmla="*/ 369 w 1051"/>
              <a:gd name="T53" fmla="*/ 525 h 1169"/>
              <a:gd name="T54" fmla="*/ 511 w 1051"/>
              <a:gd name="T55" fmla="*/ 668 h 1169"/>
              <a:gd name="T56" fmla="*/ 653 w 1051"/>
              <a:gd name="T57" fmla="*/ 525 h 1169"/>
              <a:gd name="T58" fmla="*/ 714 w 1051"/>
              <a:gd name="T59" fmla="*/ 588 h 1169"/>
              <a:gd name="T60" fmla="*/ 571 w 1051"/>
              <a:gd name="T61" fmla="*/ 730 h 1169"/>
              <a:gd name="T62" fmla="*/ 714 w 1051"/>
              <a:gd name="T63" fmla="*/ 873 h 1169"/>
              <a:gd name="T64" fmla="*/ 653 w 1051"/>
              <a:gd name="T65" fmla="*/ 935 h 1169"/>
              <a:gd name="T66" fmla="*/ 511 w 1051"/>
              <a:gd name="T67" fmla="*/ 793 h 1169"/>
              <a:gd name="T68" fmla="*/ 369 w 1051"/>
              <a:gd name="T69" fmla="*/ 9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9"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369" y="935"/>
                </a:moveTo>
                <a:lnTo>
                  <a:pt x="306" y="873"/>
                </a:lnTo>
                <a:lnTo>
                  <a:pt x="448" y="730"/>
                </a:lnTo>
                <a:lnTo>
                  <a:pt x="306" y="588"/>
                </a:lnTo>
                <a:lnTo>
                  <a:pt x="369" y="525"/>
                </a:lnTo>
                <a:lnTo>
                  <a:pt x="511" y="668"/>
                </a:lnTo>
                <a:lnTo>
                  <a:pt x="653" y="525"/>
                </a:lnTo>
                <a:lnTo>
                  <a:pt x="714" y="588"/>
                </a:lnTo>
                <a:lnTo>
                  <a:pt x="571" y="730"/>
                </a:lnTo>
                <a:lnTo>
                  <a:pt x="714" y="873"/>
                </a:lnTo>
                <a:lnTo>
                  <a:pt x="653" y="935"/>
                </a:lnTo>
                <a:lnTo>
                  <a:pt x="511" y="793"/>
                </a:lnTo>
                <a:lnTo>
                  <a:pt x="369" y="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/>
          </a:p>
        </p:txBody>
      </p:sp>
      <p:sp>
        <p:nvSpPr>
          <p:cNvPr id="61" name="文本框 60"/>
          <p:cNvSpPr txBox="1"/>
          <p:nvPr/>
        </p:nvSpPr>
        <p:spPr>
          <a:xfrm>
            <a:off x="4927856" y="6122513"/>
            <a:ext cx="2336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持续学习、协作沟通</a:t>
            </a:r>
            <a:endParaRPr kumimoji="1" lang="zh-CN" altLang="en-US" sz="1600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97865" y="1437640"/>
            <a:ext cx="10835005" cy="4922520"/>
            <a:chOff x="697865" y="1437640"/>
            <a:chExt cx="10835005" cy="4922520"/>
          </a:xfrm>
        </p:grpSpPr>
        <p:grpSp>
          <p:nvGrpSpPr>
            <p:cNvPr id="18" name="组合 17"/>
            <p:cNvGrpSpPr/>
            <p:nvPr/>
          </p:nvGrpSpPr>
          <p:grpSpPr>
            <a:xfrm>
              <a:off x="1271270" y="4121150"/>
              <a:ext cx="9649460" cy="1029335"/>
              <a:chOff x="1271270" y="4121150"/>
              <a:chExt cx="9649460" cy="1029335"/>
            </a:xfrm>
          </p:grpSpPr>
          <p:sp>
            <p:nvSpPr>
              <p:cNvPr id="19" name="箭头: 下 7" descr="e7d195523061f1c0c30ee18c1b05f65d12b38e2533cb2ccdAE0CC34CB5CBEBFAEC353FED4DECE97C3E379FD1D933F5E4DC18EF8EA6B7A1130D5F6DE9DD2BE4B0A8C9126ACE5083D1F5A9E323B29CCFC7A0F015870C7EDFD497DF10C5E614BBE82DF23E8101B4FD55052F7945C8867B77930E0CA200F91730BB78567110BDAEEFF7FF113567E2D723"/>
              <p:cNvSpPr/>
              <p:nvPr>
                <p:custDataLst>
                  <p:tags r:id="rId1"/>
                </p:custDataLst>
              </p:nvPr>
            </p:nvSpPr>
            <p:spPr>
              <a:xfrm flipV="1">
                <a:off x="1271270" y="4121150"/>
                <a:ext cx="9649460" cy="1029335"/>
              </a:xfrm>
              <a:prstGeom prst="downArrow">
                <a:avLst>
                  <a:gd name="adj1" fmla="val 100000"/>
                  <a:gd name="adj2" fmla="val 100000"/>
                </a:avLst>
              </a:prstGeom>
              <a:gradFill flip="none" rotWithShape="1">
                <a:gsLst>
                  <a:gs pos="23000">
                    <a:schemeClr val="accent2">
                      <a:lumMod val="60000"/>
                      <a:lumOff val="40000"/>
                      <a:alpha val="0"/>
                    </a:schemeClr>
                  </a:gs>
                  <a:gs pos="97000">
                    <a:schemeClr val="accent2">
                      <a:lumMod val="60000"/>
                      <a:lumOff val="40000"/>
                      <a:alpha val="3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箭头: 下 8" descr="e7d195523061f1c0c30ee18c1b05f65d12b38e2533cb2ccdAE0CC34CB5CBEBFAEC353FED4DECE97C3E379FD1D933F5E4DC18EF8EA6B7A1130D5F6DE9DD2BE4B0A8C9126ACE5083D1F5A9E323B29CCFC7A0F015870C7EDFD497DF10C5E614BBE82DF23E8101B4FD55052F7945C8867B77930E0CA200F91730BB78567110BDAEEFF7FF113567E2D723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4246245" y="4135120"/>
                <a:ext cx="3700145" cy="1005205"/>
              </a:xfrm>
              <a:prstGeom prst="downArrow">
                <a:avLst>
                  <a:gd name="adj1" fmla="val 100000"/>
                  <a:gd name="adj2" fmla="val 100000"/>
                </a:avLst>
              </a:prstGeom>
              <a:gradFill flip="none" rotWithShape="1">
                <a:gsLst>
                  <a:gs pos="23000">
                    <a:schemeClr val="accent2">
                      <a:lumMod val="60000"/>
                      <a:lumOff val="40000"/>
                      <a:alpha val="0"/>
                    </a:schemeClr>
                  </a:gs>
                  <a:gs pos="97000">
                    <a:schemeClr val="accent2">
                      <a:lumMod val="60000"/>
                      <a:lumOff val="40000"/>
                      <a:alpha val="3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711835" y="1437640"/>
              <a:ext cx="10796270" cy="2740858"/>
              <a:chOff x="711835" y="1437640"/>
              <a:chExt cx="10796270" cy="274085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11835" y="1437640"/>
                <a:ext cx="10796270" cy="24885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41300" dir="5400000" sx="102000" sy="102000" algn="ctr" rotWithShape="0">
                  <a:schemeClr val="accent1"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任意多边形: 形状 44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7157535" y="4078863"/>
                <a:ext cx="4208727" cy="99635"/>
              </a:xfrm>
              <a:custGeom>
                <a:avLst/>
                <a:gdLst>
                  <a:gd name="connsiteX0" fmla="*/ 0 w 4208727"/>
                  <a:gd name="connsiteY0" fmla="*/ 76774 h 99635"/>
                  <a:gd name="connsiteX1" fmla="*/ 0 w 4208727"/>
                  <a:gd name="connsiteY1" fmla="*/ 76775 h 99635"/>
                  <a:gd name="connsiteX2" fmla="*/ 0 w 4208727"/>
                  <a:gd name="connsiteY2" fmla="*/ 76775 h 99635"/>
                  <a:gd name="connsiteX3" fmla="*/ 3865827 w 4208727"/>
                  <a:gd name="connsiteY3" fmla="*/ 0 h 99635"/>
                  <a:gd name="connsiteX4" fmla="*/ 4208727 w 4208727"/>
                  <a:gd name="connsiteY4" fmla="*/ 99634 h 99635"/>
                  <a:gd name="connsiteX5" fmla="*/ 3937142 w 4208727"/>
                  <a:gd name="connsiteY5" fmla="*/ 99634 h 99635"/>
                  <a:gd name="connsiteX6" fmla="*/ 3937140 w 4208727"/>
                  <a:gd name="connsiteY6" fmla="*/ 99635 h 99635"/>
                  <a:gd name="connsiteX7" fmla="*/ 22860 w 4208727"/>
                  <a:gd name="connsiteY7" fmla="*/ 99634 h 99635"/>
                  <a:gd name="connsiteX8" fmla="*/ 6696 w 4208727"/>
                  <a:gd name="connsiteY8" fmla="*/ 92939 h 99635"/>
                  <a:gd name="connsiteX9" fmla="*/ 0 w 4208727"/>
                  <a:gd name="connsiteY9" fmla="*/ 76775 h 99635"/>
                  <a:gd name="connsiteX10" fmla="*/ 6696 w 4208727"/>
                  <a:gd name="connsiteY10" fmla="*/ 60611 h 99635"/>
                  <a:gd name="connsiteX11" fmla="*/ 22860 w 4208727"/>
                  <a:gd name="connsiteY11" fmla="*/ 53915 h 99635"/>
                  <a:gd name="connsiteX12" fmla="*/ 3865827 w 4208727"/>
                  <a:gd name="connsiteY12" fmla="*/ 53915 h 99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08727" h="99635">
                    <a:moveTo>
                      <a:pt x="0" y="76774"/>
                    </a:moveTo>
                    <a:lnTo>
                      <a:pt x="0" y="76775"/>
                    </a:lnTo>
                    <a:lnTo>
                      <a:pt x="0" y="76775"/>
                    </a:lnTo>
                    <a:close/>
                    <a:moveTo>
                      <a:pt x="3865827" y="0"/>
                    </a:moveTo>
                    <a:lnTo>
                      <a:pt x="4208727" y="99634"/>
                    </a:lnTo>
                    <a:lnTo>
                      <a:pt x="3937142" y="99634"/>
                    </a:lnTo>
                    <a:lnTo>
                      <a:pt x="3937140" y="99635"/>
                    </a:lnTo>
                    <a:lnTo>
                      <a:pt x="22860" y="99634"/>
                    </a:lnTo>
                    <a:cubicBezTo>
                      <a:pt x="16548" y="99634"/>
                      <a:pt x="10833" y="97075"/>
                      <a:pt x="6696" y="92939"/>
                    </a:cubicBezTo>
                    <a:lnTo>
                      <a:pt x="0" y="76775"/>
                    </a:lnTo>
                    <a:lnTo>
                      <a:pt x="6696" y="60611"/>
                    </a:lnTo>
                    <a:cubicBezTo>
                      <a:pt x="10833" y="56474"/>
                      <a:pt x="16548" y="53915"/>
                      <a:pt x="22860" y="53915"/>
                    </a:cubicBezTo>
                    <a:lnTo>
                      <a:pt x="3865827" y="5391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alpha val="0"/>
                    </a:schemeClr>
                  </a:gs>
                  <a:gs pos="0">
                    <a:schemeClr val="accent2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任意多边形: 形状 43"/>
              <p:cNvSpPr/>
              <p:nvPr>
                <p:custDataLst>
                  <p:tags r:id="rId4"/>
                </p:custDataLst>
              </p:nvPr>
            </p:nvSpPr>
            <p:spPr>
              <a:xfrm flipH="1" flipV="1">
                <a:off x="805193" y="4078863"/>
                <a:ext cx="4208727" cy="99635"/>
              </a:xfrm>
              <a:custGeom>
                <a:avLst/>
                <a:gdLst>
                  <a:gd name="connsiteX0" fmla="*/ 0 w 4208727"/>
                  <a:gd name="connsiteY0" fmla="*/ 76774 h 99635"/>
                  <a:gd name="connsiteX1" fmla="*/ 0 w 4208727"/>
                  <a:gd name="connsiteY1" fmla="*/ 76775 h 99635"/>
                  <a:gd name="connsiteX2" fmla="*/ 0 w 4208727"/>
                  <a:gd name="connsiteY2" fmla="*/ 76775 h 99635"/>
                  <a:gd name="connsiteX3" fmla="*/ 3865827 w 4208727"/>
                  <a:gd name="connsiteY3" fmla="*/ 0 h 99635"/>
                  <a:gd name="connsiteX4" fmla="*/ 3865827 w 4208727"/>
                  <a:gd name="connsiteY4" fmla="*/ 53915 h 99635"/>
                  <a:gd name="connsiteX5" fmla="*/ 22860 w 4208727"/>
                  <a:gd name="connsiteY5" fmla="*/ 53915 h 99635"/>
                  <a:gd name="connsiteX6" fmla="*/ 6696 w 4208727"/>
                  <a:gd name="connsiteY6" fmla="*/ 60611 h 99635"/>
                  <a:gd name="connsiteX7" fmla="*/ 0 w 4208727"/>
                  <a:gd name="connsiteY7" fmla="*/ 76775 h 99635"/>
                  <a:gd name="connsiteX8" fmla="*/ 6696 w 4208727"/>
                  <a:gd name="connsiteY8" fmla="*/ 92939 h 99635"/>
                  <a:gd name="connsiteX9" fmla="*/ 22860 w 4208727"/>
                  <a:gd name="connsiteY9" fmla="*/ 99634 h 99635"/>
                  <a:gd name="connsiteX10" fmla="*/ 3937140 w 4208727"/>
                  <a:gd name="connsiteY10" fmla="*/ 99635 h 99635"/>
                  <a:gd name="connsiteX11" fmla="*/ 3937142 w 4208727"/>
                  <a:gd name="connsiteY11" fmla="*/ 99634 h 99635"/>
                  <a:gd name="connsiteX12" fmla="*/ 4208727 w 4208727"/>
                  <a:gd name="connsiteY12" fmla="*/ 99634 h 99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08727" h="99635">
                    <a:moveTo>
                      <a:pt x="0" y="76774"/>
                    </a:moveTo>
                    <a:lnTo>
                      <a:pt x="0" y="76775"/>
                    </a:lnTo>
                    <a:lnTo>
                      <a:pt x="0" y="76775"/>
                    </a:lnTo>
                    <a:close/>
                    <a:moveTo>
                      <a:pt x="3865827" y="0"/>
                    </a:moveTo>
                    <a:lnTo>
                      <a:pt x="3865827" y="53915"/>
                    </a:lnTo>
                    <a:lnTo>
                      <a:pt x="22860" y="53915"/>
                    </a:lnTo>
                    <a:cubicBezTo>
                      <a:pt x="16548" y="53915"/>
                      <a:pt x="10833" y="56474"/>
                      <a:pt x="6696" y="60611"/>
                    </a:cubicBezTo>
                    <a:lnTo>
                      <a:pt x="0" y="76775"/>
                    </a:lnTo>
                    <a:lnTo>
                      <a:pt x="6696" y="92939"/>
                    </a:lnTo>
                    <a:cubicBezTo>
                      <a:pt x="10833" y="97075"/>
                      <a:pt x="16548" y="99634"/>
                      <a:pt x="22860" y="99634"/>
                    </a:cubicBezTo>
                    <a:lnTo>
                      <a:pt x="3937140" y="99635"/>
                    </a:lnTo>
                    <a:lnTo>
                      <a:pt x="3937142" y="99634"/>
                    </a:lnTo>
                    <a:lnTo>
                      <a:pt x="4208727" y="99634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>
                      <a:alpha val="0"/>
                    </a:schemeClr>
                  </a:gs>
                  <a:gs pos="0">
                    <a:schemeClr val="accent2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19" name="矩形: 圆角 218"/>
            <p:cNvSpPr/>
            <p:nvPr>
              <p:custDataLst>
                <p:tags r:id="rId5"/>
              </p:custDataLst>
            </p:nvPr>
          </p:nvSpPr>
          <p:spPr>
            <a:xfrm>
              <a:off x="697865" y="5885180"/>
              <a:ext cx="10835005" cy="47498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2">
                    <a:alpha val="2000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805180" y="2380298"/>
              <a:ext cx="2501900" cy="453390"/>
              <a:chOff x="3920910" y="3691208"/>
              <a:chExt cx="3359364" cy="584354"/>
            </a:xfrm>
          </p:grpSpPr>
          <p:sp>
            <p:nvSpPr>
              <p:cNvPr id="99" name="矩形: 圆角 98"/>
              <p:cNvSpPr/>
              <p:nvPr/>
            </p:nvSpPr>
            <p:spPr>
              <a:xfrm>
                <a:off x="3920910" y="3691208"/>
                <a:ext cx="3359364" cy="58435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3984275" y="3727804"/>
                <a:ext cx="3239612" cy="511160"/>
              </a:xfrm>
              <a:prstGeom prst="roundRect">
                <a:avLst>
                  <a:gd name="adj" fmla="val 48599"/>
                </a:avLst>
              </a:pr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1055370" y="2453640"/>
              <a:ext cx="2001520" cy="306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prstClr val="white"/>
                  </a:solidFill>
                </a:rPr>
                <a:t>业务知识深度不足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3491230" y="2380298"/>
              <a:ext cx="2501900" cy="453390"/>
              <a:chOff x="3920910" y="3691208"/>
              <a:chExt cx="3359364" cy="584354"/>
            </a:xfrm>
          </p:grpSpPr>
          <p:sp>
            <p:nvSpPr>
              <p:cNvPr id="28" name="矩形: 圆角 18"/>
              <p:cNvSpPr/>
              <p:nvPr/>
            </p:nvSpPr>
            <p:spPr>
              <a:xfrm>
                <a:off x="3920910" y="3691208"/>
                <a:ext cx="3359364" cy="58435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矩形: 圆角 19"/>
              <p:cNvSpPr/>
              <p:nvPr/>
            </p:nvSpPr>
            <p:spPr>
              <a:xfrm>
                <a:off x="3984275" y="3727804"/>
                <a:ext cx="3239612" cy="511160"/>
              </a:xfrm>
              <a:prstGeom prst="roundRect">
                <a:avLst>
                  <a:gd name="adj" fmla="val 48599"/>
                </a:avLst>
              </a:pr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3741420" y="2453640"/>
              <a:ext cx="2001520" cy="306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部门沟通协作障碍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6177280" y="2380298"/>
              <a:ext cx="2501900" cy="453390"/>
              <a:chOff x="3920910" y="3691208"/>
              <a:chExt cx="3359364" cy="584354"/>
            </a:xfrm>
          </p:grpSpPr>
          <p:sp>
            <p:nvSpPr>
              <p:cNvPr id="60" name="矩形: 圆角 23"/>
              <p:cNvSpPr/>
              <p:nvPr/>
            </p:nvSpPr>
            <p:spPr>
              <a:xfrm>
                <a:off x="3920910" y="3691208"/>
                <a:ext cx="3359364" cy="58435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矩形: 圆角 24"/>
              <p:cNvSpPr/>
              <p:nvPr/>
            </p:nvSpPr>
            <p:spPr>
              <a:xfrm>
                <a:off x="3984275" y="3727804"/>
                <a:ext cx="3239612" cy="511160"/>
              </a:xfrm>
              <a:prstGeom prst="roundRect">
                <a:avLst>
                  <a:gd name="adj" fmla="val 48599"/>
                </a:avLst>
              </a:prstGeom>
              <a:solidFill>
                <a:srgbClr val="FF99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63" name="文本框 62"/>
            <p:cNvSpPr txBox="1"/>
            <p:nvPr/>
          </p:nvSpPr>
          <p:spPr>
            <a:xfrm>
              <a:off x="6427470" y="2453640"/>
              <a:ext cx="2001520" cy="306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建立业务知识库系统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8863330" y="2380298"/>
              <a:ext cx="2501900" cy="453390"/>
              <a:chOff x="3920910" y="3691208"/>
              <a:chExt cx="3359364" cy="584354"/>
            </a:xfrm>
          </p:grpSpPr>
          <p:sp>
            <p:nvSpPr>
              <p:cNvPr id="65" name="矩形: 圆角 28"/>
              <p:cNvSpPr/>
              <p:nvPr/>
            </p:nvSpPr>
            <p:spPr>
              <a:xfrm>
                <a:off x="3920910" y="3691208"/>
                <a:ext cx="3359364" cy="58435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矩形: 圆角 32"/>
              <p:cNvSpPr/>
              <p:nvPr/>
            </p:nvSpPr>
            <p:spPr>
              <a:xfrm>
                <a:off x="3984275" y="3727804"/>
                <a:ext cx="3239612" cy="511160"/>
              </a:xfrm>
              <a:prstGeom prst="roundRect">
                <a:avLst>
                  <a:gd name="adj" fmla="val 48599"/>
                </a:avLst>
              </a:prstGeom>
              <a:solidFill>
                <a:srgbClr val="FF99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46745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9113520" y="2453640"/>
              <a:ext cx="2001520" cy="306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优化跨部门沟通机制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>
            <a:xfrm>
              <a:off x="3399168" y="2441575"/>
              <a:ext cx="0" cy="118800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6085218" y="2441575"/>
              <a:ext cx="0" cy="118800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8771268" y="2441575"/>
              <a:ext cx="0" cy="118800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2315528" y="5969635"/>
              <a:ext cx="20015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defTabSz="913765">
                <a:spcAft>
                  <a:spcPts val="1200"/>
                </a:spcAft>
                <a:defRPr/>
              </a:pPr>
              <a:r>
                <a:rPr lang="zh-CN" altLang="en-US" sz="1400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rPr>
                <a:t>个人成长</a:t>
              </a:r>
              <a:endParaRPr lang="zh-CN" altLang="en-US" sz="1400" dirty="0"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7803198" y="5969635"/>
              <a:ext cx="200152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indent="0" algn="ctr">
                <a:defRPr sz="2400" b="1">
                  <a:gradFill flip="none" rotWithShape="1">
                    <a:gsLst>
                      <a:gs pos="100000">
                        <a:srgbClr val="1BA2F1"/>
                      </a:gs>
                      <a:gs pos="0">
                        <a:srgbClr val="00A9A0"/>
                      </a:gs>
                    </a:gsLst>
                    <a:lin ang="0" scaled="1"/>
                    <a:tileRect/>
                  </a:gradFill>
                </a:defRPr>
              </a:lvl1pPr>
            </a:lstStyle>
            <a:p>
              <a:pPr defTabSz="913765">
                <a:spcAft>
                  <a:spcPts val="1200"/>
                </a:spcAft>
                <a:defRPr/>
              </a:pPr>
              <a:r>
                <a:rPr lang="zh-CN" altLang="en-US" sz="1400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rPr>
                <a:t>团队成长</a:t>
              </a:r>
              <a:endParaRPr lang="zh-CN" altLang="en-US" sz="1400" dirty="0"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endParaRPr>
            </a:p>
          </p:txBody>
        </p:sp>
        <p:sp>
          <p:nvSpPr>
            <p:cNvPr id="228" name="任意多边形: 形状 227"/>
            <p:cNvSpPr/>
            <p:nvPr>
              <p:custDataLst>
                <p:tags r:id="rId6"/>
              </p:custDataLst>
            </p:nvPr>
          </p:nvSpPr>
          <p:spPr>
            <a:xfrm rot="5400000">
              <a:off x="6022023" y="5598795"/>
              <a:ext cx="186690" cy="1047750"/>
            </a:xfrm>
            <a:custGeom>
              <a:avLst/>
              <a:gdLst>
                <a:gd name="connsiteX0" fmla="*/ 139006 w 2359330"/>
                <a:gd name="connsiteY0" fmla="*/ 2661417 h 6131455"/>
                <a:gd name="connsiteX1" fmla="*/ 2357928 w 2359330"/>
                <a:gd name="connsiteY1" fmla="*/ 0 h 6131455"/>
                <a:gd name="connsiteX2" fmla="*/ 2359202 w 2359330"/>
                <a:gd name="connsiteY2" fmla="*/ 111710 h 6131455"/>
                <a:gd name="connsiteX3" fmla="*/ 2359202 w 2359330"/>
                <a:gd name="connsiteY3" fmla="*/ 6131456 h 6131455"/>
                <a:gd name="connsiteX4" fmla="*/ 1414023 w 2359330"/>
                <a:gd name="connsiteY4" fmla="*/ 6131456 h 6131455"/>
                <a:gd name="connsiteX5" fmla="*/ 1413199 w 2359330"/>
                <a:gd name="connsiteY5" fmla="*/ 2831302 h 6131455"/>
                <a:gd name="connsiteX6" fmla="*/ 1340626 w 2359330"/>
                <a:gd name="connsiteY6" fmla="*/ 2829505 h 6131455"/>
                <a:gd name="connsiteX7" fmla="*/ 0 w 2359330"/>
                <a:gd name="connsiteY7" fmla="*/ 2829805 h 6131455"/>
                <a:gd name="connsiteX8" fmla="*/ 0 w 2359330"/>
                <a:gd name="connsiteY8" fmla="*/ 2824414 h 6131455"/>
                <a:gd name="connsiteX9" fmla="*/ 139006 w 2359330"/>
                <a:gd name="connsiteY9" fmla="*/ 2661417 h 613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59330" h="6131455">
                  <a:moveTo>
                    <a:pt x="139006" y="2661417"/>
                  </a:moveTo>
                  <a:cubicBezTo>
                    <a:pt x="878447" y="1774103"/>
                    <a:pt x="1618263" y="887089"/>
                    <a:pt x="2357928" y="0"/>
                  </a:cubicBezTo>
                  <a:cubicBezTo>
                    <a:pt x="2360026" y="37212"/>
                    <a:pt x="2359127" y="74498"/>
                    <a:pt x="2359202" y="111710"/>
                  </a:cubicBezTo>
                  <a:cubicBezTo>
                    <a:pt x="2359277" y="2118292"/>
                    <a:pt x="2359127" y="4124874"/>
                    <a:pt x="2359202" y="6131456"/>
                  </a:cubicBezTo>
                  <a:lnTo>
                    <a:pt x="1414023" y="6131456"/>
                  </a:lnTo>
                  <a:cubicBezTo>
                    <a:pt x="1411926" y="5031430"/>
                    <a:pt x="1413499" y="3931329"/>
                    <a:pt x="1413199" y="2831302"/>
                  </a:cubicBezTo>
                  <a:cubicBezTo>
                    <a:pt x="1389083" y="2828457"/>
                    <a:pt x="1364817" y="2829505"/>
                    <a:pt x="1340626" y="2829505"/>
                  </a:cubicBezTo>
                  <a:cubicBezTo>
                    <a:pt x="893726" y="2829805"/>
                    <a:pt x="446900" y="2829281"/>
                    <a:pt x="0" y="2829805"/>
                  </a:cubicBezTo>
                  <a:lnTo>
                    <a:pt x="0" y="2824414"/>
                  </a:lnTo>
                  <a:cubicBezTo>
                    <a:pt x="49656" y="2773052"/>
                    <a:pt x="92196" y="2715325"/>
                    <a:pt x="139006" y="266141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2"/>
                </a:gs>
              </a:gsLst>
              <a:lin ang="5400000" scaled="0"/>
            </a:gradFill>
            <a:ln>
              <a:noFill/>
            </a:ln>
            <a:effectLst>
              <a:outerShdw blurRad="635000" dist="635000" dir="2700000" algn="t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ker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856615" y="2964675"/>
              <a:ext cx="2402840" cy="691515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对于一些业务场景，理解不够透彻，在处理相关任务时需要花费较多时间查阅资料、请教同事，影响工作效率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3540760" y="2964675"/>
              <a:ext cx="2402840" cy="691515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与其他部门沟通时，信息传递存在偏差，导致工作衔接不顺畅，导致项目进展受到影响。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226810" y="2964675"/>
              <a:ext cx="2402840" cy="491490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从项目及工作流程维度建立知识库，便于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自身快速提升及内部知识沉淀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8972950" y="2825750"/>
              <a:ext cx="2402840" cy="1291590"/>
            </a:xfrm>
            <a:prstGeom prst="rect">
              <a:avLst/>
            </a:prstGeom>
            <a:noFill/>
            <a:effectLst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建立标准化信息共享平台，明确各部门在项目中的职责和沟通节点，定期组织跨部门沟通会议，提前明确会议主题和议程，提高沟通效率，</a:t>
              </a:r>
              <a:r>
                <a:rPr lang="zh-CN" altLang="en-US" sz="1000" dirty="0">
                  <a:effectLst/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  <a:sym typeface="+mn-ea"/>
                </a:rPr>
                <a:t>确保大家朝着共同目标努力，提高整体效率。</a:t>
              </a:r>
              <a:endParaRPr lang="en-US" altLang="zh-CN" sz="1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小李PPT1"/>
          <p:cNvSpPr txBox="1"/>
          <p:nvPr/>
        </p:nvSpPr>
        <p:spPr>
          <a:xfrm>
            <a:off x="363836" y="244861"/>
            <a:ext cx="2511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17579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 工作计划</a:t>
            </a:r>
            <a:endParaRPr kumimoji="0" lang="zh-CN" altLang="en-US" sz="2800" b="1" u="none" strike="noStrike" kern="1200" cap="none" spc="0" normalizeH="0" baseline="0" dirty="0">
              <a:solidFill>
                <a:srgbClr val="17579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71"/>
          <p:cNvSpPr txBox="1"/>
          <p:nvPr/>
        </p:nvSpPr>
        <p:spPr>
          <a:xfrm>
            <a:off x="738568" y="5866824"/>
            <a:ext cx="2235046" cy="44435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800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分析竞争对手的品牌定位、市场份额和营销策略，找出品牌的竞争优势和差距。</a:t>
            </a:r>
            <a:endParaRPr lang="en-US" altLang="zh-CN" sz="800" noProof="1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6" name="TextBox 71"/>
          <p:cNvSpPr txBox="1"/>
          <p:nvPr/>
        </p:nvSpPr>
        <p:spPr>
          <a:xfrm>
            <a:off x="6040329" y="5866824"/>
            <a:ext cx="2235046" cy="44435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800" noProof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制定详细的执行计划和时间表，明确各项活动的实施步骤和责任人。</a:t>
            </a:r>
            <a:endParaRPr lang="zh-CN" altLang="en-US" sz="800" noProof="1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660400" y="1708150"/>
            <a:ext cx="10871200" cy="4375150"/>
            <a:chOff x="660400" y="1708150"/>
            <a:chExt cx="10871200" cy="4375150"/>
          </a:xfrm>
        </p:grpSpPr>
        <p:sp>
          <p:nvSpPr>
            <p:cNvPr id="3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660400" y="1708150"/>
              <a:ext cx="5208270" cy="1962150"/>
            </a:xfrm>
            <a:custGeom>
              <a:avLst/>
              <a:gdLst>
                <a:gd name="connsiteX0" fmla="*/ 104779 w 5208587"/>
                <a:gd name="connsiteY0" fmla="*/ 0 h 1962150"/>
                <a:gd name="connsiteX1" fmla="*/ 5103808 w 5208587"/>
                <a:gd name="connsiteY1" fmla="*/ 0 h 1962150"/>
                <a:gd name="connsiteX2" fmla="*/ 5208587 w 5208587"/>
                <a:gd name="connsiteY2" fmla="*/ 104779 h 1962150"/>
                <a:gd name="connsiteX3" fmla="*/ 5208587 w 5208587"/>
                <a:gd name="connsiteY3" fmla="*/ 938907 h 1962150"/>
                <a:gd name="connsiteX4" fmla="*/ 5179652 w 5208587"/>
                <a:gd name="connsiteY4" fmla="*/ 943323 h 1962150"/>
                <a:gd name="connsiteX5" fmla="*/ 4191403 w 5208587"/>
                <a:gd name="connsiteY5" fmla="*/ 1931572 h 1962150"/>
                <a:gd name="connsiteX6" fmla="*/ 4188321 w 5208587"/>
                <a:gd name="connsiteY6" fmla="*/ 1962150 h 1962150"/>
                <a:gd name="connsiteX7" fmla="*/ 104779 w 5208587"/>
                <a:gd name="connsiteY7" fmla="*/ 1962150 h 1962150"/>
                <a:gd name="connsiteX8" fmla="*/ 0 w 5208587"/>
                <a:gd name="connsiteY8" fmla="*/ 1857371 h 1962150"/>
                <a:gd name="connsiteX9" fmla="*/ 0 w 5208587"/>
                <a:gd name="connsiteY9" fmla="*/ 104779 h 1962150"/>
                <a:gd name="connsiteX10" fmla="*/ 104779 w 5208587"/>
                <a:gd name="connsiteY10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8587" h="1962150">
                  <a:moveTo>
                    <a:pt x="104779" y="0"/>
                  </a:moveTo>
                  <a:lnTo>
                    <a:pt x="5103808" y="0"/>
                  </a:lnTo>
                  <a:cubicBezTo>
                    <a:pt x="5161676" y="0"/>
                    <a:pt x="5208587" y="46911"/>
                    <a:pt x="5208587" y="104779"/>
                  </a:cubicBezTo>
                  <a:lnTo>
                    <a:pt x="5208587" y="938907"/>
                  </a:lnTo>
                  <a:lnTo>
                    <a:pt x="5179652" y="943323"/>
                  </a:lnTo>
                  <a:cubicBezTo>
                    <a:pt x="4683608" y="1044828"/>
                    <a:pt x="4292908" y="1435528"/>
                    <a:pt x="4191403" y="1931572"/>
                  </a:cubicBezTo>
                  <a:lnTo>
                    <a:pt x="4188321" y="1962150"/>
                  </a:lnTo>
                  <a:lnTo>
                    <a:pt x="104779" y="1962150"/>
                  </a:lnTo>
                  <a:cubicBezTo>
                    <a:pt x="46911" y="1962150"/>
                    <a:pt x="0" y="1915239"/>
                    <a:pt x="0" y="1857371"/>
                  </a:cubicBezTo>
                  <a:lnTo>
                    <a:pt x="0" y="104779"/>
                  </a:lnTo>
                  <a:cubicBezTo>
                    <a:pt x="0" y="46911"/>
                    <a:pt x="46911" y="0"/>
                    <a:pt x="104779" y="0"/>
                  </a:cubicBezTo>
                  <a:close/>
                </a:path>
              </a:pathLst>
            </a:custGeom>
            <a:solidFill>
              <a:schemeClr val="accent1"/>
            </a:solidFill>
            <a:ln w="19050"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85000">
                    <a:schemeClr val="bg1"/>
                  </a:gs>
                </a:gsLst>
                <a:lin ang="0" scaled="0"/>
              </a:gradFill>
            </a:ln>
            <a:effectLst>
              <a:outerShdw blurRad="304800" dist="38100" dir="16200000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" name="任意多边形: 形状 3"/>
            <p:cNvSpPr/>
            <p:nvPr>
              <p:custDataLst>
                <p:tags r:id="rId3"/>
              </p:custDataLst>
            </p:nvPr>
          </p:nvSpPr>
          <p:spPr>
            <a:xfrm>
              <a:off x="6323330" y="1708150"/>
              <a:ext cx="5208270" cy="1962150"/>
            </a:xfrm>
            <a:custGeom>
              <a:avLst/>
              <a:gdLst>
                <a:gd name="connsiteX0" fmla="*/ 104779 w 5208587"/>
                <a:gd name="connsiteY0" fmla="*/ 0 h 1962150"/>
                <a:gd name="connsiteX1" fmla="*/ 5103808 w 5208587"/>
                <a:gd name="connsiteY1" fmla="*/ 0 h 1962150"/>
                <a:gd name="connsiteX2" fmla="*/ 5208587 w 5208587"/>
                <a:gd name="connsiteY2" fmla="*/ 104779 h 1962150"/>
                <a:gd name="connsiteX3" fmla="*/ 5208587 w 5208587"/>
                <a:gd name="connsiteY3" fmla="*/ 1857371 h 1962150"/>
                <a:gd name="connsiteX4" fmla="*/ 5103808 w 5208587"/>
                <a:gd name="connsiteY4" fmla="*/ 1962150 h 1962150"/>
                <a:gd name="connsiteX5" fmla="*/ 1020267 w 5208587"/>
                <a:gd name="connsiteY5" fmla="*/ 1962150 h 1962150"/>
                <a:gd name="connsiteX6" fmla="*/ 1017184 w 5208587"/>
                <a:gd name="connsiteY6" fmla="*/ 1931572 h 1962150"/>
                <a:gd name="connsiteX7" fmla="*/ 28936 w 5208587"/>
                <a:gd name="connsiteY7" fmla="*/ 943323 h 1962150"/>
                <a:gd name="connsiteX8" fmla="*/ 0 w 5208587"/>
                <a:gd name="connsiteY8" fmla="*/ 938907 h 1962150"/>
                <a:gd name="connsiteX9" fmla="*/ 0 w 5208587"/>
                <a:gd name="connsiteY9" fmla="*/ 104779 h 1962150"/>
                <a:gd name="connsiteX10" fmla="*/ 104779 w 5208587"/>
                <a:gd name="connsiteY10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8587" h="1962150">
                  <a:moveTo>
                    <a:pt x="104779" y="0"/>
                  </a:moveTo>
                  <a:lnTo>
                    <a:pt x="5103808" y="0"/>
                  </a:lnTo>
                  <a:cubicBezTo>
                    <a:pt x="5161676" y="0"/>
                    <a:pt x="5208587" y="46911"/>
                    <a:pt x="5208587" y="104779"/>
                  </a:cubicBezTo>
                  <a:lnTo>
                    <a:pt x="5208587" y="1857371"/>
                  </a:lnTo>
                  <a:cubicBezTo>
                    <a:pt x="5208587" y="1915239"/>
                    <a:pt x="5161676" y="1962150"/>
                    <a:pt x="5103808" y="1962150"/>
                  </a:cubicBezTo>
                  <a:lnTo>
                    <a:pt x="1020267" y="1962150"/>
                  </a:lnTo>
                  <a:lnTo>
                    <a:pt x="1017184" y="1931572"/>
                  </a:lnTo>
                  <a:cubicBezTo>
                    <a:pt x="915679" y="1435528"/>
                    <a:pt x="524980" y="1044828"/>
                    <a:pt x="28936" y="943323"/>
                  </a:cubicBezTo>
                  <a:lnTo>
                    <a:pt x="0" y="938907"/>
                  </a:lnTo>
                  <a:lnTo>
                    <a:pt x="0" y="104779"/>
                  </a:lnTo>
                  <a:cubicBezTo>
                    <a:pt x="0" y="46911"/>
                    <a:pt x="46911" y="0"/>
                    <a:pt x="104779" y="0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85000">
                    <a:schemeClr val="bg1"/>
                  </a:gs>
                </a:gsLst>
                <a:lin ang="10800000" scaled="0"/>
              </a:gradFill>
            </a:ln>
            <a:effectLst>
              <a:outerShdw blurRad="304800" dist="38100" dir="16200000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" name="任意多边形: 形状 4"/>
            <p:cNvSpPr/>
            <p:nvPr>
              <p:custDataLst>
                <p:tags r:id="rId4"/>
              </p:custDataLst>
            </p:nvPr>
          </p:nvSpPr>
          <p:spPr>
            <a:xfrm>
              <a:off x="660400" y="4121150"/>
              <a:ext cx="5208270" cy="1962150"/>
            </a:xfrm>
            <a:custGeom>
              <a:avLst/>
              <a:gdLst>
                <a:gd name="connsiteX0" fmla="*/ 104779 w 5208587"/>
                <a:gd name="connsiteY0" fmla="*/ 0 h 1962150"/>
                <a:gd name="connsiteX1" fmla="*/ 4188320 w 5208587"/>
                <a:gd name="connsiteY1" fmla="*/ 0 h 1962150"/>
                <a:gd name="connsiteX2" fmla="*/ 4191402 w 5208587"/>
                <a:gd name="connsiteY2" fmla="*/ 30578 h 1962150"/>
                <a:gd name="connsiteX3" fmla="*/ 5179651 w 5208587"/>
                <a:gd name="connsiteY3" fmla="*/ 1018826 h 1962150"/>
                <a:gd name="connsiteX4" fmla="*/ 5208587 w 5208587"/>
                <a:gd name="connsiteY4" fmla="*/ 1023243 h 1962150"/>
                <a:gd name="connsiteX5" fmla="*/ 5208587 w 5208587"/>
                <a:gd name="connsiteY5" fmla="*/ 1857371 h 1962150"/>
                <a:gd name="connsiteX6" fmla="*/ 5103808 w 5208587"/>
                <a:gd name="connsiteY6" fmla="*/ 1962150 h 1962150"/>
                <a:gd name="connsiteX7" fmla="*/ 104779 w 5208587"/>
                <a:gd name="connsiteY7" fmla="*/ 1962150 h 1962150"/>
                <a:gd name="connsiteX8" fmla="*/ 0 w 5208587"/>
                <a:gd name="connsiteY8" fmla="*/ 1857371 h 1962150"/>
                <a:gd name="connsiteX9" fmla="*/ 0 w 5208587"/>
                <a:gd name="connsiteY9" fmla="*/ 104779 h 1962150"/>
                <a:gd name="connsiteX10" fmla="*/ 104779 w 5208587"/>
                <a:gd name="connsiteY10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08587" h="1962150">
                  <a:moveTo>
                    <a:pt x="104779" y="0"/>
                  </a:moveTo>
                  <a:lnTo>
                    <a:pt x="4188320" y="0"/>
                  </a:lnTo>
                  <a:lnTo>
                    <a:pt x="4191402" y="30578"/>
                  </a:lnTo>
                  <a:cubicBezTo>
                    <a:pt x="4292907" y="526621"/>
                    <a:pt x="4683607" y="917321"/>
                    <a:pt x="5179651" y="1018826"/>
                  </a:cubicBezTo>
                  <a:lnTo>
                    <a:pt x="5208587" y="1023243"/>
                  </a:lnTo>
                  <a:lnTo>
                    <a:pt x="5208587" y="1857371"/>
                  </a:lnTo>
                  <a:cubicBezTo>
                    <a:pt x="5208587" y="1915239"/>
                    <a:pt x="5161676" y="1962150"/>
                    <a:pt x="5103808" y="1962150"/>
                  </a:cubicBezTo>
                  <a:lnTo>
                    <a:pt x="104779" y="1962150"/>
                  </a:lnTo>
                  <a:cubicBezTo>
                    <a:pt x="46911" y="1962150"/>
                    <a:pt x="0" y="1915239"/>
                    <a:pt x="0" y="1857371"/>
                  </a:cubicBezTo>
                  <a:lnTo>
                    <a:pt x="0" y="104779"/>
                  </a:lnTo>
                  <a:cubicBezTo>
                    <a:pt x="0" y="46911"/>
                    <a:pt x="46911" y="0"/>
                    <a:pt x="104779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85000">
                    <a:schemeClr val="bg1"/>
                  </a:gs>
                </a:gsLst>
                <a:lin ang="0" scaled="0"/>
              </a:gradFill>
            </a:ln>
            <a:effectLst>
              <a:outerShdw blurRad="304800" dist="38100" dir="16200000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任意多边形: 形状 5"/>
            <p:cNvSpPr/>
            <p:nvPr>
              <p:custDataLst>
                <p:tags r:id="rId5"/>
              </p:custDataLst>
            </p:nvPr>
          </p:nvSpPr>
          <p:spPr>
            <a:xfrm>
              <a:off x="6323330" y="4121150"/>
              <a:ext cx="5208270" cy="1962150"/>
            </a:xfrm>
            <a:custGeom>
              <a:avLst/>
              <a:gdLst>
                <a:gd name="connsiteX0" fmla="*/ 1020267 w 5208587"/>
                <a:gd name="connsiteY0" fmla="*/ 0 h 1962150"/>
                <a:gd name="connsiteX1" fmla="*/ 5103808 w 5208587"/>
                <a:gd name="connsiteY1" fmla="*/ 0 h 1962150"/>
                <a:gd name="connsiteX2" fmla="*/ 5208587 w 5208587"/>
                <a:gd name="connsiteY2" fmla="*/ 104779 h 1962150"/>
                <a:gd name="connsiteX3" fmla="*/ 5208587 w 5208587"/>
                <a:gd name="connsiteY3" fmla="*/ 1857371 h 1962150"/>
                <a:gd name="connsiteX4" fmla="*/ 5103808 w 5208587"/>
                <a:gd name="connsiteY4" fmla="*/ 1962150 h 1962150"/>
                <a:gd name="connsiteX5" fmla="*/ 104779 w 5208587"/>
                <a:gd name="connsiteY5" fmla="*/ 1962150 h 1962150"/>
                <a:gd name="connsiteX6" fmla="*/ 0 w 5208587"/>
                <a:gd name="connsiteY6" fmla="*/ 1857371 h 1962150"/>
                <a:gd name="connsiteX7" fmla="*/ 0 w 5208587"/>
                <a:gd name="connsiteY7" fmla="*/ 1023242 h 1962150"/>
                <a:gd name="connsiteX8" fmla="*/ 28936 w 5208587"/>
                <a:gd name="connsiteY8" fmla="*/ 1018826 h 1962150"/>
                <a:gd name="connsiteX9" fmla="*/ 1017184 w 5208587"/>
                <a:gd name="connsiteY9" fmla="*/ 30578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08587" h="1962150">
                  <a:moveTo>
                    <a:pt x="1020267" y="0"/>
                  </a:moveTo>
                  <a:lnTo>
                    <a:pt x="5103808" y="0"/>
                  </a:lnTo>
                  <a:cubicBezTo>
                    <a:pt x="5161676" y="0"/>
                    <a:pt x="5208587" y="46911"/>
                    <a:pt x="5208587" y="104779"/>
                  </a:cubicBezTo>
                  <a:lnTo>
                    <a:pt x="5208587" y="1857371"/>
                  </a:lnTo>
                  <a:cubicBezTo>
                    <a:pt x="5208587" y="1915239"/>
                    <a:pt x="5161676" y="1962150"/>
                    <a:pt x="5103808" y="1962150"/>
                  </a:cubicBezTo>
                  <a:lnTo>
                    <a:pt x="104779" y="1962150"/>
                  </a:lnTo>
                  <a:cubicBezTo>
                    <a:pt x="46911" y="1962150"/>
                    <a:pt x="0" y="1915239"/>
                    <a:pt x="0" y="1857371"/>
                  </a:cubicBezTo>
                  <a:lnTo>
                    <a:pt x="0" y="1023242"/>
                  </a:lnTo>
                  <a:lnTo>
                    <a:pt x="28936" y="1018826"/>
                  </a:lnTo>
                  <a:cubicBezTo>
                    <a:pt x="524980" y="917321"/>
                    <a:pt x="915679" y="526621"/>
                    <a:pt x="1017184" y="3057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9050"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85000">
                    <a:schemeClr val="bg1"/>
                  </a:gs>
                </a:gsLst>
                <a:lin ang="10800000" scaled="0"/>
              </a:gradFill>
            </a:ln>
            <a:effectLst>
              <a:outerShdw blurRad="304800" dist="38100" dir="16200000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677068" y="1736358"/>
              <a:ext cx="500017" cy="1916906"/>
            </a:xfrm>
            <a:custGeom>
              <a:avLst/>
              <a:gdLst/>
              <a:ahLst/>
              <a:cxnLst/>
              <a:rect l="l" t="t" r="r" b="b"/>
              <a:pathLst>
                <a:path w="500017" h="1916906">
                  <a:moveTo>
                    <a:pt x="348956" y="0"/>
                  </a:moveTo>
                  <a:lnTo>
                    <a:pt x="500017" y="0"/>
                  </a:lnTo>
                  <a:lnTo>
                    <a:pt x="500017" y="1916906"/>
                  </a:lnTo>
                  <a:lnTo>
                    <a:pt x="265612" y="1916906"/>
                  </a:lnTo>
                  <a:lnTo>
                    <a:pt x="265612" y="423230"/>
                  </a:lnTo>
                  <a:cubicBezTo>
                    <a:pt x="209182" y="477056"/>
                    <a:pt x="135171" y="530882"/>
                    <a:pt x="43580" y="584708"/>
                  </a:cubicBezTo>
                  <a:lnTo>
                    <a:pt x="0" y="608321"/>
                  </a:lnTo>
                  <a:lnTo>
                    <a:pt x="0" y="362553"/>
                  </a:lnTo>
                  <a:lnTo>
                    <a:pt x="140597" y="255240"/>
                  </a:lnTo>
                  <a:cubicBezTo>
                    <a:pt x="238699" y="167555"/>
                    <a:pt x="308153" y="82476"/>
                    <a:pt x="34895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100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677068" y="4142434"/>
              <a:ext cx="963302" cy="1925760"/>
            </a:xfrm>
            <a:custGeom>
              <a:avLst/>
              <a:gdLst>
                <a:gd name="connsiteX0" fmla="*/ 200788 w 963302"/>
                <a:gd name="connsiteY0" fmla="*/ 0 h 1925760"/>
                <a:gd name="connsiteX1" fmla="*/ 423450 w 963302"/>
                <a:gd name="connsiteY1" fmla="*/ 0 h 1925760"/>
                <a:gd name="connsiteX2" fmla="*/ 460960 w 963302"/>
                <a:gd name="connsiteY2" fmla="*/ 4191 h 1925760"/>
                <a:gd name="connsiteX3" fmla="*/ 598673 w 963302"/>
                <a:gd name="connsiteY3" fmla="*/ 54490 h 1925760"/>
                <a:gd name="connsiteX4" fmla="*/ 799870 w 963302"/>
                <a:gd name="connsiteY4" fmla="*/ 237455 h 1925760"/>
                <a:gd name="connsiteX5" fmla="*/ 869540 w 963302"/>
                <a:gd name="connsiteY5" fmla="*/ 483580 h 1925760"/>
                <a:gd name="connsiteX6" fmla="*/ 803125 w 963302"/>
                <a:gd name="connsiteY6" fmla="*/ 708868 h 1925760"/>
                <a:gd name="connsiteX7" fmla="*/ 606486 w 963302"/>
                <a:gd name="connsiteY7" fmla="*/ 870347 h 1925760"/>
                <a:gd name="connsiteX8" fmla="*/ 869540 w 963302"/>
                <a:gd name="connsiteY8" fmla="*/ 1032476 h 1925760"/>
                <a:gd name="connsiteX9" fmla="*/ 963302 w 963302"/>
                <a:gd name="connsiteY9" fmla="*/ 1340458 h 1925760"/>
                <a:gd name="connsiteX10" fmla="*/ 780987 w 963302"/>
                <a:gd name="connsiteY10" fmla="*/ 1764339 h 1925760"/>
                <a:gd name="connsiteX11" fmla="*/ 574581 w 963302"/>
                <a:gd name="connsiteY11" fmla="*/ 1894726 h 1925760"/>
                <a:gd name="connsiteX12" fmla="*/ 459122 w 963302"/>
                <a:gd name="connsiteY12" fmla="*/ 1925760 h 1925760"/>
                <a:gd name="connsiteX13" fmla="*/ 187673 w 963302"/>
                <a:gd name="connsiteY13" fmla="*/ 1925760 h 1925760"/>
                <a:gd name="connsiteX14" fmla="*/ 89983 w 963302"/>
                <a:gd name="connsiteY14" fmla="*/ 1900749 h 1925760"/>
                <a:gd name="connsiteX15" fmla="*/ 0 w 963302"/>
                <a:gd name="connsiteY15" fmla="*/ 1858217 h 1925760"/>
                <a:gd name="connsiteX16" fmla="*/ 0 w 963302"/>
                <a:gd name="connsiteY16" fmla="*/ 1535196 h 1925760"/>
                <a:gd name="connsiteX17" fmla="*/ 2081 w 963302"/>
                <a:gd name="connsiteY17" fmla="*/ 1540515 h 1925760"/>
                <a:gd name="connsiteX18" fmla="*/ 84936 w 963302"/>
                <a:gd name="connsiteY18" fmla="*/ 1656252 h 1925760"/>
                <a:gd name="connsiteX19" fmla="*/ 321294 w 963302"/>
                <a:gd name="connsiteY19" fmla="*/ 1744154 h 1925760"/>
                <a:gd name="connsiteX20" fmla="*/ 600626 w 963302"/>
                <a:gd name="connsiteY20" fmla="*/ 1629556 h 1925760"/>
                <a:gd name="connsiteX21" fmla="*/ 714572 w 963302"/>
                <a:gd name="connsiteY21" fmla="*/ 1345667 h 1925760"/>
                <a:gd name="connsiteX22" fmla="*/ 609091 w 963302"/>
                <a:gd name="connsiteY22" fmla="*/ 1079357 h 1925760"/>
                <a:gd name="connsiteX23" fmla="*/ 340828 w 963302"/>
                <a:gd name="connsiteY23" fmla="*/ 974527 h 1925760"/>
                <a:gd name="connsiteX24" fmla="*/ 175443 w 963302"/>
                <a:gd name="connsiteY24" fmla="*/ 1000571 h 1925760"/>
                <a:gd name="connsiteX25" fmla="*/ 201488 w 963302"/>
                <a:gd name="connsiteY25" fmla="*/ 794817 h 1925760"/>
                <a:gd name="connsiteX26" fmla="*/ 239253 w 963302"/>
                <a:gd name="connsiteY26" fmla="*/ 797421 h 1925760"/>
                <a:gd name="connsiteX27" fmla="*/ 508818 w 963302"/>
                <a:gd name="connsiteY27" fmla="*/ 719286 h 1925760"/>
                <a:gd name="connsiteX28" fmla="*/ 628624 w 963302"/>
                <a:gd name="connsiteY28" fmla="*/ 478371 h 1925760"/>
                <a:gd name="connsiteX29" fmla="*/ 541374 w 963302"/>
                <a:gd name="connsiteY29" fmla="*/ 264802 h 1925760"/>
                <a:gd name="connsiteX30" fmla="*/ 316085 w 963302"/>
                <a:gd name="connsiteY30" fmla="*/ 180156 h 1925760"/>
                <a:gd name="connsiteX31" fmla="*/ 88192 w 963302"/>
                <a:gd name="connsiteY31" fmla="*/ 266105 h 1925760"/>
                <a:gd name="connsiteX32" fmla="*/ 13313 w 963302"/>
                <a:gd name="connsiteY32" fmla="*/ 373540 h 1925760"/>
                <a:gd name="connsiteX33" fmla="*/ 0 w 963302"/>
                <a:gd name="connsiteY33" fmla="*/ 410386 h 1925760"/>
                <a:gd name="connsiteX34" fmla="*/ 0 w 963302"/>
                <a:gd name="connsiteY34" fmla="*/ 69247 h 1925760"/>
                <a:gd name="connsiteX35" fmla="*/ 12743 w 963302"/>
                <a:gd name="connsiteY35" fmla="*/ 60309 h 1925760"/>
                <a:gd name="connsiteX36" fmla="*/ 151371 w 963302"/>
                <a:gd name="connsiteY36" fmla="*/ 5645 h 192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63302" h="1925760">
                  <a:moveTo>
                    <a:pt x="200788" y="0"/>
                  </a:moveTo>
                  <a:lnTo>
                    <a:pt x="423450" y="0"/>
                  </a:lnTo>
                  <a:lnTo>
                    <a:pt x="460960" y="4191"/>
                  </a:lnTo>
                  <a:cubicBezTo>
                    <a:pt x="508926" y="15368"/>
                    <a:pt x="554831" y="32135"/>
                    <a:pt x="598673" y="54490"/>
                  </a:cubicBezTo>
                  <a:cubicBezTo>
                    <a:pt x="686357" y="99200"/>
                    <a:pt x="753423" y="160189"/>
                    <a:pt x="799870" y="237455"/>
                  </a:cubicBezTo>
                  <a:cubicBezTo>
                    <a:pt x="846317" y="314722"/>
                    <a:pt x="869540" y="396763"/>
                    <a:pt x="869540" y="483580"/>
                  </a:cubicBezTo>
                  <a:cubicBezTo>
                    <a:pt x="869540" y="566055"/>
                    <a:pt x="847402" y="641152"/>
                    <a:pt x="803125" y="708868"/>
                  </a:cubicBezTo>
                  <a:cubicBezTo>
                    <a:pt x="758849" y="776585"/>
                    <a:pt x="693302" y="830411"/>
                    <a:pt x="606486" y="870347"/>
                  </a:cubicBezTo>
                  <a:cubicBezTo>
                    <a:pt x="719347" y="896392"/>
                    <a:pt x="807032" y="950435"/>
                    <a:pt x="869540" y="1032476"/>
                  </a:cubicBezTo>
                  <a:cubicBezTo>
                    <a:pt x="932048" y="1114518"/>
                    <a:pt x="963302" y="1217178"/>
                    <a:pt x="963302" y="1340458"/>
                  </a:cubicBezTo>
                  <a:cubicBezTo>
                    <a:pt x="963302" y="1507145"/>
                    <a:pt x="902530" y="1648439"/>
                    <a:pt x="780987" y="1764339"/>
                  </a:cubicBezTo>
                  <a:cubicBezTo>
                    <a:pt x="720216" y="1822289"/>
                    <a:pt x="651414" y="1865751"/>
                    <a:pt x="574581" y="1894726"/>
                  </a:cubicBezTo>
                  <a:lnTo>
                    <a:pt x="459122" y="1925760"/>
                  </a:lnTo>
                  <a:lnTo>
                    <a:pt x="187673" y="1925760"/>
                  </a:lnTo>
                  <a:lnTo>
                    <a:pt x="89983" y="1900749"/>
                  </a:lnTo>
                  <a:lnTo>
                    <a:pt x="0" y="1858217"/>
                  </a:lnTo>
                  <a:lnTo>
                    <a:pt x="0" y="1535196"/>
                  </a:lnTo>
                  <a:lnTo>
                    <a:pt x="2081" y="1540515"/>
                  </a:lnTo>
                  <a:cubicBezTo>
                    <a:pt x="24979" y="1588373"/>
                    <a:pt x="52597" y="1626952"/>
                    <a:pt x="84936" y="1656252"/>
                  </a:cubicBezTo>
                  <a:cubicBezTo>
                    <a:pt x="149615" y="1714853"/>
                    <a:pt x="228401" y="1744154"/>
                    <a:pt x="321294" y="1744154"/>
                  </a:cubicBezTo>
                  <a:cubicBezTo>
                    <a:pt x="431551" y="1744154"/>
                    <a:pt x="524662" y="1705955"/>
                    <a:pt x="600626" y="1629556"/>
                  </a:cubicBezTo>
                  <a:cubicBezTo>
                    <a:pt x="676590" y="1553158"/>
                    <a:pt x="714572" y="1458528"/>
                    <a:pt x="714572" y="1345667"/>
                  </a:cubicBezTo>
                  <a:cubicBezTo>
                    <a:pt x="714572" y="1238014"/>
                    <a:pt x="679412" y="1149244"/>
                    <a:pt x="609091" y="1079357"/>
                  </a:cubicBezTo>
                  <a:cubicBezTo>
                    <a:pt x="538769" y="1009470"/>
                    <a:pt x="449348" y="974527"/>
                    <a:pt x="340828" y="974527"/>
                  </a:cubicBezTo>
                  <a:cubicBezTo>
                    <a:pt x="296551" y="974527"/>
                    <a:pt x="241423" y="983208"/>
                    <a:pt x="175443" y="1000571"/>
                  </a:cubicBezTo>
                  <a:lnTo>
                    <a:pt x="201488" y="794817"/>
                  </a:lnTo>
                  <a:cubicBezTo>
                    <a:pt x="217114" y="796553"/>
                    <a:pt x="229703" y="797421"/>
                    <a:pt x="239253" y="797421"/>
                  </a:cubicBezTo>
                  <a:cubicBezTo>
                    <a:pt x="339091" y="797421"/>
                    <a:pt x="428947" y="771376"/>
                    <a:pt x="508818" y="719286"/>
                  </a:cubicBezTo>
                  <a:cubicBezTo>
                    <a:pt x="588689" y="667196"/>
                    <a:pt x="628624" y="586891"/>
                    <a:pt x="628624" y="478371"/>
                  </a:cubicBezTo>
                  <a:cubicBezTo>
                    <a:pt x="628624" y="392423"/>
                    <a:pt x="599541" y="321233"/>
                    <a:pt x="541374" y="264802"/>
                  </a:cubicBezTo>
                  <a:cubicBezTo>
                    <a:pt x="483207" y="208372"/>
                    <a:pt x="408111" y="180156"/>
                    <a:pt x="316085" y="180156"/>
                  </a:cubicBezTo>
                  <a:cubicBezTo>
                    <a:pt x="224928" y="180156"/>
                    <a:pt x="148964" y="208806"/>
                    <a:pt x="88192" y="266105"/>
                  </a:cubicBezTo>
                  <a:cubicBezTo>
                    <a:pt x="57806" y="294754"/>
                    <a:pt x="32847" y="330566"/>
                    <a:pt x="13313" y="373540"/>
                  </a:cubicBezTo>
                  <a:lnTo>
                    <a:pt x="0" y="410386"/>
                  </a:lnTo>
                  <a:lnTo>
                    <a:pt x="0" y="69247"/>
                  </a:lnTo>
                  <a:lnTo>
                    <a:pt x="12743" y="60309"/>
                  </a:lnTo>
                  <a:cubicBezTo>
                    <a:pt x="55473" y="36014"/>
                    <a:pt x="101683" y="17793"/>
                    <a:pt x="151371" y="564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100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8"/>
              </p:custDataLst>
            </p:nvPr>
          </p:nvSpPr>
          <p:spPr>
            <a:xfrm>
              <a:off x="10492938" y="1736358"/>
              <a:ext cx="1023581" cy="1916906"/>
            </a:xfrm>
            <a:custGeom>
              <a:avLst/>
              <a:gdLst>
                <a:gd name="connsiteX0" fmla="*/ 664355 w 1023581"/>
                <a:gd name="connsiteY0" fmla="*/ 0 h 1916906"/>
                <a:gd name="connsiteX1" fmla="*/ 1012055 w 1023581"/>
                <a:gd name="connsiteY1" fmla="*/ 85704 h 1916906"/>
                <a:gd name="connsiteX2" fmla="*/ 1023581 w 1023581"/>
                <a:gd name="connsiteY2" fmla="*/ 94510 h 1916906"/>
                <a:gd name="connsiteX3" fmla="*/ 1023581 w 1023581"/>
                <a:gd name="connsiteY3" fmla="*/ 1023672 h 1916906"/>
                <a:gd name="connsiteX4" fmla="*/ 993619 w 1023581"/>
                <a:gd name="connsiteY4" fmla="*/ 1055308 h 1916906"/>
                <a:gd name="connsiteX5" fmla="*/ 695609 w 1023581"/>
                <a:gd name="connsiteY5" fmla="*/ 1324384 h 1916906"/>
                <a:gd name="connsiteX6" fmla="*/ 424741 w 1023581"/>
                <a:gd name="connsiteY6" fmla="*/ 1564649 h 1916906"/>
                <a:gd name="connsiteX7" fmla="*/ 325771 w 1023581"/>
                <a:gd name="connsiteY7" fmla="*/ 1691618 h 1916906"/>
                <a:gd name="connsiteX8" fmla="*/ 1023581 w 1023581"/>
                <a:gd name="connsiteY8" fmla="*/ 1691618 h 1916906"/>
                <a:gd name="connsiteX9" fmla="*/ 1023581 w 1023581"/>
                <a:gd name="connsiteY9" fmla="*/ 1880159 h 1916906"/>
                <a:gd name="connsiteX10" fmla="*/ 1007974 w 1023581"/>
                <a:gd name="connsiteY10" fmla="*/ 1903307 h 1916906"/>
                <a:gd name="connsiteX11" fmla="*/ 987804 w 1023581"/>
                <a:gd name="connsiteY11" fmla="*/ 1916906 h 1916906"/>
                <a:gd name="connsiteX12" fmla="*/ 209 w 1023581"/>
                <a:gd name="connsiteY12" fmla="*/ 1916906 h 1916906"/>
                <a:gd name="connsiteX13" fmla="*/ 27556 w 1023581"/>
                <a:gd name="connsiteY13" fmla="*/ 1754125 h 1916906"/>
                <a:gd name="connsiteX14" fmla="*/ 181873 w 1023581"/>
                <a:gd name="connsiteY14" fmla="*/ 1500187 h 1916906"/>
                <a:gd name="connsiteX15" fmla="*/ 488551 w 1023581"/>
                <a:gd name="connsiteY15" fmla="*/ 1211089 h 1916906"/>
                <a:gd name="connsiteX16" fmla="*/ 909177 w 1023581"/>
                <a:gd name="connsiteY16" fmla="*/ 806741 h 1916906"/>
                <a:gd name="connsiteX17" fmla="*/ 1018566 w 1023581"/>
                <a:gd name="connsiteY17" fmla="*/ 524805 h 1916906"/>
                <a:gd name="connsiteX18" fmla="*/ 918944 w 1023581"/>
                <a:gd name="connsiteY18" fmla="*/ 289750 h 1916906"/>
                <a:gd name="connsiteX19" fmla="*/ 659146 w 1023581"/>
                <a:gd name="connsiteY19" fmla="*/ 194035 h 1916906"/>
                <a:gd name="connsiteX20" fmla="*/ 388279 w 1023581"/>
                <a:gd name="connsiteY20" fmla="*/ 295610 h 1916906"/>
                <a:gd name="connsiteX21" fmla="*/ 285401 w 1023581"/>
                <a:gd name="connsiteY21" fmla="*/ 576895 h 1916906"/>
                <a:gd name="connsiteX22" fmla="*/ 44486 w 1023581"/>
                <a:gd name="connsiteY22" fmla="*/ 552152 h 1916906"/>
                <a:gd name="connsiteX23" fmla="*/ 230707 w 1023581"/>
                <a:gd name="connsiteY23" fmla="*/ 141294 h 1916906"/>
                <a:gd name="connsiteX24" fmla="*/ 664355 w 1023581"/>
                <a:gd name="connsiteY24" fmla="*/ 0 h 191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3581" h="1916906">
                  <a:moveTo>
                    <a:pt x="664355" y="0"/>
                  </a:moveTo>
                  <a:cubicBezTo>
                    <a:pt x="801742" y="0"/>
                    <a:pt x="917642" y="28568"/>
                    <a:pt x="1012055" y="85704"/>
                  </a:cubicBezTo>
                  <a:lnTo>
                    <a:pt x="1023581" y="94510"/>
                  </a:lnTo>
                  <a:lnTo>
                    <a:pt x="1023581" y="1023672"/>
                  </a:lnTo>
                  <a:lnTo>
                    <a:pt x="993619" y="1055308"/>
                  </a:lnTo>
                  <a:cubicBezTo>
                    <a:pt x="921263" y="1127908"/>
                    <a:pt x="821926" y="1217600"/>
                    <a:pt x="695609" y="1324384"/>
                  </a:cubicBezTo>
                  <a:cubicBezTo>
                    <a:pt x="554966" y="1442454"/>
                    <a:pt x="464677" y="1522543"/>
                    <a:pt x="424741" y="1564649"/>
                  </a:cubicBezTo>
                  <a:cubicBezTo>
                    <a:pt x="384806" y="1606754"/>
                    <a:pt x="351816" y="1649077"/>
                    <a:pt x="325771" y="1691618"/>
                  </a:cubicBezTo>
                  <a:lnTo>
                    <a:pt x="1023581" y="1691618"/>
                  </a:lnTo>
                  <a:lnTo>
                    <a:pt x="1023581" y="1880159"/>
                  </a:lnTo>
                  <a:lnTo>
                    <a:pt x="1007974" y="1903307"/>
                  </a:lnTo>
                  <a:lnTo>
                    <a:pt x="987804" y="1916906"/>
                  </a:lnTo>
                  <a:lnTo>
                    <a:pt x="209" y="1916906"/>
                  </a:lnTo>
                  <a:cubicBezTo>
                    <a:pt x="-1527" y="1860475"/>
                    <a:pt x="7589" y="1806215"/>
                    <a:pt x="27556" y="1754125"/>
                  </a:cubicBezTo>
                  <a:cubicBezTo>
                    <a:pt x="59679" y="1668177"/>
                    <a:pt x="111117" y="1583531"/>
                    <a:pt x="181873" y="1500187"/>
                  </a:cubicBezTo>
                  <a:cubicBezTo>
                    <a:pt x="252628" y="1416844"/>
                    <a:pt x="354854" y="1320478"/>
                    <a:pt x="488551" y="1211089"/>
                  </a:cubicBezTo>
                  <a:cubicBezTo>
                    <a:pt x="696043" y="1040929"/>
                    <a:pt x="836251" y="906146"/>
                    <a:pt x="909177" y="806741"/>
                  </a:cubicBezTo>
                  <a:cubicBezTo>
                    <a:pt x="982103" y="707336"/>
                    <a:pt x="1018566" y="613358"/>
                    <a:pt x="1018566" y="524805"/>
                  </a:cubicBezTo>
                  <a:cubicBezTo>
                    <a:pt x="1018566" y="431911"/>
                    <a:pt x="985358" y="353560"/>
                    <a:pt x="918944" y="289750"/>
                  </a:cubicBezTo>
                  <a:cubicBezTo>
                    <a:pt x="852529" y="225940"/>
                    <a:pt x="765930" y="194035"/>
                    <a:pt x="659146" y="194035"/>
                  </a:cubicBezTo>
                  <a:cubicBezTo>
                    <a:pt x="546285" y="194035"/>
                    <a:pt x="455995" y="227893"/>
                    <a:pt x="388279" y="295610"/>
                  </a:cubicBezTo>
                  <a:cubicBezTo>
                    <a:pt x="320562" y="363327"/>
                    <a:pt x="286269" y="457088"/>
                    <a:pt x="285401" y="576895"/>
                  </a:cubicBezTo>
                  <a:lnTo>
                    <a:pt x="44486" y="552152"/>
                  </a:lnTo>
                  <a:cubicBezTo>
                    <a:pt x="60981" y="372442"/>
                    <a:pt x="123055" y="235489"/>
                    <a:pt x="230707" y="141294"/>
                  </a:cubicBezTo>
                  <a:cubicBezTo>
                    <a:pt x="338359" y="47098"/>
                    <a:pt x="482909" y="0"/>
                    <a:pt x="66435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100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9"/>
              </p:custDataLst>
            </p:nvPr>
          </p:nvSpPr>
          <p:spPr>
            <a:xfrm>
              <a:off x="10540144" y="4142435"/>
              <a:ext cx="975284" cy="1926490"/>
            </a:xfrm>
            <a:custGeom>
              <a:avLst/>
              <a:gdLst>
                <a:gd name="connsiteX0" fmla="*/ 835407 w 975284"/>
                <a:gd name="connsiteY0" fmla="*/ 379733 h 1926490"/>
                <a:gd name="connsiteX1" fmla="*/ 232496 w 975284"/>
                <a:gd name="connsiteY1" fmla="*/ 1247978 h 1926490"/>
                <a:gd name="connsiteX2" fmla="*/ 835407 w 975284"/>
                <a:gd name="connsiteY2" fmla="*/ 1247978 h 1926490"/>
                <a:gd name="connsiteX3" fmla="*/ 894268 w 975284"/>
                <a:gd name="connsiteY3" fmla="*/ 247 h 1926490"/>
                <a:gd name="connsiteX4" fmla="*/ 941923 w 975284"/>
                <a:gd name="connsiteY4" fmla="*/ 12530 h 1926490"/>
                <a:gd name="connsiteX5" fmla="*/ 975223 w 975284"/>
                <a:gd name="connsiteY5" fmla="*/ 68107 h 1926490"/>
                <a:gd name="connsiteX6" fmla="*/ 975284 w 975284"/>
                <a:gd name="connsiteY6" fmla="*/ 68101 h 1926490"/>
                <a:gd name="connsiteX7" fmla="*/ 975284 w 975284"/>
                <a:gd name="connsiteY7" fmla="*/ 1851076 h 1926490"/>
                <a:gd name="connsiteX8" fmla="*/ 970249 w 975284"/>
                <a:gd name="connsiteY8" fmla="*/ 1869274 h 1926490"/>
                <a:gd name="connsiteX9" fmla="*/ 937281 w 975284"/>
                <a:gd name="connsiteY9" fmla="*/ 1906360 h 1926490"/>
                <a:gd name="connsiteX10" fmla="*/ 841834 w 975284"/>
                <a:gd name="connsiteY10" fmla="*/ 1921669 h 1926490"/>
                <a:gd name="connsiteX11" fmla="*/ 840579 w 975284"/>
                <a:gd name="connsiteY11" fmla="*/ 1925760 h 1926490"/>
                <a:gd name="connsiteX12" fmla="*/ 835407 w 975284"/>
                <a:gd name="connsiteY12" fmla="*/ 1925760 h 1926490"/>
                <a:gd name="connsiteX13" fmla="*/ 835407 w 975284"/>
                <a:gd name="connsiteY13" fmla="*/ 1464711 h 1926490"/>
                <a:gd name="connsiteX14" fmla="*/ 0 w 975284"/>
                <a:gd name="connsiteY14" fmla="*/ 1464711 h 1926490"/>
                <a:gd name="connsiteX15" fmla="*/ 0 w 975284"/>
                <a:gd name="connsiteY15" fmla="*/ 1247978 h 1926490"/>
                <a:gd name="connsiteX16" fmla="*/ 877344 w 975284"/>
                <a:gd name="connsiteY16" fmla="*/ 2124 h 1926490"/>
                <a:gd name="connsiteX17" fmla="*/ 877769 w 975284"/>
                <a:gd name="connsiteY17" fmla="*/ 3475 h 1926490"/>
                <a:gd name="connsiteX18" fmla="*/ 894268 w 975284"/>
                <a:gd name="connsiteY18" fmla="*/ 247 h 192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5284" h="1926490">
                  <a:moveTo>
                    <a:pt x="835407" y="379733"/>
                  </a:moveTo>
                  <a:lnTo>
                    <a:pt x="232496" y="1247978"/>
                  </a:lnTo>
                  <a:lnTo>
                    <a:pt x="835407" y="1247978"/>
                  </a:lnTo>
                  <a:close/>
                  <a:moveTo>
                    <a:pt x="894268" y="247"/>
                  </a:moveTo>
                  <a:cubicBezTo>
                    <a:pt x="910922" y="-1107"/>
                    <a:pt x="927732" y="3118"/>
                    <a:pt x="941923" y="12530"/>
                  </a:cubicBezTo>
                  <a:cubicBezTo>
                    <a:pt x="960844" y="25078"/>
                    <a:pt x="973083" y="45504"/>
                    <a:pt x="975223" y="68107"/>
                  </a:cubicBezTo>
                  <a:lnTo>
                    <a:pt x="975284" y="68101"/>
                  </a:lnTo>
                  <a:lnTo>
                    <a:pt x="975284" y="1851076"/>
                  </a:lnTo>
                  <a:lnTo>
                    <a:pt x="970249" y="1869274"/>
                  </a:lnTo>
                  <a:cubicBezTo>
                    <a:pt x="962341" y="1883808"/>
                    <a:pt x="951143" y="1896552"/>
                    <a:pt x="937281" y="1906360"/>
                  </a:cubicBezTo>
                  <a:cubicBezTo>
                    <a:pt x="909556" y="1925977"/>
                    <a:pt x="874303" y="1931631"/>
                    <a:pt x="841834" y="1921669"/>
                  </a:cubicBezTo>
                  <a:lnTo>
                    <a:pt x="840579" y="1925760"/>
                  </a:lnTo>
                  <a:lnTo>
                    <a:pt x="835407" y="1925760"/>
                  </a:lnTo>
                  <a:lnTo>
                    <a:pt x="835407" y="1464711"/>
                  </a:lnTo>
                  <a:lnTo>
                    <a:pt x="0" y="1464711"/>
                  </a:lnTo>
                  <a:lnTo>
                    <a:pt x="0" y="1247978"/>
                  </a:lnTo>
                  <a:lnTo>
                    <a:pt x="877344" y="2124"/>
                  </a:lnTo>
                  <a:lnTo>
                    <a:pt x="877769" y="3475"/>
                  </a:lnTo>
                  <a:cubicBezTo>
                    <a:pt x="883183" y="1769"/>
                    <a:pt x="888717" y="698"/>
                    <a:pt x="894268" y="24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100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88" name="椭圆 87"/>
            <p:cNvSpPr/>
            <p:nvPr>
              <p:custDataLst>
                <p:tags r:id="rId10"/>
              </p:custDataLst>
            </p:nvPr>
          </p:nvSpPr>
          <p:spPr>
            <a:xfrm>
              <a:off x="4947920" y="2747328"/>
              <a:ext cx="2296160" cy="2296795"/>
            </a:xfrm>
            <a:prstGeom prst="ellipse">
              <a:avLst/>
            </a:prstGeom>
            <a:blipFill rotWithShape="1">
              <a:blip r:embed="rId11" cstate="screen"/>
              <a:stretch>
                <a:fillRect/>
              </a:stretch>
            </a:blipFill>
            <a:ln w="31750">
              <a:solidFill>
                <a:schemeClr val="accent2"/>
              </a:solidFill>
            </a:ln>
            <a:effectLst>
              <a:outerShdw blurRad="190500" dist="254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638754" y="1927189"/>
              <a:ext cx="3016800" cy="1207043"/>
              <a:chOff x="1638754" y="1927189"/>
              <a:chExt cx="3016800" cy="1207043"/>
            </a:xfrm>
          </p:grpSpPr>
          <p:sp>
            <p:nvSpPr>
              <p:cNvPr id="26" name="文本框 2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638754" y="1927189"/>
                <a:ext cx="109728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项目</a:t>
                </a:r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实施</a:t>
                </a:r>
                <a:endParaRPr lang="zh-CN" altLang="en-US" b="1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50" name="文本框 4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638754" y="2323972"/>
                <a:ext cx="3016800" cy="810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制定合理的实施计划，严格按照计划推进进展，今日事，今日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毕，确保实施工作如期圆满交付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51" name="直接连接符 5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1736725" y="2311400"/>
                <a:ext cx="2859405" cy="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2"/>
                    </a:gs>
                    <a:gs pos="85000">
                      <a:schemeClr val="bg1"/>
                    </a:gs>
                  </a:gsLst>
                  <a:lin ang="0" scaled="1"/>
                </a:gra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/>
            <p:cNvGrpSpPr/>
            <p:nvPr/>
          </p:nvGrpSpPr>
          <p:grpSpPr>
            <a:xfrm>
              <a:off x="1638754" y="4391684"/>
              <a:ext cx="3016800" cy="939165"/>
              <a:chOff x="1638754" y="4391684"/>
              <a:chExt cx="3016800" cy="939165"/>
            </a:xfrm>
          </p:grpSpPr>
          <p:sp>
            <p:nvSpPr>
              <p:cNvPr id="53" name="文本框 5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638754" y="4391684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持续精进</a:t>
                </a:r>
                <a:endParaRPr lang="zh-CN" altLang="en-US" b="1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638754" y="4759984"/>
                <a:ext cx="3016800" cy="57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在工作中不断的学习、成长、复盘，不断精进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58" name="直接连接符 57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1736725" y="4788535"/>
                <a:ext cx="2859405" cy="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2"/>
                    </a:gs>
                    <a:gs pos="85000">
                      <a:schemeClr val="bg1"/>
                    </a:gs>
                  </a:gsLst>
                  <a:lin ang="0" scaled="1"/>
                </a:gra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>
              <a:off x="7506970" y="1927189"/>
              <a:ext cx="3016250" cy="1318931"/>
              <a:chOff x="7506970" y="1927189"/>
              <a:chExt cx="3016250" cy="1318931"/>
            </a:xfrm>
          </p:grpSpPr>
          <p:sp>
            <p:nvSpPr>
              <p:cNvPr id="74" name="文本框 7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9425902" y="1927189"/>
                <a:ext cx="109728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客户</a:t>
                </a:r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关系</a:t>
                </a:r>
                <a:endParaRPr lang="zh-CN" altLang="en-US" b="1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506970" y="2324100"/>
                <a:ext cx="301625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与客户保持紧密联系，做到事事有回应，件件有着落，想客户之所想，急客户之所急，与客户建立良好的协作关系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76" name="直接连接符 75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7535545" y="2314575"/>
                <a:ext cx="2859405" cy="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2"/>
                    </a:gs>
                    <a:gs pos="85000">
                      <a:schemeClr val="bg1"/>
                    </a:gs>
                  </a:gsLst>
                  <a:lin ang="10800000" scaled="0"/>
                </a:gra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7" name="组合 76"/>
            <p:cNvGrpSpPr/>
            <p:nvPr/>
          </p:nvGrpSpPr>
          <p:grpSpPr>
            <a:xfrm>
              <a:off x="7506970" y="4391684"/>
              <a:ext cx="3133725" cy="713057"/>
              <a:chOff x="7506970" y="4391684"/>
              <a:chExt cx="3133725" cy="713057"/>
            </a:xfrm>
          </p:grpSpPr>
          <p:sp>
            <p:nvSpPr>
              <p:cNvPr id="78" name="文本框 7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415186" y="4391684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b="1" dirty="0">
                    <a:gradFill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0"/>
                    </a:gradFill>
                  </a:rPr>
                  <a:t>不断创新</a:t>
                </a:r>
                <a:endParaRPr lang="zh-CN" altLang="en-US" b="1" dirty="0">
                  <a:gradFill>
                    <a:gsLst>
                      <a:gs pos="0">
                        <a:schemeClr val="accent1">
                          <a:lumMod val="75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506970" y="4788617"/>
                <a:ext cx="3133725" cy="316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勤于思考，使自己拥有创新解决问题的</a:t>
                </a:r>
                <a:r>
                  <a:rPr lang="zh-CN" altLang="en-US" sz="1200" dirty="0">
                    <a:solidFill>
                      <a:schemeClr val="bg1"/>
                    </a:solidFill>
                  </a:rPr>
                  <a:t>能力</a:t>
                </a:r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0" name="直接连接符 79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7535545" y="4791710"/>
                <a:ext cx="2859405" cy="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2"/>
                    </a:gs>
                    <a:gs pos="85000">
                      <a:schemeClr val="bg1"/>
                    </a:gs>
                  </a:gsLst>
                  <a:lin ang="10800000" scaled="0"/>
                </a:gra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</p:tagLst>
</file>

<file path=ppt/tags/tag5.xml><?xml version="1.0" encoding="utf-8"?>
<p:tagLst xmlns:p="http://schemas.openxmlformats.org/presentationml/2006/main">
  <p:tag name="ADJUSTMENTS" val="0"/>
  <p:tag name="PA" val="v5.2.11"/>
</p:tagLst>
</file>

<file path=ppt/tags/tag6.xml><?xml version="1.0" encoding="utf-8"?>
<p:tagLst xmlns:p="http://schemas.openxmlformats.org/presentationml/2006/main">
  <p:tag name="PA" val="v5.2.11"/>
</p:tagLst>
</file>

<file path=ppt/tags/tag7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8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9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0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1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2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3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4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5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6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7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8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19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0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1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2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3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4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5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6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7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ags/tag28.xml><?xml version="1.0" encoding="utf-8"?>
<p:tagLst xmlns:p="http://schemas.openxmlformats.org/presentationml/2006/main">
  <p:tag name="KSO_WM_DIAGRAM_VIRTUALLY_FRAME" val="{&quot;height&quot;:344.5,&quot;left&quot;:52,&quot;top&quot;:134.5,&quot;width&quot;:85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高级商务蓝黄配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004695"/>
      </a:accent1>
      <a:accent2>
        <a:srgbClr val="3077BC"/>
      </a:accent2>
      <a:accent3>
        <a:srgbClr val="F4BB31"/>
      </a:accent3>
      <a:accent4>
        <a:srgbClr val="BBCEE5"/>
      </a:accent4>
      <a:accent5>
        <a:srgbClr val="C4C6C6"/>
      </a:accent5>
      <a:accent6>
        <a:srgbClr val="EFEDE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1320</Words>
  <Application>WPS 演示</Application>
  <PresentationFormat>宽屏</PresentationFormat>
  <Paragraphs>127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Alibaba PuHuiTi</vt:lpstr>
      <vt:lpstr>Poppins</vt:lpstr>
      <vt:lpstr>Times New Roman</vt:lpstr>
      <vt:lpstr>微软雅黑</vt:lpstr>
      <vt:lpstr>Arial Unicode MS</vt:lpstr>
      <vt:lpstr>等线 Light</vt:lpstr>
      <vt:lpstr>等线</vt:lpstr>
      <vt:lpstr>Segoe Print</vt:lpstr>
      <vt:lpstr>Calibri</vt:lpstr>
      <vt:lpstr>Alibaba PuHuiTi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xin</dc:creator>
  <cp:lastModifiedBy>雨菡馨儿</cp:lastModifiedBy>
  <cp:revision>6</cp:revision>
  <dcterms:created xsi:type="dcterms:W3CDTF">2026-01-12T05:50:00Z</dcterms:created>
  <dcterms:modified xsi:type="dcterms:W3CDTF">2026-01-19T09:26:10Z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9464603FA053AD0D9A8B646917D8762A_43</vt:lpwstr>
  </property>
</Properties>
</file>