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257" r:id="rId3"/>
    <p:sldId id="262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bewxy" initials="B" lastIdx="0" clrIdx="0"/>
  <p:cmAuthor id="2" name="tion" initials="t" lastIdx="0" clrIdx="1"/>
  <p:cmAuthor id="3" name="bo huang" initials="" lastIdx="0" clrIdx="2"/>
  <p:cmAuthor id="4" name="Jia Wen" initials="JW" lastIdx="0" clrIdx="3"/>
  <p:cmAuthor id="5" name="VivianSheng" initials="V" lastIdx="0" clrIdx="4"/>
  <p:cmAuthor id="6" name="Shaoan Liu" initials="SL" lastIdx="0" clrIdx="5"/>
  <p:cmAuthor id="7" name="作者" initials="A" lastIdx="0" clrIdx="6"/>
  <p:cmAuthor id="8" name="daisy" initials="d" lastIdx="0" clrIdx="7"/>
  <p:cmAuthor id="9" name="望月" initials="望月" lastIdx="0" clrIdx="8"/>
  <p:cmAuthor id="10" name="林韵涵" initials="林" lastIdx="0" clrIdx="9"/>
  <p:cmAuthor id="11" name="13257" initials="1" lastIdx="0" clrIdx="10"/>
  <p:cmAuthor id="12" name="Windows 用户" initials="W" lastIdx="0" clrIdx="11"/>
  <p:cmAuthor id="13" name="User" initials="U" lastIdx="0" clrIdx="1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 Issue/Problems - Suggestions.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926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63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64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/>
          <p:cNvSpPr txBox="1"/>
          <p:nvPr/>
        </p:nvSpPr>
        <p:spPr>
          <a:xfrm>
            <a:off x="4588564" y="6509616"/>
            <a:ext cx="42436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i="1" dirty="0">
                <a:solidFill>
                  <a:srgbClr val="FFFFFF"/>
                </a:solidFill>
              </a:rPr>
              <a:t>COMMERCIAL EXCELLENCE DELIVERED</a:t>
            </a:r>
            <a:endParaRPr lang="en-US" altLang="zh-CN" sz="2000" b="1" i="1" dirty="0">
              <a:solidFill>
                <a:srgbClr val="FFFFFF"/>
              </a:solidFill>
            </a:endParaRPr>
          </a:p>
        </p:txBody>
      </p:sp>
      <p:sp>
        <p:nvSpPr>
          <p:cNvPr id="2" name="TextBox 5"/>
          <p:cNvSpPr txBox="1"/>
          <p:nvPr/>
        </p:nvSpPr>
        <p:spPr>
          <a:xfrm>
            <a:off x="876733" y="2951311"/>
            <a:ext cx="40678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i="1" dirty="0">
                <a:solidFill>
                  <a:srgbClr val="FFFFFF"/>
                </a:solidFill>
              </a:rPr>
              <a:t>项目实施周报</a:t>
            </a:r>
            <a:r>
              <a:rPr lang="en-US" altLang="zh-CN" sz="2800" b="1" i="1" dirty="0">
                <a:solidFill>
                  <a:srgbClr val="FFFFFF"/>
                </a:solidFill>
              </a:rPr>
              <a:t> 1.19～1.23</a:t>
            </a:r>
            <a:endParaRPr lang="en-US" altLang="zh-CN" sz="2800" b="1" i="1" dirty="0">
              <a:solidFill>
                <a:srgbClr val="FFFF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2430" y="62725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汇报日期</a:t>
            </a:r>
            <a:r>
              <a:rPr lang="en-US" altLang="zh-CN">
                <a:solidFill>
                  <a:schemeClr val="bg1"/>
                </a:solidFill>
              </a:rPr>
              <a:t>：2026.1.23</a:t>
            </a:r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898640" y="23145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r"/>
            <a:r>
              <a:rPr lang="zh-CN" altLang="en-US" sz="16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战略客户的项目进展</a:t>
            </a:r>
            <a:r>
              <a:rPr lang="en-US" altLang="zh-CN" sz="16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/</a:t>
            </a:r>
            <a:r>
              <a:rPr lang="zh-CN" altLang="en-US" sz="16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信息同步</a:t>
            </a:r>
            <a:endParaRPr lang="zh-CN" altLang="en-US" sz="16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361950" y="772160"/>
          <a:ext cx="11467465" cy="5842000"/>
        </p:xfrm>
        <a:graphic>
          <a:graphicData uri="http://schemas.openxmlformats.org/drawingml/2006/table">
            <a:tbl>
              <a:tblPr firstRow="1"/>
              <a:tblGrid>
                <a:gridCol w="645160"/>
                <a:gridCol w="991235"/>
                <a:gridCol w="8573770"/>
                <a:gridCol w="1257300"/>
              </a:tblGrid>
              <a:tr h="25781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序号</a:t>
                      </a:r>
                      <a:endParaRPr lang="zh-CN" altLang="en-US" sz="14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重点项目</a:t>
                      </a:r>
                      <a:endParaRPr lang="zh-CN" altLang="en-US" sz="14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项目信息同步</a:t>
                      </a:r>
                      <a:endParaRPr lang="zh-CN" altLang="en-US" sz="14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项目负责人</a:t>
                      </a:r>
                      <a:endParaRPr lang="zh-CN" altLang="en-US" sz="14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0385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默克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1. 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本周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CR：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总经理更换涉及各审批流、邮件模板中英文等调整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UAT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完成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；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新增科室上线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；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合同管理添加水印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讲者标签显示等需求正在开发中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。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正在整理系列会优化等方案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刘元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龙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6290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华东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1. 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本周重点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CR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跟进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：C5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和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E2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关联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D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类活动方案已确认待排期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美团偿还报表已上线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；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招采项目待客户提供试点会议信息后部署上线及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PMS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项目详情页新增显示支付时间等需求提测上线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。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合规记分卡需求，已与朱博等同步方案，方案待调整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2. 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华东四期合同及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26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年运维合同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正在远大集团内部审批中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待审批完成可进行开票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。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高静静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9750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齐鲁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1.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本周重点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CR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跟进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：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【科研】表单信息调整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上线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3.WPS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2025CR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、齐鲁三期验收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客户正在内部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走流程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。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刘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娜娜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78610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翰森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重点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CR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跟进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：1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）身份认证功能：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UAT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测试第一轮完成，绑定解绑接口开发中；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）超期未完成审批会议自动取消，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SIT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已完成，下周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UAT；3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）退回场景成本中心和预算项目这个字段不能编辑，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SIT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已完成，下周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UAT；4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）验收材料编写整理，已完成，并提交给合规正在审查。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2.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正在评估中的需求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：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会议类型调整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；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三方项目赞助类型调整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；HCO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白名单管理方案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；EM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系统对接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OA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审批流程场景需求评估（待客户内部确认整体流程）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；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用餐规则调整优化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3. PM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正在整理二期验收文档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根据实际开发需求调整置换验收的部分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孙菲娅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5940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百济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本周重点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CR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跟进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：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百老荟线上会数量管控需求已上线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新增个人分享拍照端口及提示文本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sit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中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会后结算计算讲者人数比增加去重逻辑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PC+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移动开发中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合同对接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根据实名表更新讲者科室医院及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veeva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状态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需求沟通中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正在推进百济运维合同的签约推进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王雨佳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57275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和黄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1.26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年运维合同已双签盖章，待客户付款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2.250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人天日常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CR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已与业务验收确认，已开票，走付款审批流程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3.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香港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EM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本周沟通，合规已确认工时，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58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人天，准备走合同流程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4.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跟进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CR：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飞检管理迭代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；IT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关会确认新增审批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 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待评估方案及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工时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颜鑫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5940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扬子江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1.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客户正在准备第三笔验收材料，本周配合客户验收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2.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材料管理迭代沟通，初步整理需求清单，待内部评估可行性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；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下周拉会沟通三方系列会方案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颜鑫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511175" y="912495"/>
          <a:ext cx="11365865" cy="5556885"/>
        </p:xfrm>
        <a:graphic>
          <a:graphicData uri="http://schemas.openxmlformats.org/drawingml/2006/table">
            <a:tbl>
              <a:tblPr/>
              <a:tblGrid>
                <a:gridCol w="746125"/>
                <a:gridCol w="1018540"/>
                <a:gridCol w="8258175"/>
                <a:gridCol w="1343025"/>
              </a:tblGrid>
              <a:tr h="33147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序号</a:t>
                      </a:r>
                      <a:endParaRPr lang="zh-CN" altLang="en-US" sz="16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新项目</a:t>
                      </a:r>
                      <a:endParaRPr lang="zh-CN" altLang="en-US" sz="16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项目信息同步</a:t>
                      </a:r>
                      <a:endParaRPr lang="zh-CN" altLang="en-US" sz="16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项目负责人</a:t>
                      </a:r>
                      <a:endParaRPr lang="zh-CN" altLang="en-US" sz="16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9634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泰诺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CRM&amp;EMS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：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UAT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第一轮已完成，收集问题计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167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个，其中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bug 23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个；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15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个已解决，部分为操作或网络问题；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、正式环境数据初始化全量数据收集，已完成，正在校验数据质量及问题，预计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1/28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日完成修正；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3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UAT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测试前计划和功能介绍宣讲工作，已完成。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4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、生产环境准备，计划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1/29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号完成部署和回归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孙菲娅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178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礼邦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1.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礼邦：完成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UAT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；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UAT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测试问题调整中，完成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80%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；下周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29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日上线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李沫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忱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925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神基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样品管理已上线，美团开发及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SIT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已完成，下周进行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uat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张宇通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6425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云顶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1.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海森项目推定中，商务层面合同已在推进中，客户由于海森用户还未签署劳动协议，所以上线时间延迟至年后。开发进度目前正常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张宇通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178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凯瑞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1.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项目处于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Hypercare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阶段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本周跟进上线后问题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同步跟客户在沟通上线验收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。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林穆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634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百济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SAAS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、百济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SaaS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功能设计说明书确认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--80%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，已反馈一轮答疑，待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IT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确认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、百济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SaaS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给财务介绍预算管理方案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--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符合财务预期，待财务进一步评估，不在一期上线范围，一期上线后可考虑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3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、百济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SaaS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自办会申请模块开发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--20%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4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、百济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SaaS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接口开发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--40%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王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雄伟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706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士卓曼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内部开发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：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整体开发进度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90%；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接口开发进度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90%，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内部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SIT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测试：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50%，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正常推进中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2.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客户更新部分蓝图设计要求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预计下周跟客户同步开发计划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预计原定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日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UAT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计划需要推迟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已经跟客户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同步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林穆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642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雷允上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雷允上本周一期项目包含讲者管理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三方机构管理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材料管理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会议管理已经全部开发完成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本周部署上线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；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2.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本周完成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UAT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测试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下周一进行系统初始化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周二上线培训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确保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28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日系统上线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高静静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6898640" y="23145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r"/>
            <a:r>
              <a:rPr lang="zh-CN" altLang="en-US" sz="16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新项目</a:t>
            </a:r>
            <a:r>
              <a:rPr lang="zh-CN" altLang="en-US" sz="160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进展</a:t>
            </a:r>
            <a:r>
              <a:rPr lang="en-US" altLang="zh-CN" sz="160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/</a:t>
            </a:r>
            <a:r>
              <a:rPr lang="zh-CN" altLang="en-US" sz="160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信息同步</a:t>
            </a:r>
            <a:endParaRPr lang="zh-CN" altLang="en-US" sz="16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 algn="r"/>
            <a:endParaRPr lang="zh-CN" altLang="en-US" sz="16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898640" y="23145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r"/>
            <a:r>
              <a:rPr lang="en-US" altLang="zh-CN" sz="1600">
                <a:sym typeface="+mn-ea"/>
              </a:rPr>
              <a:t>ssue/Problems - Suggestions.</a:t>
            </a:r>
            <a:endParaRPr lang="en-US" altLang="zh-CN" sz="1600"/>
          </a:p>
          <a:p>
            <a:pPr marL="0" indent="0" algn="r"/>
            <a:endParaRPr lang="zh-CN" altLang="en-US" sz="16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193040" y="1617980"/>
          <a:ext cx="11365865" cy="3009265"/>
        </p:xfrm>
        <a:graphic>
          <a:graphicData uri="http://schemas.openxmlformats.org/drawingml/2006/table">
            <a:tbl>
              <a:tblPr/>
              <a:tblGrid>
                <a:gridCol w="2015490"/>
                <a:gridCol w="9350375"/>
              </a:tblGrid>
              <a:tr h="61277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风险及</a:t>
                      </a:r>
                      <a:r>
                        <a:rPr lang="zh-CN" altLang="en-US" sz="18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问题</a:t>
                      </a:r>
                      <a:endParaRPr lang="zh-CN" altLang="en-US" sz="18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说明</a:t>
                      </a:r>
                      <a:endParaRPr lang="zh-CN" altLang="en-US" sz="18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119824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齐鲁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齐鲁近期提了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2-3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个小的调整需求如增加字段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调整字段必填等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需求都相对比较急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要求马上上线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。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目前已经按照客户要求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开发临时调整开发顺序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已及时为齐鲁上线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。 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但客户也表达了希望我们能加强需求响应速度。已经跟小慧沟通同步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考虑将齐鲁的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CR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和运维拆分为不同的人员跟进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。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TABLE_ENDDRAG_ORIGIN_RECT" val="902*294"/>
  <p:tag name="TABLE_ENDDRAG_RECT" val="28*60*902*294"/>
</p:tagLst>
</file>

<file path=ppt/tags/tag64.xml><?xml version="1.0" encoding="utf-8"?>
<p:tagLst xmlns:p="http://schemas.openxmlformats.org/presentationml/2006/main">
  <p:tag name="TABLE_ENDDRAG_ORIGIN_RECT" val="894*234"/>
  <p:tag name="TABLE_ENDDRAG_RECT" val="40*71*894*23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1850</Words>
  <Application>WPS 表格</Application>
  <PresentationFormat>宽屏</PresentationFormat>
  <Paragraphs>175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汉仪旗黑</vt:lpstr>
      <vt:lpstr>汉仪书宋二KW</vt:lpstr>
      <vt:lpstr>苹方-简</vt:lpstr>
      <vt:lpstr>微软雅黑</vt:lpstr>
      <vt:lpstr>宋体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linmu</dc:creator>
  <cp:lastModifiedBy>WPS_1761633435</cp:lastModifiedBy>
  <cp:revision>182</cp:revision>
  <dcterms:created xsi:type="dcterms:W3CDTF">2026-01-24T11:02:30Z</dcterms:created>
  <dcterms:modified xsi:type="dcterms:W3CDTF">2026-01-24T11:02:30Z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9313D33DAAF577C7191A2969D6B8C715_41</vt:lpwstr>
  </property>
</Properties>
</file>