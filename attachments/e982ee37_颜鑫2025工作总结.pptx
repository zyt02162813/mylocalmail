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32512000" cy="1828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1" d="100"/>
          <a:sy n="41" d="100"/>
        </p:scale>
        <p:origin x="4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930542" y="5528140"/>
            <a:ext cx="16207739" cy="7331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7465" algn="l" rtl="0" eaLnBrk="0">
              <a:lnSpc>
                <a:spcPct val="94000"/>
              </a:lnSpc>
            </a:pPr>
            <a:r>
              <a:rPr sz="12900" kern="0" spc="33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2025年度工作总</a:t>
            </a:r>
            <a:r>
              <a:rPr sz="12900" kern="0" spc="32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</a:t>
            </a:r>
            <a:r>
              <a:rPr sz="12900" kern="0" spc="-1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sz="12900" kern="0" spc="43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及2026年工作规划</a:t>
            </a:r>
            <a:endParaRPr sz="1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230" algn="l" rtl="0" eaLnBrk="0">
              <a:lnSpc>
                <a:spcPct val="96000"/>
              </a:lnSpc>
              <a:spcBef>
                <a:spcPts val="1930"/>
              </a:spcBef>
            </a:pPr>
            <a:endParaRPr sz="6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165" algn="l" rtl="0" eaLnBrk="0">
              <a:lnSpc>
                <a:spcPts val="4555"/>
              </a:lnSpc>
            </a:pPr>
            <a:r>
              <a:rPr sz="5600" kern="0" spc="100" baseline="600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汇报人</a:t>
            </a:r>
            <a:r>
              <a:rPr sz="5600" kern="0" spc="100" baseline="6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：[</a:t>
            </a:r>
            <a:r>
              <a:rPr lang="zh-CN" altLang="en-US" sz="5600" kern="0" spc="100" baseline="6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颜鑫</a:t>
            </a:r>
            <a:r>
              <a:rPr sz="5600" kern="0" spc="100" baseline="6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]</a:t>
            </a:r>
            <a:r>
              <a:rPr sz="3600" kern="0" spc="4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5600" kern="0" spc="100" baseline="6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日期：2026年1月</a:t>
            </a:r>
            <a:r>
              <a:rPr sz="36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endParaRPr sz="5600" baseline="-8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353838"/>
              </p:ext>
            </p:extLst>
          </p:nvPr>
        </p:nvGraphicFramePr>
        <p:xfrm>
          <a:off x="1212697" y="3705265"/>
          <a:ext cx="29997399" cy="12651739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4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661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5300" algn="l" rtl="0" eaLnBrk="0">
                        <a:lnSpc>
                          <a:spcPct val="95000"/>
                        </a:lnSpc>
                      </a:pPr>
                      <a:r>
                        <a:rPr sz="3700" b="1" kern="0" spc="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客户名称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1130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3700" b="1" kern="0" spc="-1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核心项目内容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90775" algn="l" rtl="0" eaLnBrk="0">
                        <a:lnSpc>
                          <a:spcPct val="94000"/>
                        </a:lnSpc>
                      </a:pPr>
                      <a:r>
                        <a:rPr sz="3700" b="1" kern="0" spc="-2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关键价值体现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6600" algn="l" rtl="0" eaLnBrk="0">
                        <a:lnSpc>
                          <a:spcPct val="95000"/>
                        </a:lnSpc>
                      </a:pPr>
                      <a:r>
                        <a:rPr sz="3800" b="1" kern="0" spc="0" dirty="0">
                          <a:solidFill>
                            <a:srgbClr val="20609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交付状态</a:t>
                      </a:r>
                      <a:endParaRPr sz="3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5300" algn="l" rtl="0" eaLnBrk="0">
                        <a:lnSpc>
                          <a:spcPct val="95000"/>
                        </a:lnSpc>
                      </a:pPr>
                      <a:r>
                        <a:rPr sz="3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和黄医药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895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0495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3700" kern="0" spc="-70" dirty="0">
                          <a:solidFill>
                            <a:srgbClr val="1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·</a:t>
                      </a:r>
                      <a:r>
                        <a:rPr sz="3700" kern="0" spc="-370" dirty="0">
                          <a:solidFill>
                            <a:srgbClr val="103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3700" kern="0" spc="-7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EM&amp;Smartgo集成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04950" algn="l" rtl="0" eaLnBrk="0">
                        <a:lnSpc>
                          <a:spcPct val="94000"/>
                        </a:lnSpc>
                        <a:spcBef>
                          <a:spcPts val="1120"/>
                        </a:spcBef>
                      </a:pPr>
                      <a:r>
                        <a:rPr sz="3700" kern="0" spc="-12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·</a:t>
                      </a:r>
                      <a:r>
                        <a:rPr sz="3700" kern="0" spc="-43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37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小会资源/机票预定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04950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lang="en-US" altLang="zh-CN" sz="3700" kern="0" spc="-12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· </a:t>
                      </a:r>
                      <a:r>
                        <a:rPr sz="3700" kern="0" spc="4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系列会迁移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8442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lang="zh-CN" altLang="en-US" sz="3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供应商数据</a:t>
                      </a:r>
                      <a:r>
                        <a:rPr sz="3700" b="1" kern="0" spc="-1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集成闭环</a:t>
                      </a:r>
                      <a:r>
                        <a:rPr sz="3700" kern="0" spc="-1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：合同校验与费控合规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997075" algn="l" rtl="0" eaLnBrk="0">
                        <a:lnSpc>
                          <a:spcPts val="4760"/>
                        </a:lnSpc>
                      </a:pPr>
                      <a:r>
                        <a:rPr lang="en-US" sz="3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3700" b="1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全场景覆盖：</a:t>
                      </a:r>
                      <a:r>
                        <a:rPr sz="37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提升业务自动化水平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8234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2900" b="1" kern="0" spc="20" dirty="0">
                          <a:solidFill>
                            <a:srgbClr val="206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已上线</a:t>
                      </a:r>
                      <a:endParaRPr sz="2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530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37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扬子江药业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8950" algn="l" rtl="0" eaLnBrk="0">
                        <a:lnSpc>
                          <a:spcPct val="78000"/>
                        </a:lnSpc>
                      </a:pP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0495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3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·</a:t>
                      </a:r>
                      <a:r>
                        <a:rPr sz="3700" kern="0" spc="-13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3700" kern="0" spc="3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飞检管理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7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04950" algn="l" rtl="0" eaLnBrk="0">
                        <a:lnSpc>
                          <a:spcPct val="94000"/>
                        </a:lnSpc>
                        <a:spcBef>
                          <a:spcPts val="1110"/>
                        </a:spcBef>
                      </a:pPr>
                      <a:r>
                        <a:rPr sz="3700" kern="0" spc="-70" dirty="0">
                          <a:solidFill>
                            <a:srgbClr val="20507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·</a:t>
                      </a:r>
                      <a:r>
                        <a:rPr sz="3700" kern="0" spc="-360" dirty="0">
                          <a:solidFill>
                            <a:srgbClr val="20507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3700" kern="0" spc="-7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门户看板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04950" algn="l" rtl="0" eaLnBrk="0">
                        <a:lnSpc>
                          <a:spcPct val="95000"/>
                        </a:lnSpc>
                      </a:pPr>
                      <a:r>
                        <a:rPr lang="en-US" altLang="zh-CN" sz="3700" kern="0" spc="-70" dirty="0">
                          <a:solidFill>
                            <a:srgbClr val="20507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· </a:t>
                      </a:r>
                      <a:r>
                        <a:rPr sz="3700" kern="0" spc="7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调查问卷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9707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lang="en-US" sz="3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3700" b="1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合规风控防御</a:t>
                      </a:r>
                      <a:r>
                        <a:rPr sz="37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：规</a:t>
                      </a:r>
                      <a:r>
                        <a:rPr sz="3700" u="sng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避虚</a:t>
                      </a:r>
                      <a:r>
                        <a:rPr sz="37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假会议风险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232025" algn="l" rtl="0" eaLnBrk="0">
                        <a:lnSpc>
                          <a:spcPts val="4685"/>
                        </a:lnSpc>
                      </a:pPr>
                      <a:r>
                        <a:rPr lang="en-US" sz="3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3700" b="1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数据决策：</a:t>
                      </a:r>
                      <a:r>
                        <a:rPr sz="3700" kern="0" spc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打破孤岛，实时监管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8234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2900" b="1" kern="0" spc="-10" dirty="0">
                          <a:solidFill>
                            <a:srgbClr val="20504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已上线</a:t>
                      </a:r>
                      <a:endParaRPr sz="2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5300" algn="l" rtl="0" eaLnBrk="0">
                        <a:lnSpc>
                          <a:spcPct val="95000"/>
                        </a:lnSpc>
                      </a:pPr>
                      <a:r>
                        <a:rPr sz="37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施维雅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8950" algn="l" rtl="0" eaLnBrk="0">
                        <a:lnSpc>
                          <a:spcPct val="78000"/>
                        </a:lnSpc>
                      </a:pP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0495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3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合规政策需求调整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6062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3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政策敏捷响应，守住合规</a:t>
                      </a:r>
                      <a:r>
                        <a:rPr sz="3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红线</a:t>
                      </a: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6945" algn="l" rtl="0" eaLnBrk="0">
                        <a:lnSpc>
                          <a:spcPct val="95000"/>
                        </a:lnSpc>
                      </a:pPr>
                      <a:r>
                        <a:rPr sz="2900" b="1" kern="0" spc="-10" dirty="0">
                          <a:solidFill>
                            <a:srgbClr val="3040A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稳定运行</a:t>
                      </a:r>
                      <a:endParaRPr sz="2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7225">
                <a:tc>
                  <a:txBody>
                    <a:bodyPr/>
                    <a:lstStyle/>
                    <a:p>
                      <a:pPr marL="488950" algn="l" rtl="0" eaLnBrk="0">
                        <a:lnSpc>
                          <a:spcPct val="78000"/>
                        </a:lnSpc>
                      </a:pP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0495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6062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endParaRPr sz="3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56945" algn="l" rtl="0" eaLnBrk="0">
                        <a:lnSpc>
                          <a:spcPct val="95000"/>
                        </a:lnSpc>
                      </a:pPr>
                      <a:endParaRPr sz="2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126308"/>
                  </a:ext>
                </a:extLst>
              </a:tr>
            </a:tbl>
          </a:graphicData>
        </a:graphic>
      </p:graphicFrame>
      <p:sp>
        <p:nvSpPr>
          <p:cNvPr id="8" name="textbox 8"/>
          <p:cNvSpPr/>
          <p:nvPr/>
        </p:nvSpPr>
        <p:spPr>
          <a:xfrm>
            <a:off x="1802454" y="1170700"/>
            <a:ext cx="17663160" cy="950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64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2025年工作成功与核心产出</a:t>
            </a:r>
            <a:endParaRPr sz="6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7849719" y="15004735"/>
            <a:ext cx="7815474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lang="en-US" sz="37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3700" kern="0" spc="10" dirty="0" err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明确业务痛点，为高质量上线奠基</a:t>
            </a:r>
            <a:endParaRPr sz="3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688978" y="14955454"/>
            <a:ext cx="2120264" cy="1184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95000"/>
              </a:lnSpc>
            </a:pPr>
            <a:r>
              <a:rPr sz="37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士卓曼</a:t>
            </a:r>
            <a:endParaRPr sz="3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  <a:spcBef>
                <a:spcPts val="0"/>
              </a:spcBef>
            </a:pPr>
            <a:endParaRPr sz="3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7753441" y="15006614"/>
            <a:ext cx="4037965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37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项目调研&amp;开发跟进</a:t>
            </a:r>
            <a:endParaRPr sz="3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622498"/>
            <a:ext cx="32480138" cy="1902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27449927" y="15047819"/>
            <a:ext cx="1160144" cy="445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900" b="1" kern="0" spc="50" dirty="0">
                <a:solidFill>
                  <a:srgbClr val="90503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推进中</a:t>
            </a:r>
            <a:endParaRPr sz="2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1764387" y="1130245"/>
            <a:ext cx="12956540" cy="10097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6600" b="1" kern="0" spc="-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深度交付：集成与风控的</a:t>
            </a:r>
            <a:r>
              <a:rPr sz="6600" b="1" kern="0" spc="-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双重突破</a:t>
            </a:r>
            <a:endParaRPr sz="6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5255" algn="l" rtl="0" eaLnBrk="0">
              <a:lnSpc>
                <a:spcPct val="95000"/>
              </a:lnSpc>
              <a:spcBef>
                <a:spcPts val="1265"/>
              </a:spcBef>
            </a:pPr>
            <a:r>
              <a:rPr sz="4200" b="1" kern="0" spc="-5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①和黄医药：采购集</a:t>
            </a:r>
            <a:r>
              <a:rPr sz="4200" b="1" kern="0" spc="-6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成与全场景</a:t>
            </a:r>
            <a:endParaRPr sz="4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635" algn="l" rtl="0" eaLnBrk="0">
              <a:lnSpc>
                <a:spcPct val="97000"/>
              </a:lnSpc>
              <a:spcBef>
                <a:spcPts val="1000"/>
              </a:spcBef>
            </a:pPr>
            <a:r>
              <a:rPr sz="33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 </a:t>
            </a:r>
            <a:r>
              <a:rPr sz="3300" b="1" kern="0" spc="8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采购与财务集成突</a:t>
            </a:r>
            <a:r>
              <a:rPr sz="3300" b="1" kern="0" spc="7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破</a:t>
            </a:r>
            <a:r>
              <a:rPr sz="33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endParaRPr lang="zh-CN" altLang="en-US"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6000"/>
              </a:lnSpc>
              <a:spcBef>
                <a:spcPts val="1420"/>
              </a:spcBef>
            </a:pPr>
            <a:r>
              <a:rPr lang="zh-CN" altLang="en-US" sz="3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成功对接</a:t>
            </a:r>
            <a:r>
              <a:rPr lang="en-US" altLang="zh-CN" sz="3300" kern="0" spc="-40" dirty="0" err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Smartgo</a:t>
            </a:r>
            <a:r>
              <a:rPr lang="zh-CN" altLang="en-US" sz="3300" kern="0" spc="-3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3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合同采购平</a:t>
            </a:r>
            <a:r>
              <a:rPr lang="zh-CN" altLang="en-US" sz="33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台，实现供应商数据与合同信息的实时</a:t>
            </a:r>
            <a:endParaRPr lang="zh-CN" altLang="en-US"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10235" algn="l" rtl="0" eaLnBrk="0">
              <a:lnSpc>
                <a:spcPts val="4750"/>
              </a:lnSpc>
            </a:pPr>
            <a:r>
              <a:rPr sz="3300" kern="0" spc="-21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校验，确保会议支出匹配合同</a:t>
            </a:r>
            <a:r>
              <a:rPr sz="3300" kern="0" spc="-22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框架</a:t>
            </a:r>
            <a:r>
              <a:rPr sz="3300" kern="0" spc="-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635" algn="l" rtl="0" eaLnBrk="0">
              <a:lnSpc>
                <a:spcPct val="97000"/>
              </a:lnSpc>
              <a:spcBef>
                <a:spcPts val="990"/>
              </a:spcBef>
            </a:pPr>
            <a:r>
              <a:rPr sz="3300" kern="0" spc="-50" dirty="0">
                <a:solidFill>
                  <a:srgbClr val="205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3300" kern="0" spc="430" dirty="0">
                <a:solidFill>
                  <a:srgbClr val="205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3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业务场景深化：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10235" algn="l" rtl="0" eaLnBrk="0">
              <a:lnSpc>
                <a:spcPct val="93000"/>
              </a:lnSpc>
              <a:spcBef>
                <a:spcPts val="1130"/>
              </a:spcBef>
            </a:pPr>
            <a:r>
              <a:rPr sz="3300" kern="0" spc="-15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攻克系列会子会议数据迁移；实现小会资源一站式预定</a:t>
            </a:r>
            <a:r>
              <a:rPr sz="3300"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635" algn="l" rtl="0" eaLnBrk="0">
              <a:lnSpc>
                <a:spcPct val="98000"/>
              </a:lnSpc>
              <a:spcBef>
                <a:spcPts val="990"/>
              </a:spcBef>
            </a:pPr>
            <a:r>
              <a:rPr sz="3300" kern="0" spc="-4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 </a:t>
            </a:r>
            <a:r>
              <a:rPr sz="33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合规定制化：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610235" algn="l" rtl="0" eaLnBrk="0">
              <a:lnSpc>
                <a:spcPct val="93000"/>
              </a:lnSpc>
              <a:spcBef>
                <a:spcPts val="755"/>
              </a:spcBef>
            </a:pPr>
            <a:r>
              <a:rPr sz="3300"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针对</a:t>
            </a:r>
            <a:r>
              <a:rPr sz="3300" kern="0" spc="-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IIT</a:t>
            </a:r>
            <a:r>
              <a:rPr sz="3300"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活动进行专项改造，适配特定业务线规范。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17410917" y="4274718"/>
            <a:ext cx="13097510" cy="6071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5255" eaLnBrk="0">
              <a:lnSpc>
                <a:spcPct val="95000"/>
              </a:lnSpc>
              <a:spcBef>
                <a:spcPts val="1265"/>
              </a:spcBef>
            </a:pPr>
            <a:r>
              <a:rPr lang="zh-CN" altLang="en-US" sz="4200" b="1" kern="0" spc="-5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rPr>
              <a:t>①</a:t>
            </a:r>
            <a:r>
              <a:rPr sz="4200" b="1" kern="0" spc="-5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rPr>
              <a:t>扬 子 江 ： 风 险 管 控 与 可 视 化</a:t>
            </a: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990"/>
              </a:spcBef>
            </a:pPr>
            <a:r>
              <a:rPr sz="3300" kern="0" spc="200" dirty="0">
                <a:solidFill>
                  <a:srgbClr val="203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 </a:t>
            </a:r>
            <a:r>
              <a:rPr sz="3300" b="1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合规风控(飞检管理)</a:t>
            </a:r>
            <a:r>
              <a:rPr sz="3300" b="1"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94665" algn="l" rtl="0" eaLnBrk="0">
              <a:lnSpc>
                <a:spcPct val="93000"/>
              </a:lnSpc>
              <a:spcBef>
                <a:spcPts val="1005"/>
              </a:spcBef>
            </a:pPr>
            <a:r>
              <a:rPr sz="3300"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建立会议真实性验证机制，系统化抽查，有效规避虚假会</a:t>
            </a:r>
            <a:r>
              <a:rPr sz="3300" kern="0" spc="-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议合规隐患。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990"/>
              </a:spcBef>
            </a:pPr>
            <a:r>
              <a:rPr sz="33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 </a:t>
            </a:r>
            <a:r>
              <a:rPr sz="3300" b="1" kern="0" spc="9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门户数据看板</a:t>
            </a:r>
            <a:r>
              <a:rPr sz="3300" b="1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94665" algn="l" rtl="0" eaLnBrk="0">
              <a:lnSpc>
                <a:spcPct val="93000"/>
              </a:lnSpc>
              <a:spcBef>
                <a:spcPts val="1325"/>
              </a:spcBef>
            </a:pPr>
            <a:r>
              <a:rPr sz="3300" kern="0" spc="-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实施可视化管理驾驶舱，管理层实时掌握预算进度与会议概</a:t>
            </a:r>
            <a:r>
              <a:rPr sz="3300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况。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995"/>
              </a:spcBef>
            </a:pPr>
            <a:r>
              <a:rPr sz="3300" kern="0" spc="-20" dirty="0">
                <a:solidFill>
                  <a:srgbClr val="205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 </a:t>
            </a:r>
            <a:r>
              <a:rPr sz="33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用户反馈闭环：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94665" algn="l" rtl="0" eaLnBrk="0">
              <a:lnSpc>
                <a:spcPct val="93000"/>
              </a:lnSpc>
              <a:spcBef>
                <a:spcPts val="5"/>
              </a:spcBef>
            </a:pPr>
            <a:r>
              <a:rPr sz="3300" kern="0" spc="-16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上线会后</a:t>
            </a:r>
            <a:r>
              <a:rPr lang="zh-CN" altLang="en-US" sz="3300" kern="0" spc="-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支持</a:t>
            </a:r>
            <a:r>
              <a:rPr sz="3300" kern="0" spc="-16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触发问卷，收集真实参会反馈以驱动服务优化</a:t>
            </a:r>
            <a:r>
              <a:rPr sz="3300" kern="0" spc="-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1886944" y="5842416"/>
            <a:ext cx="13162280" cy="3792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200" kern="0" spc="180" dirty="0">
                <a:solidFill>
                  <a:srgbClr val="104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 </a:t>
            </a:r>
            <a:r>
              <a:rPr sz="3200" b="1" kern="0" spc="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业务理解深度有待提升：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95300" algn="l" rtl="0" eaLnBrk="0">
              <a:lnSpc>
                <a:spcPct val="86000"/>
              </a:lnSpc>
              <a:spcBef>
                <a:spcPts val="575"/>
              </a:spcBef>
            </a:pPr>
            <a:r>
              <a:rPr sz="3200" kern="0" spc="-23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初期对</a:t>
            </a:r>
            <a:r>
              <a:rPr lang="zh-CN" altLang="en-US" sz="32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业务场景</a:t>
            </a:r>
            <a:r>
              <a:rPr sz="3200" kern="0" spc="-23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的底层逻辑理解不够</a:t>
            </a:r>
            <a:r>
              <a:rPr sz="3200" kern="0" spc="-10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透彻，导致部分需求确认耗时较长</a:t>
            </a:r>
            <a:r>
              <a:rPr sz="32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970"/>
              </a:spcBef>
            </a:pPr>
            <a:r>
              <a:rPr sz="3200" kern="0" spc="160" dirty="0">
                <a:solidFill>
                  <a:srgbClr val="205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 </a:t>
            </a:r>
            <a:r>
              <a:rPr sz="3200" b="1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多项目资源协调被动：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6000"/>
              </a:lnSpc>
              <a:spcBef>
                <a:spcPts val="135"/>
              </a:spcBef>
            </a:pPr>
            <a:r>
              <a:rPr sz="3200" kern="0" spc="2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在扬子江门户看板与和黄</a:t>
            </a:r>
            <a:r>
              <a:rPr lang="zh-CN" altLang="en-US" sz="32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需求</a:t>
            </a:r>
            <a:r>
              <a:rPr sz="3200" kern="0" spc="1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并行期间，对开发资源的争夺存在被动应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95300" algn="l" rtl="0" eaLnBrk="0">
              <a:lnSpc>
                <a:spcPts val="5050"/>
              </a:lnSpc>
            </a:pPr>
            <a:r>
              <a:rPr sz="3200" kern="0" spc="-4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对，导致个别非关键</a:t>
            </a:r>
            <a:r>
              <a:rPr sz="3200" kern="0" spc="-40" dirty="0" err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</a:t>
            </a:r>
            <a:r>
              <a:rPr sz="3200" kern="0" spc="-5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交付略有延期</a:t>
            </a:r>
            <a:r>
              <a:rPr sz="32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802454" y="1170340"/>
            <a:ext cx="16570960" cy="969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64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2025年不足与成长反思</a:t>
            </a:r>
            <a:endParaRPr sz="6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886944" y="4475798"/>
            <a:ext cx="4465954" cy="624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lang="en-US" altLang="zh-CN" sz="4100" b="1" kern="0" spc="-10" dirty="0">
                <a:solidFill>
                  <a:srgbClr val="C0303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4100" kern="0" spc="2040" dirty="0">
                <a:solidFill>
                  <a:srgbClr val="C0303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100" b="1" kern="0" spc="-10" dirty="0">
                <a:solidFill>
                  <a:srgbClr val="C0303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</a:t>
            </a:r>
            <a:r>
              <a:rPr sz="4100" b="1" kern="0" spc="-10" dirty="0">
                <a:solidFill>
                  <a:srgbClr val="C03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存在的不足</a:t>
            </a:r>
            <a:endParaRPr sz="4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622498"/>
            <a:ext cx="32480138" cy="1902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65401" y="5280043"/>
            <a:ext cx="13392016" cy="6350"/>
          </a:xfrm>
          <a:prstGeom prst="rect">
            <a:avLst/>
          </a:prstGeom>
        </p:spPr>
      </p:pic>
      <p:sp>
        <p:nvSpPr>
          <p:cNvPr id="13" name="textbox 32">
            <a:extLst>
              <a:ext uri="{FF2B5EF4-FFF2-40B4-BE49-F238E27FC236}">
                <a16:creationId xmlns:a16="http://schemas.microsoft.com/office/drawing/2014/main" id="{D0462AC5-FA71-41A7-B18A-54B6CF6C3E38}"/>
              </a:ext>
            </a:extLst>
          </p:cNvPr>
          <p:cNvSpPr/>
          <p:nvPr/>
        </p:nvSpPr>
        <p:spPr>
          <a:xfrm>
            <a:off x="17459383" y="4475798"/>
            <a:ext cx="4465954" cy="624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lang="en-US" altLang="zh-CN" sz="4100" b="1" kern="0" spc="-10" dirty="0">
                <a:solidFill>
                  <a:srgbClr val="C0303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4100" kern="0" spc="2040" dirty="0">
                <a:solidFill>
                  <a:srgbClr val="C0303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100" b="1" kern="0" spc="-1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en-US" sz="4100" b="1" kern="0" spc="-10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r>
              <a:rPr lang="zh-CN" altLang="en-US" sz="4100" b="1" kern="0" spc="-10" dirty="0">
                <a:solidFill>
                  <a:schemeClr val="accent6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成长的方向</a:t>
            </a:r>
            <a:endParaRPr sz="4100" dirty="0">
              <a:solidFill>
                <a:schemeClr val="accent6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textbox 28">
            <a:extLst>
              <a:ext uri="{FF2B5EF4-FFF2-40B4-BE49-F238E27FC236}">
                <a16:creationId xmlns:a16="http://schemas.microsoft.com/office/drawing/2014/main" id="{5140B879-A67F-4C20-8313-656B1A20FE6F}"/>
              </a:ext>
            </a:extLst>
          </p:cNvPr>
          <p:cNvSpPr/>
          <p:nvPr/>
        </p:nvSpPr>
        <p:spPr>
          <a:xfrm>
            <a:off x="17030325" y="5842416"/>
            <a:ext cx="13392016" cy="356511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608965" algn="l" rtl="0" eaLnBrk="0">
              <a:lnSpc>
                <a:spcPct val="97000"/>
              </a:lnSpc>
              <a:spcBef>
                <a:spcPts val="970"/>
              </a:spcBef>
            </a:pPr>
            <a:r>
              <a:rPr lang="en-US" altLang="zh-CN" sz="3200" kern="0" spc="100" dirty="0">
                <a:solidFill>
                  <a:srgbClr val="205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 </a:t>
            </a:r>
            <a:r>
              <a:rPr lang="zh-CN" altLang="en-US" sz="3200" b="1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行业专家化转型：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091565" eaLnBrk="0">
              <a:lnSpc>
                <a:spcPct val="86000"/>
              </a:lnSpc>
              <a:spcBef>
                <a:spcPts val="110"/>
              </a:spcBef>
            </a:pPr>
            <a:r>
              <a:rPr lang="zh-CN" altLang="en-US" sz="32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rPr>
              <a:t>跳出功能思维，深入研究医药合规新政</a:t>
            </a:r>
            <a:r>
              <a:rPr lang="en-US" altLang="zh-CN" sz="32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3200" kern="0" spc="-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rPr>
              <a:t>从“接需求”向“引导需求”转变。</a:t>
            </a:r>
          </a:p>
          <a:p>
            <a:pPr algn="l" rtl="0" eaLnBrk="0">
              <a:lnSpc>
                <a:spcPct val="100000"/>
              </a:lnSpc>
            </a:pPr>
            <a:endParaRPr lang="zh-CN" alt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lang="zh-CN" alt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7065" algn="l" rtl="0" eaLnBrk="0">
              <a:lnSpc>
                <a:spcPct val="97000"/>
              </a:lnSpc>
              <a:spcBef>
                <a:spcPts val="970"/>
              </a:spcBef>
            </a:pPr>
            <a:r>
              <a:rPr lang="en-US" altLang="zh-CN" sz="3200" kern="0" spc="100" dirty="0">
                <a:solidFill>
                  <a:srgbClr val="205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 </a:t>
            </a:r>
            <a:r>
              <a:rPr lang="zh-CN" altLang="en-US" sz="3200" b="1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前瞻性项目组合管理：</a:t>
            </a:r>
            <a:endParaRPr lang="zh-CN" altLang="en-US" sz="32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091565" algn="l" rtl="0" eaLnBrk="0">
              <a:lnSpc>
                <a:spcPct val="86000"/>
              </a:lnSpc>
              <a:spcBef>
                <a:spcPts val="1250"/>
              </a:spcBef>
            </a:pPr>
            <a:r>
              <a:rPr lang="zh-CN" altLang="en-US" sz="32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建立更严格的需求优先级评估机制</a:t>
            </a:r>
            <a:r>
              <a:rPr lang="en-US" altLang="zh-CN" sz="32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sz="32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平衡核心里程碑交付与碎</a:t>
            </a:r>
            <a:r>
              <a:rPr lang="zh-CN" altLang="en-US" sz="3200"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片化需求响应。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5" name="picture 42">
            <a:extLst>
              <a:ext uri="{FF2B5EF4-FFF2-40B4-BE49-F238E27FC236}">
                <a16:creationId xmlns:a16="http://schemas.microsoft.com/office/drawing/2014/main" id="{9FF49FAD-E4A1-494B-A1E1-20D7A654F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69809" y="5287866"/>
            <a:ext cx="13392016" cy="6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95500" y="7715341"/>
            <a:ext cx="29089461" cy="5232379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17322696" y="9586673"/>
            <a:ext cx="5285104" cy="271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52600" algn="l" rtl="0" eaLnBrk="0">
              <a:lnSpc>
                <a:spcPct val="96000"/>
              </a:lnSpc>
            </a:pPr>
            <a:r>
              <a:rPr sz="3800"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专家赋能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5730" algn="l" rtl="0" eaLnBrk="0">
              <a:lnSpc>
                <a:spcPct val="96000"/>
              </a:lnSpc>
              <a:spcBef>
                <a:spcPts val="850"/>
              </a:spcBef>
            </a:pPr>
            <a:r>
              <a:rPr sz="28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合规风控标准化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95000"/>
              </a:lnSpc>
              <a:spcBef>
                <a:spcPts val="75"/>
              </a:spcBef>
            </a:pPr>
            <a:r>
              <a:rPr sz="2800" kern="0" spc="-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提炼“飞</a:t>
            </a:r>
            <a:r>
              <a:rPr sz="2800" kern="0" spc="-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检管理”为行业标</a:t>
            </a:r>
            <a:r>
              <a:rPr sz="2800" kern="0" spc="-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准解决</a:t>
            </a:r>
            <a:r>
              <a:rPr sz="2800" kern="0" spc="-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58750" algn="l" rtl="0" eaLnBrk="0">
              <a:lnSpc>
                <a:spcPct val="92000"/>
              </a:lnSpc>
              <a:spcBef>
                <a:spcPts val="570"/>
              </a:spcBef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案</a:t>
            </a:r>
            <a:r>
              <a:rPr lang="zh-CN" altLang="en-US" sz="2800" kern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2413020" y="9588121"/>
            <a:ext cx="5029834" cy="268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74800" algn="l" rtl="0" eaLnBrk="0">
              <a:lnSpc>
                <a:spcPct val="96000"/>
              </a:lnSpc>
            </a:pPr>
            <a:r>
              <a:rPr sz="38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保稳提质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68730" algn="l" rtl="0" eaLnBrk="0">
              <a:lnSpc>
                <a:spcPct val="95000"/>
              </a:lnSpc>
              <a:spcBef>
                <a:spcPts val="850"/>
              </a:spcBef>
            </a:pPr>
            <a:r>
              <a:rPr sz="28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士卓曼项目上线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5"/>
              </a:spcBef>
            </a:pPr>
            <a:r>
              <a:rPr sz="2800" kern="0" spc="1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确保项目平稳落地</a:t>
            </a:r>
            <a:r>
              <a:rPr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lang="zh-CN" altLang="en-US"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参照已上线企业的</a:t>
            </a:r>
            <a:r>
              <a:rPr sz="2800" kern="0" spc="1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经验</a:t>
            </a:r>
            <a:r>
              <a:rPr lang="zh-CN" altLang="en-US"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4987401" y="9588121"/>
            <a:ext cx="5021579" cy="2687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6550" algn="l" rtl="0" eaLnBrk="0">
              <a:lnSpc>
                <a:spcPct val="96000"/>
              </a:lnSpc>
            </a:pPr>
            <a:r>
              <a:rPr sz="3800" b="1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知识沉淀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4945" algn="l" rtl="0" eaLnBrk="0">
              <a:lnSpc>
                <a:spcPct val="94000"/>
              </a:lnSpc>
              <a:spcBef>
                <a:spcPts val="840"/>
              </a:spcBef>
            </a:pPr>
            <a:r>
              <a:rPr sz="28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团队复用推广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1000"/>
              </a:lnSpc>
              <a:spcBef>
                <a:spcPts val="30"/>
              </a:spcBef>
            </a:pPr>
            <a:r>
              <a:rPr sz="2800" kern="0" spc="1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输出</a:t>
            </a:r>
            <a:r>
              <a:rPr lang="zh-CN" altLang="en-US"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常用对接的</a:t>
            </a:r>
            <a:r>
              <a:rPr sz="2800" kern="0" spc="1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接口文档；推</a:t>
            </a:r>
            <a:r>
              <a:rPr sz="2800" kern="0" spc="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广标</a:t>
            </a:r>
            <a:r>
              <a:rPr lang="zh-CN" altLang="en-US"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准问卷模板，降低重</a:t>
            </a:r>
            <a:r>
              <a:rPr lang="zh-CN" altLang="en-US" sz="28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复实施成</a:t>
            </a:r>
          </a:p>
          <a:p>
            <a:pPr algn="l" rtl="0" eaLnBrk="0">
              <a:lnSpc>
                <a:spcPct val="114000"/>
              </a:lnSpc>
            </a:pPr>
            <a:endParaRPr lang="zh-CN" altLang="en-US"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71065" algn="l" rtl="0" eaLnBrk="0">
              <a:lnSpc>
                <a:spcPts val="3220"/>
              </a:lnSpc>
              <a:spcBef>
                <a:spcPts val="5"/>
              </a:spcBef>
            </a:pPr>
            <a:r>
              <a:rPr lang="zh-CN" altLang="en-US" sz="2600" kern="0" spc="-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本。</a:t>
            </a:r>
            <a:endParaRPr lang="zh-CN" altLang="en-US"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9988641" y="9586673"/>
            <a:ext cx="4965700" cy="268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549400" algn="l" rtl="0" eaLnBrk="0">
              <a:lnSpc>
                <a:spcPct val="96000"/>
              </a:lnSpc>
            </a:pPr>
            <a:r>
              <a:rPr lang="zh-CN" altLang="en-US" sz="3800" b="1" kern="0" spc="-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能力建设</a:t>
            </a:r>
            <a:endParaRPr lang="zh-CN" altLang="en-US"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8000"/>
              </a:lnSpc>
            </a:pPr>
            <a:endParaRPr lang="zh-CN" altLang="en-US"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88745" algn="l" rtl="0" eaLnBrk="0">
              <a:lnSpc>
                <a:spcPct val="96000"/>
              </a:lnSpc>
              <a:spcBef>
                <a:spcPts val="850"/>
              </a:spcBef>
            </a:pPr>
            <a:r>
              <a:rPr lang="zh-CN" altLang="en-US" sz="28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技术与业务融合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70815" algn="l" rtl="0" eaLnBrk="0">
              <a:lnSpc>
                <a:spcPct val="96000"/>
              </a:lnSpc>
              <a:spcBef>
                <a:spcPts val="65"/>
              </a:spcBef>
            </a:pPr>
            <a:r>
              <a:rPr lang="zh-CN" altLang="en-US" sz="2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rPr>
              <a:t>加强对系统配置及架构（特别是接口集成方面）的理解</a:t>
            </a:r>
            <a:r>
              <a:rPr sz="2700" kern="0" spc="-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1801288" y="1217531"/>
            <a:ext cx="16229330" cy="908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</a:pPr>
            <a:r>
              <a:rPr sz="6000" b="1" kern="0" spc="-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2026年工作规划：从“交付”向“价值运营”跃升</a:t>
            </a:r>
            <a:endParaRPr sz="6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2622498"/>
            <a:ext cx="32480138" cy="19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32499321" cy="18288000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12989986" y="5726319"/>
            <a:ext cx="6558280" cy="699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2800" b="1" kern="0" spc="0" dirty="0">
                <a:solidFill>
                  <a:srgbClr val="2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感谢聆听</a:t>
            </a:r>
            <a:endParaRPr sz="1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3855" algn="l" rtl="0" eaLnBrk="0">
              <a:lnSpc>
                <a:spcPct val="97000"/>
              </a:lnSpc>
              <a:spcBef>
                <a:spcPts val="1930"/>
              </a:spcBef>
            </a:pPr>
            <a:endParaRPr sz="6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319</Words>
  <Application>Microsoft Office PowerPoint</Application>
  <PresentationFormat>自定义</PresentationFormat>
  <Paragraphs>234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黑体</vt:lpstr>
      <vt:lpstr>宋体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13257</dc:creator>
  <cp:lastModifiedBy>1325760491@qq.com</cp:lastModifiedBy>
  <cp:revision>18</cp:revision>
  <dcterms:created xsi:type="dcterms:W3CDTF">2026-01-15T08:49:51Z</dcterms:created>
  <dcterms:modified xsi:type="dcterms:W3CDTF">2026-01-19T03:18:11Z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2026-01-15T16:49:35Z</vt:filetime>
  </property>
  <property fmtid="{D5CDD505-2E9C-101B-9397-08002B2CF9AE}" pid="4" name="UsrData">
    <vt:lpwstr>6968aa15f4e5d9001f90c6acwl</vt:lpwstr>
  </property>
  <property fmtid="{D5CDD505-2E9C-101B-9397-08002B2CF9AE}" pid="5" name="ICV">
    <vt:lpwstr>BC3B0193EA3A4748B3F2525A8F3A9F26_13</vt:lpwstr>
  </property>
  <property fmtid="{D5CDD505-2E9C-101B-9397-08002B2CF9AE}" pid="6" name="KSOProductBuildVer">
    <vt:lpwstr>2052-12.1.0.24034</vt:lpwstr>
  </property>
</Properties>
</file>