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8"/>
  </p:handoutMasterIdLst>
  <p:sldIdLst>
    <p:sldId id="257" r:id="rId3"/>
    <p:sldId id="262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abewxy" initials="B" lastIdx="0" clrIdx="0"/>
  <p:cmAuthor id="2" name="tion" initials="t" lastIdx="0" clrIdx="1"/>
  <p:cmAuthor id="3" name="bo huang" initials="" lastIdx="0" clrIdx="2"/>
  <p:cmAuthor id="4" name="Jia Wen" initials="JW" lastIdx="0" clrIdx="3"/>
  <p:cmAuthor id="5" name="VivianSheng" initials="V" lastIdx="0" clrIdx="4"/>
  <p:cmAuthor id="6" name="Shaoan Liu" initials="SL" lastIdx="0" clrIdx="5"/>
  <p:cmAuthor id="7" name="作者" initials="A" lastIdx="0" clrIdx="6"/>
  <p:cmAuthor id="8" name="daisy" initials="d" lastIdx="0" clrIdx="7"/>
  <p:cmAuthor id="9" name="望月" initials="望月" lastIdx="0" clrIdx="8"/>
  <p:cmAuthor id="10" name="林韵涵" initials="林" lastIdx="0" clrIdx="9"/>
  <p:cmAuthor id="11" name="13257" initials="1" lastIdx="0" clrIdx="10"/>
  <p:cmAuthor id="12" name="Windows 用户" initials="W" lastIdx="0" clrIdx="11"/>
  <p:cmAuthor id="13" name="User" initials="U" lastIdx="0" clrIdx="1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commentAuthors" Target="commentAuthors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 Issue/Problems - Suggestions.</a:t>
            </a:r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926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62.xml"/><Relationship Id="rId18" Type="http://schemas.openxmlformats.org/officeDocument/2006/relationships/tags" Target="../tags/tag61.xml"/><Relationship Id="rId17" Type="http://schemas.openxmlformats.org/officeDocument/2006/relationships/tags" Target="../tags/tag60.xml"/><Relationship Id="rId16" Type="http://schemas.openxmlformats.org/officeDocument/2006/relationships/tags" Target="../tags/tag59.xml"/><Relationship Id="rId15" Type="http://schemas.openxmlformats.org/officeDocument/2006/relationships/tags" Target="../tags/tag58.xml"/><Relationship Id="rId14" Type="http://schemas.openxmlformats.org/officeDocument/2006/relationships/tags" Target="../tags/tag57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63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64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5"/>
          <p:cNvSpPr txBox="1"/>
          <p:nvPr/>
        </p:nvSpPr>
        <p:spPr>
          <a:xfrm>
            <a:off x="4588564" y="6509616"/>
            <a:ext cx="42436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i="1" dirty="0">
                <a:solidFill>
                  <a:srgbClr val="FFFFFF"/>
                </a:solidFill>
              </a:rPr>
              <a:t>COMMERCIAL EXCELLENCE DELIVERED</a:t>
            </a:r>
            <a:endParaRPr lang="en-US" altLang="zh-CN" sz="2000" b="1" i="1" dirty="0">
              <a:solidFill>
                <a:srgbClr val="FFFFFF"/>
              </a:solidFill>
            </a:endParaRPr>
          </a:p>
        </p:txBody>
      </p:sp>
      <p:sp>
        <p:nvSpPr>
          <p:cNvPr id="2" name="TextBox 5"/>
          <p:cNvSpPr txBox="1"/>
          <p:nvPr/>
        </p:nvSpPr>
        <p:spPr>
          <a:xfrm>
            <a:off x="911023" y="2951311"/>
            <a:ext cx="39992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 i="1" dirty="0">
                <a:solidFill>
                  <a:srgbClr val="FFFFFF"/>
                </a:solidFill>
              </a:rPr>
              <a:t>项目实施周报</a:t>
            </a:r>
            <a:r>
              <a:rPr lang="en-US" altLang="zh-CN" sz="2800" b="1" i="1" dirty="0">
                <a:solidFill>
                  <a:srgbClr val="FFFFFF"/>
                </a:solidFill>
              </a:rPr>
              <a:t> 1.12～1.16</a:t>
            </a:r>
            <a:endParaRPr lang="en-US" altLang="zh-CN" sz="2800" b="1" i="1" dirty="0">
              <a:solidFill>
                <a:srgbClr val="FFFFF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92430" y="62725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汇报日期</a:t>
            </a:r>
            <a:r>
              <a:rPr lang="en-US" altLang="zh-CN">
                <a:solidFill>
                  <a:schemeClr val="bg1"/>
                </a:solidFill>
              </a:rPr>
              <a:t>：2026.1.16</a:t>
            </a:r>
            <a:endParaRPr lang="en-US" altLang="zh-CN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2000" cy="6857997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898640" y="23145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r"/>
            <a:r>
              <a:rPr lang="zh-CN" altLang="en-US" sz="1600" b="0" i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战略客户的项目进展</a:t>
            </a:r>
            <a:r>
              <a:rPr lang="en-US" altLang="zh-CN" sz="1600" b="0" i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/</a:t>
            </a:r>
            <a:r>
              <a:rPr lang="zh-CN" altLang="en-US" sz="1600" b="0" i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信息同步</a:t>
            </a:r>
            <a:endParaRPr lang="zh-CN" altLang="en-US" sz="1600" b="0" i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2"/>
            </p:custDataLst>
          </p:nvPr>
        </p:nvGraphicFramePr>
        <p:xfrm>
          <a:off x="361950" y="772160"/>
          <a:ext cx="11467465" cy="5900420"/>
        </p:xfrm>
        <a:graphic>
          <a:graphicData uri="http://schemas.openxmlformats.org/drawingml/2006/table">
            <a:tbl>
              <a:tblPr firstRow="1"/>
              <a:tblGrid>
                <a:gridCol w="645160"/>
                <a:gridCol w="991235"/>
                <a:gridCol w="8573770"/>
                <a:gridCol w="1257300"/>
              </a:tblGrid>
              <a:tr h="248920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400" b="1" i="0">
                          <a:solidFill>
                            <a:schemeClr val="bg1"/>
                          </a:solidFill>
                          <a:latin typeface="微软雅黑" charset="0"/>
                          <a:ea typeface="微软雅黑" charset="0"/>
                        </a:rPr>
                        <a:t>序号</a:t>
                      </a:r>
                      <a:endParaRPr lang="zh-CN" altLang="en-US" sz="1400" b="1" i="0">
                        <a:solidFill>
                          <a:schemeClr val="bg1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chemeClr val="bg1"/>
                          </a:solidFill>
                          <a:latin typeface="微软雅黑" charset="0"/>
                          <a:ea typeface="微软雅黑" charset="0"/>
                        </a:rPr>
                        <a:t>重点项目</a:t>
                      </a:r>
                      <a:endParaRPr lang="zh-CN" altLang="en-US" sz="1400" b="1" i="0">
                        <a:solidFill>
                          <a:schemeClr val="bg1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chemeClr val="bg1"/>
                          </a:solidFill>
                          <a:latin typeface="微软雅黑" charset="0"/>
                          <a:ea typeface="微软雅黑" charset="0"/>
                        </a:rPr>
                        <a:t>项目信息同步</a:t>
                      </a:r>
                      <a:endParaRPr lang="zh-CN" altLang="en-US" sz="1400" b="1" i="0">
                        <a:solidFill>
                          <a:schemeClr val="bg1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400" b="1" i="0">
                          <a:solidFill>
                            <a:schemeClr val="bg1"/>
                          </a:solidFill>
                          <a:latin typeface="微软雅黑" charset="0"/>
                          <a:ea typeface="微软雅黑" charset="0"/>
                        </a:rPr>
                        <a:t>项目负责人</a:t>
                      </a:r>
                      <a:endParaRPr lang="zh-CN" altLang="en-US" sz="1400" b="1" i="0">
                        <a:solidFill>
                          <a:schemeClr val="bg1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769620">
                <a:tc>
                  <a:txBody>
                    <a:bodyPr/>
                    <a:p>
                      <a:pPr indent="0" algn="ctr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1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lnSpc>
                          <a:spcPct val="125000"/>
                        </a:lnSpc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默克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1. 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本周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CR：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讲者协议企业微信通知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、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补充合同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、HCO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报表调整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本周上线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；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终止合同待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Ariba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技术评估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。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总经理更换涉及各审批流、邮件模板中英文等调整正在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UAT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中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。</a:t>
                      </a:r>
                      <a:endParaRPr lang="en-US" altLang="zh-CN" sz="120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  <a:sym typeface="+mn-ea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2. 25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年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Q4license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已回款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。</a:t>
                      </a:r>
                      <a:endParaRPr lang="en-US" altLang="zh-CN" sz="120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  <a:sym typeface="+mn-ea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刘元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龙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68985">
                <a:tc>
                  <a:txBody>
                    <a:bodyPr/>
                    <a:p>
                      <a:pPr indent="0" algn="ctr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lnSpc>
                          <a:spcPct val="125000"/>
                        </a:lnSpc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华东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1. 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本周重点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CR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跟进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：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杭州分公司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入账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OA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改造上线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，C5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和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E2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关联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D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类活动方案确认中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，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美团偿还报表已上线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；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招采项目目前正在战略政策部内部已测试完成，预计会先上线，客户内部在生产环境找一个真实会议进行测试，无问题后再统一培训推广使用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。</a:t>
                      </a:r>
                      <a:endParaRPr lang="zh-CN" altLang="en-US" sz="120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2. 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华东四期合同及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26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年运维合同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，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正在远大集团内部审批中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，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待审批完成可进行开票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。</a:t>
                      </a:r>
                      <a:endParaRPr lang="en-US" altLang="zh-CN" sz="120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高静静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69620">
                <a:tc>
                  <a:txBody>
                    <a:bodyPr/>
                    <a:p>
                      <a:pPr indent="0" algn="ctr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3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lnSpc>
                          <a:spcPct val="125000"/>
                        </a:lnSpc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齐鲁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1.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本周重点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CR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跟进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：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【科研】表单信息调整</a:t>
                      </a:r>
                      <a:endParaRPr lang="zh-CN" altLang="en-US" sz="120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2.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26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年运维合同及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25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年签到二要素费用本周已开票</a:t>
                      </a:r>
                      <a:endParaRPr lang="zh-CN" altLang="en-US" sz="120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3.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齐鲁三期中有部分功能客户暂时没有需求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，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需要做合同调整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，PM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跟进中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。</a:t>
                      </a:r>
                      <a:endParaRPr lang="en-US" altLang="zh-CN" sz="120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刘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娜娜</a:t>
                      </a:r>
                      <a:endParaRPr lang="zh-CN" altLang="en-US" sz="120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73175">
                <a:tc>
                  <a:txBody>
                    <a:bodyPr/>
                    <a:p>
                      <a:pPr indent="0" algn="ctr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4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lnSpc>
                          <a:spcPct val="125000"/>
                        </a:lnSpc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翰森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1.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重点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CR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跟进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：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身份认证功能正在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SIT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中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预计下周三进行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UAT。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美团对接申请单功能本周已上线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。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数动力数据和接口开发（采购报表和材料接口），开发已完成，联调测试中，下周部署正式环境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。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同步跟进需求包含会议类型调整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、HCO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白名单管理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数动力返回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：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美团用餐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、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三方讲者确认数据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。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下周跟客户约会沟通数动力对接的需求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。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2.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实施主合同及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25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年运维服务协议和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CR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项目补充协议均为开票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待催回款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。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3.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推进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26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年运维协议及框架协议签署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预计本月完成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进行开票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。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孙菲娅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7525">
                <a:tc>
                  <a:txBody>
                    <a:bodyPr/>
                    <a:p>
                      <a:pPr indent="0" algn="ctr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5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lnSpc>
                          <a:spcPct val="125000"/>
                        </a:lnSpc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百济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1.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本周重点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CR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跟进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：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百老荟线上会数量管控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、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新增个人分享拍照端口</a:t>
                      </a:r>
                      <a:r>
                        <a:rPr 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合同对接需求沟通中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2.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正在推进百济运维合同的签约推进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。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王雨佳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68985">
                <a:tc>
                  <a:txBody>
                    <a:bodyPr/>
                    <a:p>
                      <a:pPr indent="0" algn="ctr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6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和黄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1.26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年运维合同已双签盖章，已开票寄出</a:t>
                      </a:r>
                      <a:endParaRPr lang="zh-CN" altLang="en-US" sz="120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2.250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人天日常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CR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已与业务验收确认，已开票，走付款审批流程</a:t>
                      </a:r>
                      <a:endParaRPr lang="zh-CN" altLang="en-US" sz="120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3.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香港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EM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本周沟通，合规期望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5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月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1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号上线，先准备走合同流程</a:t>
                      </a:r>
                      <a:endParaRPr lang="zh-CN" altLang="en-US" sz="120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颜鑫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6065">
                <a:tc>
                  <a:txBody>
                    <a:bodyPr/>
                    <a:p>
                      <a:pPr indent="0" algn="ctr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7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扬子江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1.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客户正在准备第三笔验收材料，因客户本周述职延后一周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，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计划下周将材料准备完成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颜鑫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7525">
                <a:tc>
                  <a:txBody>
                    <a:bodyPr/>
                    <a:p>
                      <a:pPr indent="0" algn="ctr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8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云顶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1.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海森项目实施计划暂无风险，依然按照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1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30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技术上线推进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。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2. 26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年运维合同已开票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，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待回款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。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张宇通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2000" cy="6857997"/>
          </a:xfrm>
          <a:prstGeom prst="rect">
            <a:avLst/>
          </a:prstGeom>
        </p:spPr>
      </p:pic>
      <p:graphicFrame>
        <p:nvGraphicFramePr>
          <p:cNvPr id="3" name="表格 2"/>
          <p:cNvGraphicFramePr/>
          <p:nvPr>
            <p:custDataLst>
              <p:tags r:id="rId2"/>
            </p:custDataLst>
          </p:nvPr>
        </p:nvGraphicFramePr>
        <p:xfrm>
          <a:off x="511175" y="912495"/>
          <a:ext cx="11365865" cy="5645150"/>
        </p:xfrm>
        <a:graphic>
          <a:graphicData uri="http://schemas.openxmlformats.org/drawingml/2006/table">
            <a:tbl>
              <a:tblPr/>
              <a:tblGrid>
                <a:gridCol w="746125"/>
                <a:gridCol w="1018540"/>
                <a:gridCol w="8258175"/>
                <a:gridCol w="1343025"/>
              </a:tblGrid>
              <a:tr h="32385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i="0">
                          <a:solidFill>
                            <a:schemeClr val="bg1"/>
                          </a:solidFill>
                          <a:latin typeface="微软雅黑" charset="0"/>
                          <a:ea typeface="微软雅黑" charset="0"/>
                        </a:rPr>
                        <a:t>序号</a:t>
                      </a:r>
                      <a:endParaRPr lang="zh-CN" altLang="en-US" sz="1600" b="1" i="0">
                        <a:solidFill>
                          <a:schemeClr val="bg1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600" b="1" i="0">
                          <a:solidFill>
                            <a:schemeClr val="bg1"/>
                          </a:solidFill>
                          <a:latin typeface="微软雅黑" charset="0"/>
                          <a:ea typeface="微软雅黑" charset="0"/>
                        </a:rPr>
                        <a:t>新项目</a:t>
                      </a:r>
                      <a:endParaRPr lang="zh-CN" altLang="en-US" sz="1600" b="1" i="0">
                        <a:solidFill>
                          <a:schemeClr val="bg1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600" b="1" i="0">
                          <a:solidFill>
                            <a:schemeClr val="bg1"/>
                          </a:solidFill>
                          <a:latin typeface="微软雅黑" charset="0"/>
                          <a:ea typeface="微软雅黑" charset="0"/>
                        </a:rPr>
                        <a:t>项目信息同步</a:t>
                      </a:r>
                      <a:endParaRPr lang="zh-CN" altLang="en-US" sz="1600" b="1" i="0">
                        <a:solidFill>
                          <a:schemeClr val="bg1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i="0">
                          <a:solidFill>
                            <a:schemeClr val="bg1"/>
                          </a:solidFill>
                          <a:latin typeface="微软雅黑" charset="0"/>
                          <a:ea typeface="微软雅黑" charset="0"/>
                        </a:rPr>
                        <a:t>项目负责人</a:t>
                      </a:r>
                      <a:endParaRPr lang="zh-CN" altLang="en-US" sz="1600" b="1" i="0">
                        <a:solidFill>
                          <a:schemeClr val="bg1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748155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1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泰诺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1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、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CRM&amp;EMS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：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SIT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已完成，测试用例和报告已完成；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2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、接口：联调已完成；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3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、正式环境数据初始化全量数据收集，计划下周五前完成收集和数据整理，进行中，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CRM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辖区涉及跨年调整变化大，预计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1/21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日提供，比预期晚三天；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4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、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UAT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测试前计划和功能介绍宣讲工作，已完成。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5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、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UAT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：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1/19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正式进入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UAT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，预计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1/30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结束。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孙菲娅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4800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礼邦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1.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内部开发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：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功能开发进度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95%，1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20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日开始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UAT，29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号技术上线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。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李沫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忱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93725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3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神基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1.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样品管理已完成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uat + 2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轮培训，下周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一导入期初数据并上线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。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2.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美团已完成对接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预计下周一提测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；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电子档案系统已完成开发联调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。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张宇通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4800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4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凯瑞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1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月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1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日已经全部上线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，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目前正在处于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Hypercare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阶段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，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由叶甜甜跟进运维支持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。</a:t>
                      </a:r>
                      <a:endParaRPr lang="en-US" altLang="zh-CN" sz="120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林穆</a:t>
                      </a:r>
                      <a:endParaRPr lang="zh-CN" altLang="en-US" sz="120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82015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5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百济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SAAS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1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、百济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SaaS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功能设计说明书撰写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--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总进度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100%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，已发给合规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IT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业务确认中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2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、百济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SaaS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接口开发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--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开发进度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20%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，待梳理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SAP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接口改动与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SAP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沟通对接方案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3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、百济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SaaS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主体功能开发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--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开发进度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15%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王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雄伟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4800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6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士卓曼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1.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内部开发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：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整体开发进度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80%；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接口开发进度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70%，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正常推进中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。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林穆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04850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7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雷允上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1.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雷允上本周一期项目基本主功能开发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80%，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剩余审批流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，OA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单点登录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+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待办集成等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计划下周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三进行一期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UAT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，确保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1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27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日一期上线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；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高静静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8155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8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远大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蜀阳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ctr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本周完成远大蜀阳的业务用户培训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1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16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日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已正式上线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。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李沫忱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  <a:p>
                      <a:pPr algn="ctr" fontAlgn="ctr">
                        <a:buNone/>
                      </a:pP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6898640" y="231458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marL="0" indent="0" algn="r"/>
            <a:r>
              <a:rPr lang="zh-CN" altLang="en-US" sz="1600" b="0" i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新项目</a:t>
            </a:r>
            <a:r>
              <a:rPr lang="zh-CN" altLang="en-US" sz="160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进展</a:t>
            </a:r>
            <a:r>
              <a:rPr lang="en-US" altLang="zh-CN" sz="160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/</a:t>
            </a:r>
            <a:r>
              <a:rPr lang="zh-CN" altLang="en-US" sz="160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信息同步</a:t>
            </a:r>
            <a:endParaRPr lang="zh-CN" altLang="en-US" sz="1600" b="0" i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L="0" indent="0" algn="r"/>
            <a:endParaRPr lang="zh-CN" altLang="en-US" sz="1600" b="0" i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2000" cy="6857997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898640" y="231458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marL="0" indent="0" algn="r"/>
            <a:r>
              <a:rPr lang="en-US" altLang="zh-CN" sz="1600">
                <a:sym typeface="+mn-ea"/>
              </a:rPr>
              <a:t>ssue/Problems - Suggestions.</a:t>
            </a:r>
            <a:endParaRPr lang="en-US" altLang="zh-CN" sz="1600"/>
          </a:p>
          <a:p>
            <a:pPr marL="0" indent="0" algn="r"/>
            <a:endParaRPr lang="zh-CN" altLang="en-US" sz="1600" b="0" i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193040" y="1617980"/>
          <a:ext cx="11365865" cy="3009265"/>
        </p:xfrm>
        <a:graphic>
          <a:graphicData uri="http://schemas.openxmlformats.org/drawingml/2006/table">
            <a:tbl>
              <a:tblPr/>
              <a:tblGrid>
                <a:gridCol w="2015490"/>
                <a:gridCol w="9350375"/>
              </a:tblGrid>
              <a:tr h="612775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800" b="1" i="0">
                          <a:solidFill>
                            <a:schemeClr val="bg1"/>
                          </a:solidFill>
                          <a:latin typeface="微软雅黑" charset="0"/>
                          <a:ea typeface="微软雅黑" charset="0"/>
                        </a:rPr>
                        <a:t>风险及</a:t>
                      </a:r>
                      <a:r>
                        <a:rPr lang="zh-CN" altLang="en-US" sz="1800" b="1" i="0">
                          <a:solidFill>
                            <a:schemeClr val="bg1"/>
                          </a:solidFill>
                          <a:latin typeface="微软雅黑" charset="0"/>
                          <a:ea typeface="微软雅黑" charset="0"/>
                        </a:rPr>
                        <a:t>问题</a:t>
                      </a:r>
                      <a:endParaRPr lang="zh-CN" altLang="en-US" sz="1800" b="1" i="0">
                        <a:solidFill>
                          <a:schemeClr val="bg1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800" b="1" i="0">
                          <a:solidFill>
                            <a:schemeClr val="bg1"/>
                          </a:solidFill>
                          <a:latin typeface="微软雅黑" charset="0"/>
                          <a:ea typeface="微软雅黑" charset="0"/>
                        </a:rPr>
                        <a:t>说明</a:t>
                      </a:r>
                      <a:endParaRPr lang="zh-CN" altLang="en-US" sz="1800" b="1" i="0">
                        <a:solidFill>
                          <a:schemeClr val="bg1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1198245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暂无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ctr">
                        <a:lnSpc>
                          <a:spcPct val="150000"/>
                        </a:lnSpc>
                        <a:buNone/>
                      </a:pPr>
                      <a:endParaRPr lang="en-US" altLang="zh-CN" sz="120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TABLE_ENDDRAG_ORIGIN_RECT" val="902*165"/>
  <p:tag name="TABLE_ENDDRAG_RECT" val="28*60*902*165"/>
</p:tagLst>
</file>

<file path=ppt/tags/tag64.xml><?xml version="1.0" encoding="utf-8"?>
<p:tagLst xmlns:p="http://schemas.openxmlformats.org/presentationml/2006/main">
  <p:tag name="TABLE_ENDDRAG_ORIGIN_RECT" val="894*444"/>
  <p:tag name="TABLE_ENDDRAG_RECT" val="40*71*894*4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1578</Words>
  <Application>WPS 文字</Application>
  <PresentationFormat>宽屏</PresentationFormat>
  <Paragraphs>182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6" baseType="lpstr">
      <vt:lpstr>Arial</vt:lpstr>
      <vt:lpstr>宋体</vt:lpstr>
      <vt:lpstr>Wingdings</vt:lpstr>
      <vt:lpstr>Wingdings</vt:lpstr>
      <vt:lpstr>微软雅黑</vt:lpstr>
      <vt:lpstr>汉仪旗黑</vt:lpstr>
      <vt:lpstr>汉仪书宋二KW</vt:lpstr>
      <vt:lpstr>苹方-简</vt:lpstr>
      <vt:lpstr>微软雅黑</vt:lpstr>
      <vt:lpstr>宋体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linmu</dc:creator>
  <cp:lastModifiedBy>WPS_1761633435</cp:lastModifiedBy>
  <cp:revision>179</cp:revision>
  <dcterms:created xsi:type="dcterms:W3CDTF">2026-01-16T15:29:28Z</dcterms:created>
  <dcterms:modified xsi:type="dcterms:W3CDTF">2026-01-16T15:29:28Z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9313D33DAAF577C7191A2969D6B8C715_41</vt:lpwstr>
  </property>
</Properties>
</file>