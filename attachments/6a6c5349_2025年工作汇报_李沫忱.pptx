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495" r:id="rId4"/>
    <p:sldId id="2885" r:id="rId5"/>
    <p:sldId id="2883" r:id="rId7"/>
    <p:sldId id="2508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57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AD5B0-C7D0-4DBF-8C44-57D030BD73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4A5C6-DF35-4DD5-A250-C232E0717C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874E2-4638-A144-B945-139F2EEBE11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874E2-4638-A144-B945-139F2EEBE11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fld id="{6DF64FF5-AF41-8D44-8EA5-C76EFF349F7B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fld id="{A035A6CB-1573-CE49-879F-C20378C53C5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占位符 3" descr="高楼大厦的景色&#10;&#10;描述已自动生成"/>
          <p:cNvPicPr>
            <a:picLocks noChangeAspect="1"/>
          </p:cNvPicPr>
          <p:nvPr/>
        </p:nvPicPr>
        <p:blipFill>
          <a:blip r:embed="rId1"/>
          <a:srcRect l="26213" r="26213"/>
          <a:stretch>
            <a:fillRect/>
          </a:stretch>
        </p:blipFill>
        <p:spPr>
          <a:xfrm>
            <a:off x="776136" y="0"/>
            <a:ext cx="4912283" cy="6858000"/>
          </a:xfrm>
          <a:prstGeom prst="rect">
            <a:avLst/>
          </a:prstGeom>
        </p:spPr>
      </p:pic>
      <p:sp>
        <p:nvSpPr>
          <p:cNvPr id="6" name="Rectangle 9"/>
          <p:cNvSpPr/>
          <p:nvPr/>
        </p:nvSpPr>
        <p:spPr>
          <a:xfrm>
            <a:off x="4249277" y="1430504"/>
            <a:ext cx="7942722" cy="372351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776136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8" name="TextBox 8"/>
          <p:cNvSpPr txBox="1"/>
          <p:nvPr/>
        </p:nvSpPr>
        <p:spPr>
          <a:xfrm>
            <a:off x="5114260" y="2053789"/>
            <a:ext cx="639756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45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工作汇报</a:t>
            </a:r>
            <a:r>
              <a:rPr lang="en-ID" sz="4500" b="1" dirty="0" err="1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通用总结模版</a:t>
            </a:r>
            <a:endParaRPr lang="en-US" sz="450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4" name="TextBox 9"/>
          <p:cNvSpPr txBox="1"/>
          <p:nvPr/>
        </p:nvSpPr>
        <p:spPr>
          <a:xfrm>
            <a:off x="7229711" y="2953707"/>
            <a:ext cx="42821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d-ID" sz="1600" dirty="0" err="1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汇报人</a:t>
            </a:r>
            <a:r>
              <a:rPr lang="zh-CN" altLang="en-US" sz="16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zh-CN" altLang="en-US" sz="16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李沫忱</a:t>
            </a:r>
            <a:endParaRPr lang="zh-CN" altLang="en-US" sz="1600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5" name="TextBox 42"/>
          <p:cNvSpPr txBox="1"/>
          <p:nvPr/>
        </p:nvSpPr>
        <p:spPr>
          <a:xfrm>
            <a:off x="5560828" y="4017058"/>
            <a:ext cx="5950993" cy="53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ID" altLang="zh-CN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Here you can describe the main work report content</a:t>
            </a:r>
            <a:r>
              <a:rPr lang="en-US" altLang="zh-CN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r>
              <a:rPr lang="en-ID" altLang="zh-CN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Here you can describe the main work report content. Here you can describe the main work report content</a:t>
            </a:r>
            <a:r>
              <a:rPr lang="en-US" altLang="zh-CN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endParaRPr lang="en-ID" sz="1000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6" name="TextBox 9"/>
          <p:cNvSpPr txBox="1"/>
          <p:nvPr/>
        </p:nvSpPr>
        <p:spPr>
          <a:xfrm>
            <a:off x="7229711" y="453642"/>
            <a:ext cx="428211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en-ID" sz="28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MEETING </a:t>
            </a:r>
            <a:r>
              <a:rPr lang="en-US" altLang="en-ID" sz="28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BEST</a:t>
            </a:r>
            <a:endParaRPr lang="en-US" altLang="en-ID" sz="2800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7" name="TextBox 47"/>
          <p:cNvSpPr txBox="1"/>
          <p:nvPr/>
        </p:nvSpPr>
        <p:spPr>
          <a:xfrm>
            <a:off x="8428934" y="5998019"/>
            <a:ext cx="3082887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d-ID" sz="1600" dirty="0" err="1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汇报时间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en-US" altLang="zh-CN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2026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年</a:t>
            </a:r>
            <a:r>
              <a:rPr lang="en-US" altLang="zh-CN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01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月</a:t>
            </a:r>
            <a:r>
              <a:rPr lang="en-US" altLang="zh-CN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19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日</a:t>
            </a:r>
            <a:endParaRPr lang="en-ID" sz="1600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李PPT1"/>
          <p:cNvSpPr txBox="1"/>
          <p:nvPr/>
        </p:nvSpPr>
        <p:spPr>
          <a:xfrm>
            <a:off x="363836" y="244861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述职报告：工作成果展示</a:t>
            </a:r>
            <a:endParaRPr kumimoji="0" lang="zh-CN" altLang="en-US" sz="2800" b="1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小李PPT1"/>
          <p:cNvSpPr txBox="1"/>
          <p:nvPr/>
        </p:nvSpPr>
        <p:spPr>
          <a:xfrm>
            <a:off x="10258679" y="403135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en-US" altLang="en-GB" dirty="0" err="1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MEETING BEST</a:t>
            </a:r>
            <a:endParaRPr lang="en-US" altLang="en-GB" dirty="0" err="1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54763" y="798737"/>
            <a:ext cx="11282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914400" y="3769671"/>
            <a:ext cx="2668270" cy="4452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4761229" y="3769671"/>
            <a:ext cx="2669539" cy="4452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8609330" y="3769671"/>
            <a:ext cx="2668269" cy="4452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" name="任意形状 18"/>
          <p:cNvSpPr/>
          <p:nvPr/>
        </p:nvSpPr>
        <p:spPr>
          <a:xfrm>
            <a:off x="458470" y="3261940"/>
            <a:ext cx="11275060" cy="12700"/>
          </a:xfrm>
          <a:custGeom>
            <a:avLst/>
            <a:gdLst>
              <a:gd name="connsiteX0" fmla="*/ 0 w 11275060"/>
              <a:gd name="connsiteY0" fmla="*/ 0 h 12700"/>
              <a:gd name="connsiteX1" fmla="*/ 11275060 w 11275060"/>
              <a:gd name="connsiteY1" fmla="*/ 0 h 1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275060" h="12700">
                <a:moveTo>
                  <a:pt x="0" y="0"/>
                </a:moveTo>
                <a:lnTo>
                  <a:pt x="11275060" y="0"/>
                </a:lnTo>
              </a:path>
            </a:pathLst>
          </a:custGeom>
          <a:ln w="19050" cap="flat">
            <a:solidFill>
              <a:schemeClr val="tx2">
                <a:lumMod val="20000"/>
                <a:lumOff val="80000"/>
              </a:schemeClr>
            </a:solidFill>
            <a:prstDash val="dash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任意形状 19"/>
          <p:cNvSpPr/>
          <p:nvPr/>
        </p:nvSpPr>
        <p:spPr>
          <a:xfrm>
            <a:off x="2200910" y="3214950"/>
            <a:ext cx="93979" cy="93979"/>
          </a:xfrm>
          <a:custGeom>
            <a:avLst/>
            <a:gdLst>
              <a:gd name="connsiteX0" fmla="*/ 93980 w 93979"/>
              <a:gd name="connsiteY0" fmla="*/ 46990 h 93979"/>
              <a:gd name="connsiteX1" fmla="*/ 46990 w 93979"/>
              <a:gd name="connsiteY1" fmla="*/ 93980 h 93979"/>
              <a:gd name="connsiteX2" fmla="*/ 0 w 93979"/>
              <a:gd name="connsiteY2" fmla="*/ 46990 h 93979"/>
              <a:gd name="connsiteX3" fmla="*/ 46990 w 93979"/>
              <a:gd name="connsiteY3" fmla="*/ 0 h 93979"/>
              <a:gd name="connsiteX4" fmla="*/ 93980 w 93979"/>
              <a:gd name="connsiteY4" fmla="*/ 46990 h 9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979" h="93979">
                <a:moveTo>
                  <a:pt x="93980" y="46990"/>
                </a:moveTo>
                <a:cubicBezTo>
                  <a:pt x="93980" y="72942"/>
                  <a:pt x="72942" y="93980"/>
                  <a:pt x="46990" y="93980"/>
                </a:cubicBezTo>
                <a:cubicBezTo>
                  <a:pt x="21038" y="93980"/>
                  <a:pt x="0" y="72942"/>
                  <a:pt x="0" y="46990"/>
                </a:cubicBezTo>
                <a:cubicBezTo>
                  <a:pt x="0" y="21038"/>
                  <a:pt x="21038" y="0"/>
                  <a:pt x="46990" y="0"/>
                </a:cubicBezTo>
                <a:cubicBezTo>
                  <a:pt x="72942" y="0"/>
                  <a:pt x="93980" y="21038"/>
                  <a:pt x="93980" y="4699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1" name="任意形状 20"/>
          <p:cNvSpPr/>
          <p:nvPr/>
        </p:nvSpPr>
        <p:spPr>
          <a:xfrm>
            <a:off x="6049010" y="3214950"/>
            <a:ext cx="93979" cy="93979"/>
          </a:xfrm>
          <a:custGeom>
            <a:avLst/>
            <a:gdLst>
              <a:gd name="connsiteX0" fmla="*/ 93980 w 93979"/>
              <a:gd name="connsiteY0" fmla="*/ 46990 h 93979"/>
              <a:gd name="connsiteX1" fmla="*/ 46990 w 93979"/>
              <a:gd name="connsiteY1" fmla="*/ 93980 h 93979"/>
              <a:gd name="connsiteX2" fmla="*/ 0 w 93979"/>
              <a:gd name="connsiteY2" fmla="*/ 46990 h 93979"/>
              <a:gd name="connsiteX3" fmla="*/ 46990 w 93979"/>
              <a:gd name="connsiteY3" fmla="*/ 0 h 93979"/>
              <a:gd name="connsiteX4" fmla="*/ 93980 w 93979"/>
              <a:gd name="connsiteY4" fmla="*/ 46990 h 9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979" h="93979">
                <a:moveTo>
                  <a:pt x="93980" y="46990"/>
                </a:moveTo>
                <a:cubicBezTo>
                  <a:pt x="93980" y="72942"/>
                  <a:pt x="72942" y="93980"/>
                  <a:pt x="46990" y="93980"/>
                </a:cubicBezTo>
                <a:cubicBezTo>
                  <a:pt x="21038" y="93980"/>
                  <a:pt x="0" y="72942"/>
                  <a:pt x="0" y="46990"/>
                </a:cubicBezTo>
                <a:cubicBezTo>
                  <a:pt x="0" y="21038"/>
                  <a:pt x="21038" y="0"/>
                  <a:pt x="46990" y="0"/>
                </a:cubicBezTo>
                <a:cubicBezTo>
                  <a:pt x="72942" y="0"/>
                  <a:pt x="93980" y="21038"/>
                  <a:pt x="93980" y="4699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2" name="任意形状 21"/>
          <p:cNvSpPr/>
          <p:nvPr/>
        </p:nvSpPr>
        <p:spPr>
          <a:xfrm>
            <a:off x="9897110" y="3214950"/>
            <a:ext cx="93980" cy="93979"/>
          </a:xfrm>
          <a:custGeom>
            <a:avLst/>
            <a:gdLst>
              <a:gd name="connsiteX0" fmla="*/ 93980 w 93980"/>
              <a:gd name="connsiteY0" fmla="*/ 46990 h 93979"/>
              <a:gd name="connsiteX1" fmla="*/ 46990 w 93980"/>
              <a:gd name="connsiteY1" fmla="*/ 93980 h 93979"/>
              <a:gd name="connsiteX2" fmla="*/ 0 w 93980"/>
              <a:gd name="connsiteY2" fmla="*/ 46990 h 93979"/>
              <a:gd name="connsiteX3" fmla="*/ 46990 w 93980"/>
              <a:gd name="connsiteY3" fmla="*/ 0 h 93979"/>
              <a:gd name="connsiteX4" fmla="*/ 93980 w 93980"/>
              <a:gd name="connsiteY4" fmla="*/ 46990 h 9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980" h="93979">
                <a:moveTo>
                  <a:pt x="93980" y="46990"/>
                </a:moveTo>
                <a:cubicBezTo>
                  <a:pt x="93980" y="72942"/>
                  <a:pt x="72942" y="93980"/>
                  <a:pt x="46990" y="93980"/>
                </a:cubicBezTo>
                <a:cubicBezTo>
                  <a:pt x="21038" y="93980"/>
                  <a:pt x="0" y="72942"/>
                  <a:pt x="0" y="46990"/>
                </a:cubicBezTo>
                <a:cubicBezTo>
                  <a:pt x="0" y="21038"/>
                  <a:pt x="21038" y="0"/>
                  <a:pt x="46990" y="0"/>
                </a:cubicBezTo>
                <a:cubicBezTo>
                  <a:pt x="72942" y="0"/>
                  <a:pt x="93980" y="21038"/>
                  <a:pt x="93980" y="46990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14400" y="4395908"/>
            <a:ext cx="2668270" cy="20916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入职第一天进行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客户现场拜访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在宇通等同事的帮助下，快速掌握项目基本情况、协助客户梳理需求清单、排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优先级。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并与客户针对</a:t>
            </a: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CR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需求的跟进模式达成共识、认可</a:t>
            </a: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CR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的付费机制及资源排期机制；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b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签署</a:t>
            </a:r>
            <a:r>
              <a:rPr lang="en-US" altLang="zh-CN" sz="1000" b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CR</a:t>
            </a:r>
            <a:r>
              <a:rPr lang="zh-CN" altLang="en-US" sz="1000" b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年度框架协议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，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保障项目进入平稳运维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期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764405" y="4231005"/>
            <a:ext cx="3268345" cy="26562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跟进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杭远二期项目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实施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在研发资源紧张的情况下，与客户达成一致：按功能模块分批次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上线。</a:t>
            </a: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Q3\Q4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分批次已上线飞检、合同等</a:t>
            </a: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个模块，其余内容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逐步迭代中；</a:t>
            </a:r>
            <a:endParaRPr lang="en-US" altLang="zh-CN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indent="0" algn="just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推广：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indent="0" algn="just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、协助支持武汉远大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试用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indent="0" algn="just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2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、</a:t>
            </a:r>
            <a:r>
              <a:rPr lang="zh-CN" altLang="en-US" sz="1000" b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新签</a:t>
            </a:r>
            <a:r>
              <a:rPr lang="zh-CN" altLang="en-US" sz="1000" b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杭远三期</a:t>
            </a: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CR 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indent="0" algn="just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、新签集团内推广：</a:t>
            </a:r>
            <a:r>
              <a:rPr lang="zh-CN" altLang="en-US" sz="1000" b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杭远</a:t>
            </a:r>
            <a:r>
              <a:rPr lang="en-US" altLang="zh-CN" sz="1000" b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sz="1000" b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基层营销事业部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上线；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indent="0" algn="just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新签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集团内推广：</a:t>
            </a:r>
            <a:r>
              <a:rPr lang="zh-CN" altLang="en-US" sz="1000" b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远大</a:t>
            </a:r>
            <a:r>
              <a:rPr lang="en-US" altLang="zh-CN" sz="1000" b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sz="1000" b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蜀阳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上线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indent="0" algn="just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新签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集团内推广：</a:t>
            </a:r>
            <a:r>
              <a:rPr lang="zh-CN" altLang="en-US" sz="1000" b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远大</a:t>
            </a:r>
            <a:r>
              <a:rPr lang="en-US" altLang="zh-CN" sz="1000" b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sz="1000" b="1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医学营养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上线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609308" y="4395908"/>
            <a:ext cx="2668270" cy="10401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完成项目需求调研、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蓝图设计；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系统实施</a:t>
            </a: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ing</a:t>
            </a:r>
            <a:endParaRPr lang="en-US" altLang="zh-CN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预计</a:t>
            </a: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1.30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上线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58469" y="1610841"/>
            <a:ext cx="3578860" cy="1417187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alpha val="79512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351280" y="3806247"/>
            <a:ext cx="17932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项目</a:t>
            </a:r>
            <a:r>
              <a:rPr kumimoji="1" lang="en-US" altLang="zh-CN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1.</a:t>
            </a:r>
            <a:r>
              <a:rPr kumimoji="1" lang="zh-CN" altLang="en-US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森世海亚</a:t>
            </a:r>
            <a:endParaRPr kumimoji="1" lang="zh-CN" altLang="en-US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203752" y="3806247"/>
            <a:ext cx="17932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项目</a:t>
            </a:r>
            <a:r>
              <a:rPr kumimoji="1" lang="en-US" altLang="zh-CN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2.</a:t>
            </a:r>
            <a:r>
              <a:rPr kumimoji="1" lang="zh-CN" altLang="en-US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远大</a:t>
            </a:r>
            <a:r>
              <a:rPr kumimoji="1" lang="zh-CN" altLang="en-US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健康</a:t>
            </a:r>
            <a:endParaRPr kumimoji="1" lang="zh-CN" altLang="en-US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041235" y="3806247"/>
            <a:ext cx="17932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项目</a:t>
            </a:r>
            <a:r>
              <a:rPr kumimoji="1" lang="en-US" altLang="zh-CN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3.</a:t>
            </a:r>
            <a:r>
              <a:rPr kumimoji="1" lang="zh-CN" altLang="en-US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礼邦医药</a:t>
            </a:r>
            <a:endParaRPr kumimoji="1" lang="zh-CN" altLang="en-US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48" name="直线连接符 47"/>
          <p:cNvCxnSpPr/>
          <p:nvPr/>
        </p:nvCxnSpPr>
        <p:spPr>
          <a:xfrm>
            <a:off x="4187786" y="5870602"/>
            <a:ext cx="0" cy="4106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/>
          <p:cNvCxnSpPr/>
          <p:nvPr/>
        </p:nvCxnSpPr>
        <p:spPr>
          <a:xfrm>
            <a:off x="8004215" y="5870602"/>
            <a:ext cx="0" cy="4106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1546859" y="3365063"/>
            <a:ext cx="14020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2025.5——2025.9</a:t>
            </a:r>
            <a:endParaRPr kumimoji="1"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463539" y="3365063"/>
            <a:ext cx="1249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2025.6——</a:t>
            </a:r>
            <a:r>
              <a:rPr kumimoji="1"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至今</a:t>
            </a:r>
            <a:endParaRPr kumimoji="1"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9275063" y="3365063"/>
            <a:ext cx="13258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2025.10——</a:t>
            </a:r>
            <a:r>
              <a:rPr kumimoji="1"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至今</a:t>
            </a:r>
            <a:endParaRPr kumimoji="1"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6089" y="2429583"/>
            <a:ext cx="1094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gradFill>
                  <a:gsLst>
                    <a:gs pos="70000">
                      <a:schemeClr val="bg1">
                        <a:alpha val="0"/>
                      </a:schemeClr>
                    </a:gs>
                    <a:gs pos="0">
                      <a:schemeClr val="bg1"/>
                    </a:gs>
                  </a:gsLst>
                  <a:lin ang="5400000" scaled="1"/>
                </a:gra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01</a:t>
            </a:r>
            <a:endParaRPr kumimoji="1" lang="zh-CN" altLang="en-US" sz="4000" b="1" dirty="0">
              <a:gradFill>
                <a:gsLst>
                  <a:gs pos="70000">
                    <a:schemeClr val="bg1">
                      <a:alpha val="0"/>
                    </a:schemeClr>
                  </a:gs>
                  <a:gs pos="0">
                    <a:schemeClr val="bg1"/>
                  </a:gs>
                </a:gsLst>
                <a:lin ang="5400000" scaled="1"/>
              </a:gra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9932" y="2660724"/>
            <a:ext cx="1474573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GB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森世海亚</a:t>
            </a:r>
            <a:endParaRPr kumimoji="1" lang="zh-CN" altLang="en-GB" sz="1000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05540" y="1610841"/>
            <a:ext cx="3578860" cy="1417187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alpha val="79512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13160" y="2429583"/>
            <a:ext cx="1094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gradFill>
                  <a:gsLst>
                    <a:gs pos="70000">
                      <a:schemeClr val="bg1">
                        <a:alpha val="0"/>
                      </a:schemeClr>
                    </a:gs>
                    <a:gs pos="0">
                      <a:schemeClr val="bg1"/>
                    </a:gs>
                  </a:gsLst>
                  <a:lin ang="5400000" scaled="1"/>
                </a:gra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02</a:t>
            </a:r>
            <a:endParaRPr kumimoji="1" lang="zh-CN" altLang="en-US" sz="4000" b="1" dirty="0">
              <a:gradFill>
                <a:gsLst>
                  <a:gs pos="70000">
                    <a:schemeClr val="bg1">
                      <a:alpha val="0"/>
                    </a:schemeClr>
                  </a:gs>
                  <a:gs pos="0">
                    <a:schemeClr val="bg1"/>
                  </a:gs>
                </a:gsLst>
                <a:lin ang="5400000" scaled="1"/>
              </a:gra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97003" y="2660724"/>
            <a:ext cx="14745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GB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</a:t>
            </a:r>
            <a:r>
              <a:rPr kumimoji="1" lang="zh-CN" altLang="en-US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实际情况自行替换</a:t>
            </a:r>
            <a:endParaRPr kumimoji="1" lang="zh-CN" altLang="en-US" sz="1000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160848" y="1610841"/>
            <a:ext cx="3578860" cy="1417187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alpha val="79512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68468" y="2429583"/>
            <a:ext cx="1094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gradFill>
                  <a:gsLst>
                    <a:gs pos="70000">
                      <a:schemeClr val="bg1">
                        <a:alpha val="0"/>
                      </a:schemeClr>
                    </a:gs>
                    <a:gs pos="0">
                      <a:schemeClr val="bg1"/>
                    </a:gs>
                  </a:gsLst>
                  <a:lin ang="5400000" scaled="1"/>
                </a:gra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03</a:t>
            </a:r>
            <a:endParaRPr kumimoji="1" lang="zh-CN" altLang="en-US" sz="4000" b="1" dirty="0">
              <a:gradFill>
                <a:gsLst>
                  <a:gs pos="70000">
                    <a:schemeClr val="bg1">
                      <a:alpha val="0"/>
                    </a:schemeClr>
                  </a:gs>
                  <a:gs pos="0">
                    <a:schemeClr val="bg1"/>
                  </a:gs>
                </a:gsLst>
                <a:lin ang="5400000" scaled="1"/>
              </a:gra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852311" y="2660724"/>
            <a:ext cx="14745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GB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</a:t>
            </a:r>
            <a:r>
              <a:rPr kumimoji="1" lang="zh-CN" altLang="en-US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实际情况自行替换</a:t>
            </a:r>
            <a:endParaRPr kumimoji="1" lang="zh-CN" altLang="en-US" sz="1000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090" y="1082675"/>
            <a:ext cx="3578860" cy="127000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2"/>
          <a:stretch>
            <a:fillRect/>
          </a:stretch>
        </p:blipFill>
        <p:spPr>
          <a:xfrm>
            <a:off x="4390390" y="1153795"/>
            <a:ext cx="3371850" cy="115189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530" y="1252855"/>
            <a:ext cx="3266440" cy="875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任意形状 50"/>
          <p:cNvSpPr/>
          <p:nvPr/>
        </p:nvSpPr>
        <p:spPr>
          <a:xfrm>
            <a:off x="7205980" y="1169670"/>
            <a:ext cx="4527550" cy="5293359"/>
          </a:xfrm>
          <a:custGeom>
            <a:avLst/>
            <a:gdLst>
              <a:gd name="connsiteX0" fmla="*/ 0 w 4527550"/>
              <a:gd name="connsiteY0" fmla="*/ 1606550 h 5293359"/>
              <a:gd name="connsiteX1" fmla="*/ 1073150 w 4527550"/>
              <a:gd name="connsiteY1" fmla="*/ 0 h 5293359"/>
              <a:gd name="connsiteX2" fmla="*/ 4527550 w 4527550"/>
              <a:gd name="connsiteY2" fmla="*/ 0 h 5293359"/>
              <a:gd name="connsiteX3" fmla="*/ 4527550 w 4527550"/>
              <a:gd name="connsiteY3" fmla="*/ 5293360 h 5293359"/>
              <a:gd name="connsiteX4" fmla="*/ 1073150 w 4527550"/>
              <a:gd name="connsiteY4" fmla="*/ 5293360 h 5293359"/>
              <a:gd name="connsiteX5" fmla="*/ 0 w 4527550"/>
              <a:gd name="connsiteY5" fmla="*/ 3686810 h 529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27550" h="5293359">
                <a:moveTo>
                  <a:pt x="0" y="1606550"/>
                </a:moveTo>
                <a:lnTo>
                  <a:pt x="1073150" y="0"/>
                </a:lnTo>
                <a:lnTo>
                  <a:pt x="4527550" y="0"/>
                </a:lnTo>
                <a:lnTo>
                  <a:pt x="4527550" y="5293360"/>
                </a:lnTo>
                <a:lnTo>
                  <a:pt x="1073150" y="5293360"/>
                </a:lnTo>
                <a:lnTo>
                  <a:pt x="0" y="3686810"/>
                </a:lnTo>
                <a:close/>
              </a:path>
            </a:pathLst>
          </a:custGeom>
          <a:solidFill>
            <a:schemeClr val="accent4">
              <a:alpha val="50195"/>
            </a:schemeClr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" name="任意形状 51"/>
          <p:cNvSpPr/>
          <p:nvPr/>
        </p:nvSpPr>
        <p:spPr>
          <a:xfrm>
            <a:off x="458469" y="1169670"/>
            <a:ext cx="4527550" cy="5293359"/>
          </a:xfrm>
          <a:custGeom>
            <a:avLst/>
            <a:gdLst>
              <a:gd name="connsiteX0" fmla="*/ 4527550 w 4527550"/>
              <a:gd name="connsiteY0" fmla="*/ 1606550 h 5293359"/>
              <a:gd name="connsiteX1" fmla="*/ 3454400 w 4527550"/>
              <a:gd name="connsiteY1" fmla="*/ 0 h 5293359"/>
              <a:gd name="connsiteX2" fmla="*/ 0 w 4527550"/>
              <a:gd name="connsiteY2" fmla="*/ 0 h 5293359"/>
              <a:gd name="connsiteX3" fmla="*/ 0 w 4527550"/>
              <a:gd name="connsiteY3" fmla="*/ 5293360 h 5293359"/>
              <a:gd name="connsiteX4" fmla="*/ 3454400 w 4527550"/>
              <a:gd name="connsiteY4" fmla="*/ 5293360 h 5293359"/>
              <a:gd name="connsiteX5" fmla="*/ 4527550 w 4527550"/>
              <a:gd name="connsiteY5" fmla="*/ 3686810 h 529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27550" h="5293359">
                <a:moveTo>
                  <a:pt x="4527550" y="1606550"/>
                </a:moveTo>
                <a:lnTo>
                  <a:pt x="3454400" y="0"/>
                </a:lnTo>
                <a:lnTo>
                  <a:pt x="0" y="0"/>
                </a:lnTo>
                <a:lnTo>
                  <a:pt x="0" y="5293360"/>
                </a:lnTo>
                <a:lnTo>
                  <a:pt x="3454400" y="5293360"/>
                </a:lnTo>
                <a:lnTo>
                  <a:pt x="4527550" y="3686810"/>
                </a:lnTo>
                <a:close/>
              </a:path>
            </a:pathLst>
          </a:custGeom>
          <a:solidFill>
            <a:schemeClr val="accent4">
              <a:alpha val="50195"/>
            </a:schemeClr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小李PPT1"/>
          <p:cNvSpPr txBox="1"/>
          <p:nvPr/>
        </p:nvSpPr>
        <p:spPr>
          <a:xfrm>
            <a:off x="363836" y="244861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述职报告：反思与成长</a:t>
            </a:r>
            <a:endParaRPr lang="zh-CN" altLang="en-US" sz="2800" b="1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小李PPT1"/>
          <p:cNvSpPr txBox="1"/>
          <p:nvPr/>
        </p:nvSpPr>
        <p:spPr>
          <a:xfrm>
            <a:off x="10258679" y="403135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en-US" altLang="en-GB" dirty="0" err="1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MEETING BEST</a:t>
            </a:r>
            <a:endParaRPr lang="en-US" altLang="en-GB" dirty="0" err="1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54763" y="798737"/>
            <a:ext cx="11282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任意形状 30"/>
          <p:cNvSpPr/>
          <p:nvPr/>
        </p:nvSpPr>
        <p:spPr>
          <a:xfrm>
            <a:off x="3945890" y="2776221"/>
            <a:ext cx="2080259" cy="2080259"/>
          </a:xfrm>
          <a:custGeom>
            <a:avLst/>
            <a:gdLst>
              <a:gd name="connsiteX0" fmla="*/ 2080260 w 2080259"/>
              <a:gd name="connsiteY0" fmla="*/ 1040130 h 2080259"/>
              <a:gd name="connsiteX1" fmla="*/ 1040130 w 2080259"/>
              <a:gd name="connsiteY1" fmla="*/ 2080260 h 2080259"/>
              <a:gd name="connsiteX2" fmla="*/ 0 w 2080259"/>
              <a:gd name="connsiteY2" fmla="*/ 1040130 h 2080259"/>
              <a:gd name="connsiteX3" fmla="*/ 1040130 w 2080259"/>
              <a:gd name="connsiteY3" fmla="*/ 0 h 2080259"/>
              <a:gd name="connsiteX4" fmla="*/ 2080260 w 2080259"/>
              <a:gd name="connsiteY4" fmla="*/ 1040130 h 2080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0259" h="2080259">
                <a:moveTo>
                  <a:pt x="2080260" y="1040130"/>
                </a:moveTo>
                <a:cubicBezTo>
                  <a:pt x="2080260" y="1614578"/>
                  <a:pt x="1614578" y="2080260"/>
                  <a:pt x="1040130" y="2080260"/>
                </a:cubicBezTo>
                <a:cubicBezTo>
                  <a:pt x="465682" y="2080260"/>
                  <a:pt x="0" y="1614578"/>
                  <a:pt x="0" y="1040130"/>
                </a:cubicBezTo>
                <a:cubicBezTo>
                  <a:pt x="0" y="465682"/>
                  <a:pt x="465682" y="0"/>
                  <a:pt x="1040130" y="0"/>
                </a:cubicBezTo>
                <a:cubicBezTo>
                  <a:pt x="1614578" y="0"/>
                  <a:pt x="2080260" y="465682"/>
                  <a:pt x="2080260" y="1040130"/>
                </a:cubicBezTo>
                <a:close/>
              </a:path>
            </a:pathLst>
          </a:custGeom>
          <a:solidFill>
            <a:schemeClr val="accent1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形状 31"/>
          <p:cNvSpPr/>
          <p:nvPr/>
        </p:nvSpPr>
        <p:spPr>
          <a:xfrm>
            <a:off x="6165850" y="2776221"/>
            <a:ext cx="2080259" cy="2080259"/>
          </a:xfrm>
          <a:custGeom>
            <a:avLst/>
            <a:gdLst>
              <a:gd name="connsiteX0" fmla="*/ 2080260 w 2080259"/>
              <a:gd name="connsiteY0" fmla="*/ 1040130 h 2080259"/>
              <a:gd name="connsiteX1" fmla="*/ 1040130 w 2080259"/>
              <a:gd name="connsiteY1" fmla="*/ 2080260 h 2080259"/>
              <a:gd name="connsiteX2" fmla="*/ 0 w 2080259"/>
              <a:gd name="connsiteY2" fmla="*/ 1040130 h 2080259"/>
              <a:gd name="connsiteX3" fmla="*/ 1040130 w 2080259"/>
              <a:gd name="connsiteY3" fmla="*/ 0 h 2080259"/>
              <a:gd name="connsiteX4" fmla="*/ 2080260 w 2080259"/>
              <a:gd name="connsiteY4" fmla="*/ 1040130 h 2080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0259" h="2080259">
                <a:moveTo>
                  <a:pt x="2080260" y="1040130"/>
                </a:moveTo>
                <a:cubicBezTo>
                  <a:pt x="2080260" y="1614578"/>
                  <a:pt x="1614577" y="2080260"/>
                  <a:pt x="1040130" y="2080260"/>
                </a:cubicBezTo>
                <a:cubicBezTo>
                  <a:pt x="465682" y="2080260"/>
                  <a:pt x="0" y="1614578"/>
                  <a:pt x="0" y="1040130"/>
                </a:cubicBezTo>
                <a:cubicBezTo>
                  <a:pt x="0" y="465682"/>
                  <a:pt x="465682" y="0"/>
                  <a:pt x="1040130" y="0"/>
                </a:cubicBezTo>
                <a:cubicBezTo>
                  <a:pt x="1614577" y="0"/>
                  <a:pt x="2080260" y="465682"/>
                  <a:pt x="2080260" y="1040130"/>
                </a:cubicBezTo>
                <a:close/>
              </a:path>
            </a:pathLst>
          </a:custGeom>
          <a:solidFill>
            <a:schemeClr val="accent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3" name="任意形状 32"/>
          <p:cNvSpPr/>
          <p:nvPr/>
        </p:nvSpPr>
        <p:spPr>
          <a:xfrm>
            <a:off x="5627370" y="3347721"/>
            <a:ext cx="937259" cy="937259"/>
          </a:xfrm>
          <a:custGeom>
            <a:avLst/>
            <a:gdLst>
              <a:gd name="connsiteX0" fmla="*/ 937260 w 937259"/>
              <a:gd name="connsiteY0" fmla="*/ 468630 h 937259"/>
              <a:gd name="connsiteX1" fmla="*/ 468630 w 937259"/>
              <a:gd name="connsiteY1" fmla="*/ 937260 h 937259"/>
              <a:gd name="connsiteX2" fmla="*/ 0 w 937259"/>
              <a:gd name="connsiteY2" fmla="*/ 468630 h 937259"/>
              <a:gd name="connsiteX3" fmla="*/ 468630 w 937259"/>
              <a:gd name="connsiteY3" fmla="*/ 0 h 937259"/>
              <a:gd name="connsiteX4" fmla="*/ 937260 w 937259"/>
              <a:gd name="connsiteY4" fmla="*/ 468630 h 937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7259" h="937259">
                <a:moveTo>
                  <a:pt x="937260" y="468630"/>
                </a:moveTo>
                <a:cubicBezTo>
                  <a:pt x="937260" y="727447"/>
                  <a:pt x="727448" y="937260"/>
                  <a:pt x="468630" y="937260"/>
                </a:cubicBezTo>
                <a:cubicBezTo>
                  <a:pt x="209813" y="937260"/>
                  <a:pt x="0" y="727447"/>
                  <a:pt x="0" y="468630"/>
                </a:cubicBezTo>
                <a:cubicBezTo>
                  <a:pt x="0" y="209813"/>
                  <a:pt x="209813" y="0"/>
                  <a:pt x="468630" y="0"/>
                </a:cubicBezTo>
                <a:cubicBezTo>
                  <a:pt x="727448" y="0"/>
                  <a:pt x="937260" y="209813"/>
                  <a:pt x="937260" y="468630"/>
                </a:cubicBezTo>
                <a:close/>
              </a:path>
            </a:pathLst>
          </a:custGeom>
          <a:solidFill>
            <a:schemeClr val="accent4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8" name="任意形状 37"/>
          <p:cNvSpPr/>
          <p:nvPr/>
        </p:nvSpPr>
        <p:spPr>
          <a:xfrm>
            <a:off x="618490" y="2079626"/>
            <a:ext cx="3135630" cy="1250950"/>
          </a:xfrm>
          <a:custGeom>
            <a:avLst/>
            <a:gdLst>
              <a:gd name="connsiteX0" fmla="*/ 0 w 3135630"/>
              <a:gd name="connsiteY0" fmla="*/ 0 h 1250950"/>
              <a:gd name="connsiteX1" fmla="*/ 3135630 w 3135630"/>
              <a:gd name="connsiteY1" fmla="*/ 0 h 1250950"/>
              <a:gd name="connsiteX2" fmla="*/ 3135630 w 3135630"/>
              <a:gd name="connsiteY2" fmla="*/ 1250950 h 1250950"/>
              <a:gd name="connsiteX3" fmla="*/ 0 w 3135630"/>
              <a:gd name="connsiteY3" fmla="*/ 1250950 h 125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5630" h="1250950">
                <a:moveTo>
                  <a:pt x="0" y="0"/>
                </a:moveTo>
                <a:lnTo>
                  <a:pt x="3135630" y="0"/>
                </a:lnTo>
                <a:lnTo>
                  <a:pt x="3135630" y="1250950"/>
                </a:lnTo>
                <a:lnTo>
                  <a:pt x="0" y="1250950"/>
                </a:lnTo>
                <a:close/>
              </a:path>
            </a:pathLst>
          </a:custGeom>
          <a:solidFill>
            <a:schemeClr val="bg1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0" name="任意形状 39"/>
          <p:cNvSpPr/>
          <p:nvPr/>
        </p:nvSpPr>
        <p:spPr>
          <a:xfrm>
            <a:off x="618490" y="4520565"/>
            <a:ext cx="3135630" cy="1480820"/>
          </a:xfrm>
          <a:custGeom>
            <a:avLst/>
            <a:gdLst>
              <a:gd name="connsiteX0" fmla="*/ 0 w 3135630"/>
              <a:gd name="connsiteY0" fmla="*/ 0 h 1250950"/>
              <a:gd name="connsiteX1" fmla="*/ 3135630 w 3135630"/>
              <a:gd name="connsiteY1" fmla="*/ 0 h 1250950"/>
              <a:gd name="connsiteX2" fmla="*/ 3135630 w 3135630"/>
              <a:gd name="connsiteY2" fmla="*/ 1250950 h 1250950"/>
              <a:gd name="connsiteX3" fmla="*/ 0 w 3135630"/>
              <a:gd name="connsiteY3" fmla="*/ 1250950 h 125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5630" h="1250950">
                <a:moveTo>
                  <a:pt x="0" y="0"/>
                </a:moveTo>
                <a:lnTo>
                  <a:pt x="3135630" y="0"/>
                </a:lnTo>
                <a:lnTo>
                  <a:pt x="3135630" y="1250950"/>
                </a:lnTo>
                <a:lnTo>
                  <a:pt x="0" y="1250950"/>
                </a:lnTo>
                <a:close/>
              </a:path>
            </a:pathLst>
          </a:custGeom>
          <a:solidFill>
            <a:schemeClr val="bg1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5" name="任意形状 44"/>
          <p:cNvSpPr/>
          <p:nvPr/>
        </p:nvSpPr>
        <p:spPr>
          <a:xfrm>
            <a:off x="8448040" y="2042796"/>
            <a:ext cx="3135629" cy="1250950"/>
          </a:xfrm>
          <a:custGeom>
            <a:avLst/>
            <a:gdLst>
              <a:gd name="connsiteX0" fmla="*/ 0 w 3135629"/>
              <a:gd name="connsiteY0" fmla="*/ 0 h 1250950"/>
              <a:gd name="connsiteX1" fmla="*/ 3135630 w 3135629"/>
              <a:gd name="connsiteY1" fmla="*/ 0 h 1250950"/>
              <a:gd name="connsiteX2" fmla="*/ 3135630 w 3135629"/>
              <a:gd name="connsiteY2" fmla="*/ 1250950 h 1250950"/>
              <a:gd name="connsiteX3" fmla="*/ 0 w 3135629"/>
              <a:gd name="connsiteY3" fmla="*/ 1250950 h 125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5629" h="1250950">
                <a:moveTo>
                  <a:pt x="0" y="0"/>
                </a:moveTo>
                <a:lnTo>
                  <a:pt x="3135630" y="0"/>
                </a:lnTo>
                <a:lnTo>
                  <a:pt x="3135630" y="1250950"/>
                </a:lnTo>
                <a:lnTo>
                  <a:pt x="0" y="1250950"/>
                </a:lnTo>
                <a:close/>
              </a:path>
            </a:pathLst>
          </a:custGeom>
          <a:solidFill>
            <a:schemeClr val="bg1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7" name="任意形状 46"/>
          <p:cNvSpPr/>
          <p:nvPr/>
        </p:nvSpPr>
        <p:spPr>
          <a:xfrm>
            <a:off x="8448040" y="4520566"/>
            <a:ext cx="3135629" cy="1250950"/>
          </a:xfrm>
          <a:custGeom>
            <a:avLst/>
            <a:gdLst>
              <a:gd name="connsiteX0" fmla="*/ 0 w 3135629"/>
              <a:gd name="connsiteY0" fmla="*/ 0 h 1250950"/>
              <a:gd name="connsiteX1" fmla="*/ 3135630 w 3135629"/>
              <a:gd name="connsiteY1" fmla="*/ 0 h 1250950"/>
              <a:gd name="connsiteX2" fmla="*/ 3135630 w 3135629"/>
              <a:gd name="connsiteY2" fmla="*/ 1250950 h 1250950"/>
              <a:gd name="connsiteX3" fmla="*/ 0 w 3135629"/>
              <a:gd name="connsiteY3" fmla="*/ 1250950 h 125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5629" h="1250950">
                <a:moveTo>
                  <a:pt x="0" y="0"/>
                </a:moveTo>
                <a:lnTo>
                  <a:pt x="3135630" y="0"/>
                </a:lnTo>
                <a:lnTo>
                  <a:pt x="3135630" y="1250950"/>
                </a:lnTo>
                <a:lnTo>
                  <a:pt x="0" y="1250950"/>
                </a:lnTo>
                <a:close/>
              </a:path>
            </a:pathLst>
          </a:custGeom>
          <a:solidFill>
            <a:schemeClr val="bg1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48" name="图形 26"/>
          <p:cNvGrpSpPr/>
          <p:nvPr/>
        </p:nvGrpSpPr>
        <p:grpSpPr>
          <a:xfrm>
            <a:off x="5778500" y="1913890"/>
            <a:ext cx="635000" cy="3804919"/>
            <a:chOff x="5778500" y="1913890"/>
            <a:chExt cx="635000" cy="3804919"/>
          </a:xfrm>
          <a:solidFill>
            <a:schemeClr val="bg2"/>
          </a:solidFill>
        </p:grpSpPr>
        <p:sp>
          <p:nvSpPr>
            <p:cNvPr id="49" name="任意形状 48"/>
            <p:cNvSpPr/>
            <p:nvPr/>
          </p:nvSpPr>
          <p:spPr>
            <a:xfrm>
              <a:off x="5778500" y="1913890"/>
              <a:ext cx="635000" cy="1083310"/>
            </a:xfrm>
            <a:custGeom>
              <a:avLst/>
              <a:gdLst>
                <a:gd name="connsiteX0" fmla="*/ 635000 w 635000"/>
                <a:gd name="connsiteY0" fmla="*/ 361950 h 1083310"/>
                <a:gd name="connsiteX1" fmla="*/ 317500 w 635000"/>
                <a:gd name="connsiteY1" fmla="*/ 0 h 1083310"/>
                <a:gd name="connsiteX2" fmla="*/ 0 w 635000"/>
                <a:gd name="connsiteY2" fmla="*/ 361950 h 1083310"/>
                <a:gd name="connsiteX3" fmla="*/ 173990 w 635000"/>
                <a:gd name="connsiteY3" fmla="*/ 361950 h 1083310"/>
                <a:gd name="connsiteX4" fmla="*/ 173990 w 635000"/>
                <a:gd name="connsiteY4" fmla="*/ 1083310 h 1083310"/>
                <a:gd name="connsiteX5" fmla="*/ 461010 w 635000"/>
                <a:gd name="connsiteY5" fmla="*/ 1083310 h 1083310"/>
                <a:gd name="connsiteX6" fmla="*/ 461010 w 635000"/>
                <a:gd name="connsiteY6" fmla="*/ 361950 h 1083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5000" h="1083310">
                  <a:moveTo>
                    <a:pt x="635000" y="361950"/>
                  </a:moveTo>
                  <a:lnTo>
                    <a:pt x="317500" y="0"/>
                  </a:lnTo>
                  <a:lnTo>
                    <a:pt x="0" y="361950"/>
                  </a:lnTo>
                  <a:lnTo>
                    <a:pt x="173990" y="361950"/>
                  </a:lnTo>
                  <a:lnTo>
                    <a:pt x="173990" y="1083310"/>
                  </a:lnTo>
                  <a:lnTo>
                    <a:pt x="461010" y="1083310"/>
                  </a:lnTo>
                  <a:lnTo>
                    <a:pt x="461010" y="361950"/>
                  </a:lnTo>
                  <a:close/>
                </a:path>
              </a:pathLst>
            </a:custGeom>
            <a:grpFill/>
            <a:ln w="16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形状 49"/>
            <p:cNvSpPr/>
            <p:nvPr/>
          </p:nvSpPr>
          <p:spPr>
            <a:xfrm>
              <a:off x="5778500" y="4635501"/>
              <a:ext cx="635000" cy="1083309"/>
            </a:xfrm>
            <a:custGeom>
              <a:avLst/>
              <a:gdLst>
                <a:gd name="connsiteX0" fmla="*/ 0 w 635000"/>
                <a:gd name="connsiteY0" fmla="*/ 721360 h 1083309"/>
                <a:gd name="connsiteX1" fmla="*/ 317500 w 635000"/>
                <a:gd name="connsiteY1" fmla="*/ 1083310 h 1083309"/>
                <a:gd name="connsiteX2" fmla="*/ 635000 w 635000"/>
                <a:gd name="connsiteY2" fmla="*/ 721360 h 1083309"/>
                <a:gd name="connsiteX3" fmla="*/ 461010 w 635000"/>
                <a:gd name="connsiteY3" fmla="*/ 721360 h 1083309"/>
                <a:gd name="connsiteX4" fmla="*/ 461010 w 635000"/>
                <a:gd name="connsiteY4" fmla="*/ 0 h 1083309"/>
                <a:gd name="connsiteX5" fmla="*/ 173990 w 635000"/>
                <a:gd name="connsiteY5" fmla="*/ 0 h 1083309"/>
                <a:gd name="connsiteX6" fmla="*/ 173990 w 635000"/>
                <a:gd name="connsiteY6" fmla="*/ 721360 h 108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5000" h="1083309">
                  <a:moveTo>
                    <a:pt x="0" y="721360"/>
                  </a:moveTo>
                  <a:lnTo>
                    <a:pt x="317500" y="1083310"/>
                  </a:lnTo>
                  <a:lnTo>
                    <a:pt x="635000" y="721360"/>
                  </a:lnTo>
                  <a:lnTo>
                    <a:pt x="461010" y="721360"/>
                  </a:lnTo>
                  <a:lnTo>
                    <a:pt x="461010" y="0"/>
                  </a:lnTo>
                  <a:lnTo>
                    <a:pt x="173990" y="0"/>
                  </a:lnTo>
                  <a:lnTo>
                    <a:pt x="173990" y="721360"/>
                  </a:lnTo>
                  <a:close/>
                </a:path>
              </a:pathLst>
            </a:custGeom>
            <a:grpFill/>
            <a:ln w="16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7" name="任意形状 36"/>
          <p:cNvSpPr/>
          <p:nvPr/>
        </p:nvSpPr>
        <p:spPr>
          <a:xfrm>
            <a:off x="618490" y="1769746"/>
            <a:ext cx="3135630" cy="418450"/>
          </a:xfrm>
          <a:custGeom>
            <a:avLst/>
            <a:gdLst>
              <a:gd name="connsiteX0" fmla="*/ 0 w 3135630"/>
              <a:gd name="connsiteY0" fmla="*/ 0 h 309880"/>
              <a:gd name="connsiteX1" fmla="*/ 3135630 w 3135630"/>
              <a:gd name="connsiteY1" fmla="*/ 0 h 309880"/>
              <a:gd name="connsiteX2" fmla="*/ 3135630 w 3135630"/>
              <a:gd name="connsiteY2" fmla="*/ 309880 h 309880"/>
              <a:gd name="connsiteX3" fmla="*/ 0 w 3135630"/>
              <a:gd name="connsiteY3" fmla="*/ 309880 h 30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5630" h="309880">
                <a:moveTo>
                  <a:pt x="0" y="0"/>
                </a:moveTo>
                <a:lnTo>
                  <a:pt x="3135630" y="0"/>
                </a:lnTo>
                <a:lnTo>
                  <a:pt x="3135630" y="309880"/>
                </a:lnTo>
                <a:lnTo>
                  <a:pt x="0" y="309880"/>
                </a:lnTo>
                <a:close/>
              </a:path>
            </a:pathLst>
          </a:custGeom>
          <a:solidFill>
            <a:schemeClr val="accent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9" name="任意形状 38"/>
          <p:cNvSpPr/>
          <p:nvPr/>
        </p:nvSpPr>
        <p:spPr>
          <a:xfrm>
            <a:off x="618490" y="4211956"/>
            <a:ext cx="3135630" cy="418449"/>
          </a:xfrm>
          <a:custGeom>
            <a:avLst/>
            <a:gdLst>
              <a:gd name="connsiteX0" fmla="*/ 0 w 3135630"/>
              <a:gd name="connsiteY0" fmla="*/ 0 h 309879"/>
              <a:gd name="connsiteX1" fmla="*/ 3135630 w 3135630"/>
              <a:gd name="connsiteY1" fmla="*/ 0 h 309879"/>
              <a:gd name="connsiteX2" fmla="*/ 3135630 w 3135630"/>
              <a:gd name="connsiteY2" fmla="*/ 309880 h 309879"/>
              <a:gd name="connsiteX3" fmla="*/ 0 w 3135630"/>
              <a:gd name="connsiteY3" fmla="*/ 309880 h 309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5630" h="309879">
                <a:moveTo>
                  <a:pt x="0" y="0"/>
                </a:moveTo>
                <a:lnTo>
                  <a:pt x="3135630" y="0"/>
                </a:lnTo>
                <a:lnTo>
                  <a:pt x="3135630" y="309880"/>
                </a:lnTo>
                <a:lnTo>
                  <a:pt x="0" y="309880"/>
                </a:lnTo>
                <a:close/>
              </a:path>
            </a:pathLst>
          </a:custGeom>
          <a:solidFill>
            <a:schemeClr val="accent3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4" name="任意形状 43"/>
          <p:cNvSpPr/>
          <p:nvPr/>
        </p:nvSpPr>
        <p:spPr>
          <a:xfrm>
            <a:off x="8448040" y="1732916"/>
            <a:ext cx="3135629" cy="418450"/>
          </a:xfrm>
          <a:custGeom>
            <a:avLst/>
            <a:gdLst>
              <a:gd name="connsiteX0" fmla="*/ 0 w 3135629"/>
              <a:gd name="connsiteY0" fmla="*/ 0 h 309880"/>
              <a:gd name="connsiteX1" fmla="*/ 3135630 w 3135629"/>
              <a:gd name="connsiteY1" fmla="*/ 0 h 309880"/>
              <a:gd name="connsiteX2" fmla="*/ 3135630 w 3135629"/>
              <a:gd name="connsiteY2" fmla="*/ 309880 h 309880"/>
              <a:gd name="connsiteX3" fmla="*/ 0 w 3135629"/>
              <a:gd name="connsiteY3" fmla="*/ 309880 h 30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5629" h="309880">
                <a:moveTo>
                  <a:pt x="0" y="0"/>
                </a:moveTo>
                <a:lnTo>
                  <a:pt x="3135630" y="0"/>
                </a:lnTo>
                <a:lnTo>
                  <a:pt x="3135630" y="309880"/>
                </a:lnTo>
                <a:lnTo>
                  <a:pt x="0" y="309880"/>
                </a:lnTo>
                <a:close/>
              </a:path>
            </a:pathLst>
          </a:custGeom>
          <a:solidFill>
            <a:schemeClr val="accent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6" name="任意形状 45"/>
          <p:cNvSpPr/>
          <p:nvPr/>
        </p:nvSpPr>
        <p:spPr>
          <a:xfrm>
            <a:off x="8448040" y="4211956"/>
            <a:ext cx="3135629" cy="418449"/>
          </a:xfrm>
          <a:custGeom>
            <a:avLst/>
            <a:gdLst>
              <a:gd name="connsiteX0" fmla="*/ 0 w 3135629"/>
              <a:gd name="connsiteY0" fmla="*/ 0 h 309879"/>
              <a:gd name="connsiteX1" fmla="*/ 3135630 w 3135629"/>
              <a:gd name="connsiteY1" fmla="*/ 0 h 309879"/>
              <a:gd name="connsiteX2" fmla="*/ 3135630 w 3135629"/>
              <a:gd name="connsiteY2" fmla="*/ 309880 h 309879"/>
              <a:gd name="connsiteX3" fmla="*/ 0 w 3135629"/>
              <a:gd name="connsiteY3" fmla="*/ 309880 h 309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5629" h="309879">
                <a:moveTo>
                  <a:pt x="0" y="0"/>
                </a:moveTo>
                <a:lnTo>
                  <a:pt x="3135630" y="0"/>
                </a:lnTo>
                <a:lnTo>
                  <a:pt x="3135630" y="309880"/>
                </a:lnTo>
                <a:lnTo>
                  <a:pt x="0" y="309880"/>
                </a:lnTo>
                <a:close/>
              </a:path>
            </a:pathLst>
          </a:custGeom>
          <a:solidFill>
            <a:schemeClr val="accent3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9755" y="2314611"/>
            <a:ext cx="2821942" cy="783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针对医药行业</a:t>
            </a: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不同阶段、不同性质的公司，其在合规</a:t>
            </a: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SFE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销售财务等个视角的侧重点、关注点不同，对这方面的理解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欠缺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07762" y="1806295"/>
            <a:ext cx="233628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业务场景</a:t>
            </a:r>
            <a:r>
              <a:rPr kumimoji="1" lang="zh-CN" altLang="en-US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掌握不足</a:t>
            </a:r>
            <a:endParaRPr kumimoji="1" lang="zh-CN" altLang="en-US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612319" y="2277781"/>
            <a:ext cx="2821942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抽出时间积极学习各项目的</a:t>
            </a: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urs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及蓝图设计，了解和请教各项目的业务场景及对应的逻辑。不同项目间横向比较同场景下的需求表述、实际需要，最终提升工作效率、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专业程度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550326" y="1769465"/>
            <a:ext cx="233628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持续学习</a:t>
            </a:r>
            <a:endParaRPr kumimoji="1" lang="zh-CN" altLang="en-US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9755" y="4756193"/>
            <a:ext cx="2821942" cy="1245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在项目推进过程中，针对客户的部分特殊需求，在理解了实际的业务场景后，很难直接转化、对照到系统功能，无法高效的判断已有功能是否能支持客户需求；设计方案时仅解决当前问题、缺少场景抽象</a:t>
            </a: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-&gt;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反哺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产品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08025" y="4248150"/>
            <a:ext cx="2619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产品熟悉度</a:t>
            </a:r>
            <a:r>
              <a:rPr kumimoji="1" lang="en-US" altLang="zh-CN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kumimoji="1" lang="zh-CN" altLang="en-US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产品思维</a:t>
            </a:r>
            <a:endParaRPr kumimoji="1" lang="zh-CN" altLang="en-US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612319" y="4756193"/>
            <a:ext cx="2821942" cy="783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基于各项目的各场景</a:t>
            </a: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“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定制化需求</a:t>
            </a:r>
            <a:r>
              <a: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”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，积极与内外部沟通，掌握实际需求，并尝试提炼标准化产品方案，积极请教内部高手、请教</a:t>
            </a:r>
            <a:r>
              <a:rPr lang="zh-CN" altLang="en-US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客户</a:t>
            </a:r>
            <a:endParaRPr lang="zh-CN" altLang="en-US" sz="10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0326" y="4247877"/>
            <a:ext cx="233628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锻炼</a:t>
            </a:r>
            <a:r>
              <a:rPr kumimoji="1" lang="zh-CN" altLang="en-US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产品化思维</a:t>
            </a:r>
            <a:endParaRPr kumimoji="1" lang="zh-CN" altLang="en-US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370099" y="3529200"/>
            <a:ext cx="18758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成长</a:t>
            </a:r>
            <a:endParaRPr kumimoji="1" lang="zh-CN" altLang="en-US" sz="320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998191" y="3527930"/>
            <a:ext cx="18758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反思</a:t>
            </a:r>
            <a:endParaRPr kumimoji="1" lang="zh-CN" altLang="en-US" sz="320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742491" y="3528318"/>
            <a:ext cx="708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VS</a:t>
            </a:r>
            <a:endParaRPr kumimoji="1" lang="zh-CN" altLang="en-US" sz="320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5" name="Freeform 16"/>
          <p:cNvSpPr>
            <a:spLocks noChangeArrowheads="1"/>
          </p:cNvSpPr>
          <p:nvPr/>
        </p:nvSpPr>
        <p:spPr bwMode="auto">
          <a:xfrm>
            <a:off x="3308060" y="1843499"/>
            <a:ext cx="244041" cy="271727"/>
          </a:xfrm>
          <a:custGeom>
            <a:avLst/>
            <a:gdLst>
              <a:gd name="T0" fmla="*/ 932 w 1051"/>
              <a:gd name="T1" fmla="*/ 1050 h 1169"/>
              <a:gd name="T2" fmla="*/ 932 w 1051"/>
              <a:gd name="T3" fmla="*/ 411 h 1169"/>
              <a:gd name="T4" fmla="*/ 117 w 1051"/>
              <a:gd name="T5" fmla="*/ 411 h 1169"/>
              <a:gd name="T6" fmla="*/ 117 w 1051"/>
              <a:gd name="T7" fmla="*/ 1050 h 1169"/>
              <a:gd name="T8" fmla="*/ 932 w 1051"/>
              <a:gd name="T9" fmla="*/ 1050 h 1169"/>
              <a:gd name="T10" fmla="*/ 932 w 1051"/>
              <a:gd name="T11" fmla="*/ 118 h 1169"/>
              <a:gd name="T12" fmla="*/ 1050 w 1051"/>
              <a:gd name="T13" fmla="*/ 236 h 1169"/>
              <a:gd name="T14" fmla="*/ 1050 w 1051"/>
              <a:gd name="T15" fmla="*/ 1050 h 1169"/>
              <a:gd name="T16" fmla="*/ 932 w 1051"/>
              <a:gd name="T17" fmla="*/ 1168 h 1169"/>
              <a:gd name="T18" fmla="*/ 117 w 1051"/>
              <a:gd name="T19" fmla="*/ 1168 h 1169"/>
              <a:gd name="T20" fmla="*/ 0 w 1051"/>
              <a:gd name="T21" fmla="*/ 1050 h 1169"/>
              <a:gd name="T22" fmla="*/ 0 w 1051"/>
              <a:gd name="T23" fmla="*/ 236 h 1169"/>
              <a:gd name="T24" fmla="*/ 117 w 1051"/>
              <a:gd name="T25" fmla="*/ 118 h 1169"/>
              <a:gd name="T26" fmla="*/ 175 w 1051"/>
              <a:gd name="T27" fmla="*/ 118 h 1169"/>
              <a:gd name="T28" fmla="*/ 175 w 1051"/>
              <a:gd name="T29" fmla="*/ 0 h 1169"/>
              <a:gd name="T30" fmla="*/ 293 w 1051"/>
              <a:gd name="T31" fmla="*/ 0 h 1169"/>
              <a:gd name="T32" fmla="*/ 293 w 1051"/>
              <a:gd name="T33" fmla="*/ 118 h 1169"/>
              <a:gd name="T34" fmla="*/ 757 w 1051"/>
              <a:gd name="T35" fmla="*/ 118 h 1169"/>
              <a:gd name="T36" fmla="*/ 757 w 1051"/>
              <a:gd name="T37" fmla="*/ 0 h 1169"/>
              <a:gd name="T38" fmla="*/ 875 w 1051"/>
              <a:gd name="T39" fmla="*/ 0 h 1169"/>
              <a:gd name="T40" fmla="*/ 875 w 1051"/>
              <a:gd name="T41" fmla="*/ 118 h 1169"/>
              <a:gd name="T42" fmla="*/ 932 w 1051"/>
              <a:gd name="T43" fmla="*/ 118 h 1169"/>
              <a:gd name="T44" fmla="*/ 369 w 1051"/>
              <a:gd name="T45" fmla="*/ 935 h 1169"/>
              <a:gd name="T46" fmla="*/ 306 w 1051"/>
              <a:gd name="T47" fmla="*/ 873 h 1169"/>
              <a:gd name="T48" fmla="*/ 448 w 1051"/>
              <a:gd name="T49" fmla="*/ 730 h 1169"/>
              <a:gd name="T50" fmla="*/ 306 w 1051"/>
              <a:gd name="T51" fmla="*/ 588 h 1169"/>
              <a:gd name="T52" fmla="*/ 369 w 1051"/>
              <a:gd name="T53" fmla="*/ 525 h 1169"/>
              <a:gd name="T54" fmla="*/ 511 w 1051"/>
              <a:gd name="T55" fmla="*/ 668 h 1169"/>
              <a:gd name="T56" fmla="*/ 653 w 1051"/>
              <a:gd name="T57" fmla="*/ 525 h 1169"/>
              <a:gd name="T58" fmla="*/ 714 w 1051"/>
              <a:gd name="T59" fmla="*/ 588 h 1169"/>
              <a:gd name="T60" fmla="*/ 571 w 1051"/>
              <a:gd name="T61" fmla="*/ 730 h 1169"/>
              <a:gd name="T62" fmla="*/ 714 w 1051"/>
              <a:gd name="T63" fmla="*/ 873 h 1169"/>
              <a:gd name="T64" fmla="*/ 653 w 1051"/>
              <a:gd name="T65" fmla="*/ 935 h 1169"/>
              <a:gd name="T66" fmla="*/ 511 w 1051"/>
              <a:gd name="T67" fmla="*/ 793 h 1169"/>
              <a:gd name="T68" fmla="*/ 369 w 1051"/>
              <a:gd name="T69" fmla="*/ 93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51" h="1169">
                <a:moveTo>
                  <a:pt x="932" y="1050"/>
                </a:moveTo>
                <a:lnTo>
                  <a:pt x="932" y="411"/>
                </a:lnTo>
                <a:lnTo>
                  <a:pt x="117" y="411"/>
                </a:lnTo>
                <a:lnTo>
                  <a:pt x="117" y="1050"/>
                </a:lnTo>
                <a:lnTo>
                  <a:pt x="932" y="1050"/>
                </a:lnTo>
                <a:close/>
                <a:moveTo>
                  <a:pt x="932" y="118"/>
                </a:moveTo>
                <a:cubicBezTo>
                  <a:pt x="995" y="118"/>
                  <a:pt x="1050" y="173"/>
                  <a:pt x="1050" y="236"/>
                </a:cubicBezTo>
                <a:lnTo>
                  <a:pt x="1050" y="1050"/>
                </a:lnTo>
                <a:cubicBezTo>
                  <a:pt x="1050" y="1113"/>
                  <a:pt x="995" y="1168"/>
                  <a:pt x="932" y="1168"/>
                </a:cubicBezTo>
                <a:lnTo>
                  <a:pt x="117" y="1168"/>
                </a:lnTo>
                <a:cubicBezTo>
                  <a:pt x="52" y="1168"/>
                  <a:pt x="0" y="1113"/>
                  <a:pt x="0" y="1050"/>
                </a:cubicBezTo>
                <a:lnTo>
                  <a:pt x="0" y="236"/>
                </a:lnTo>
                <a:cubicBezTo>
                  <a:pt x="0" y="173"/>
                  <a:pt x="52" y="118"/>
                  <a:pt x="117" y="118"/>
                </a:cubicBezTo>
                <a:lnTo>
                  <a:pt x="175" y="118"/>
                </a:lnTo>
                <a:lnTo>
                  <a:pt x="175" y="0"/>
                </a:lnTo>
                <a:lnTo>
                  <a:pt x="293" y="0"/>
                </a:lnTo>
                <a:lnTo>
                  <a:pt x="293" y="118"/>
                </a:lnTo>
                <a:lnTo>
                  <a:pt x="757" y="118"/>
                </a:lnTo>
                <a:lnTo>
                  <a:pt x="757" y="0"/>
                </a:lnTo>
                <a:lnTo>
                  <a:pt x="875" y="0"/>
                </a:lnTo>
                <a:lnTo>
                  <a:pt x="875" y="118"/>
                </a:lnTo>
                <a:lnTo>
                  <a:pt x="932" y="118"/>
                </a:lnTo>
                <a:close/>
                <a:moveTo>
                  <a:pt x="369" y="935"/>
                </a:moveTo>
                <a:lnTo>
                  <a:pt x="306" y="873"/>
                </a:lnTo>
                <a:lnTo>
                  <a:pt x="448" y="730"/>
                </a:lnTo>
                <a:lnTo>
                  <a:pt x="306" y="588"/>
                </a:lnTo>
                <a:lnTo>
                  <a:pt x="369" y="525"/>
                </a:lnTo>
                <a:lnTo>
                  <a:pt x="511" y="668"/>
                </a:lnTo>
                <a:lnTo>
                  <a:pt x="653" y="525"/>
                </a:lnTo>
                <a:lnTo>
                  <a:pt x="714" y="588"/>
                </a:lnTo>
                <a:lnTo>
                  <a:pt x="571" y="730"/>
                </a:lnTo>
                <a:lnTo>
                  <a:pt x="714" y="873"/>
                </a:lnTo>
                <a:lnTo>
                  <a:pt x="653" y="935"/>
                </a:lnTo>
                <a:lnTo>
                  <a:pt x="511" y="793"/>
                </a:lnTo>
                <a:lnTo>
                  <a:pt x="369" y="9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endParaRPr lang="en-US"/>
          </a:p>
        </p:txBody>
      </p:sp>
      <p:sp>
        <p:nvSpPr>
          <p:cNvPr id="56" name="Freeform 17"/>
          <p:cNvSpPr>
            <a:spLocks noChangeArrowheads="1"/>
          </p:cNvSpPr>
          <p:nvPr/>
        </p:nvSpPr>
        <p:spPr bwMode="auto">
          <a:xfrm>
            <a:off x="11136278" y="1806668"/>
            <a:ext cx="244041" cy="271727"/>
          </a:xfrm>
          <a:custGeom>
            <a:avLst/>
            <a:gdLst>
              <a:gd name="T0" fmla="*/ 933 w 1051"/>
              <a:gd name="T1" fmla="*/ 1050 h 1169"/>
              <a:gd name="T2" fmla="*/ 933 w 1051"/>
              <a:gd name="T3" fmla="*/ 411 h 1169"/>
              <a:gd name="T4" fmla="*/ 118 w 1051"/>
              <a:gd name="T5" fmla="*/ 411 h 1169"/>
              <a:gd name="T6" fmla="*/ 118 w 1051"/>
              <a:gd name="T7" fmla="*/ 1050 h 1169"/>
              <a:gd name="T8" fmla="*/ 933 w 1051"/>
              <a:gd name="T9" fmla="*/ 1050 h 1169"/>
              <a:gd name="T10" fmla="*/ 933 w 1051"/>
              <a:gd name="T11" fmla="*/ 118 h 1169"/>
              <a:gd name="T12" fmla="*/ 1050 w 1051"/>
              <a:gd name="T13" fmla="*/ 236 h 1169"/>
              <a:gd name="T14" fmla="*/ 1050 w 1051"/>
              <a:gd name="T15" fmla="*/ 1050 h 1169"/>
              <a:gd name="T16" fmla="*/ 933 w 1051"/>
              <a:gd name="T17" fmla="*/ 1168 h 1169"/>
              <a:gd name="T18" fmla="*/ 118 w 1051"/>
              <a:gd name="T19" fmla="*/ 1168 h 1169"/>
              <a:gd name="T20" fmla="*/ 0 w 1051"/>
              <a:gd name="T21" fmla="*/ 1050 h 1169"/>
              <a:gd name="T22" fmla="*/ 0 w 1051"/>
              <a:gd name="T23" fmla="*/ 236 h 1169"/>
              <a:gd name="T24" fmla="*/ 118 w 1051"/>
              <a:gd name="T25" fmla="*/ 118 h 1169"/>
              <a:gd name="T26" fmla="*/ 175 w 1051"/>
              <a:gd name="T27" fmla="*/ 118 h 1169"/>
              <a:gd name="T28" fmla="*/ 175 w 1051"/>
              <a:gd name="T29" fmla="*/ 0 h 1169"/>
              <a:gd name="T30" fmla="*/ 293 w 1051"/>
              <a:gd name="T31" fmla="*/ 0 h 1169"/>
              <a:gd name="T32" fmla="*/ 293 w 1051"/>
              <a:gd name="T33" fmla="*/ 118 h 1169"/>
              <a:gd name="T34" fmla="*/ 758 w 1051"/>
              <a:gd name="T35" fmla="*/ 118 h 1169"/>
              <a:gd name="T36" fmla="*/ 758 w 1051"/>
              <a:gd name="T37" fmla="*/ 0 h 1169"/>
              <a:gd name="T38" fmla="*/ 875 w 1051"/>
              <a:gd name="T39" fmla="*/ 0 h 1169"/>
              <a:gd name="T40" fmla="*/ 875 w 1051"/>
              <a:gd name="T41" fmla="*/ 118 h 1169"/>
              <a:gd name="T42" fmla="*/ 933 w 1051"/>
              <a:gd name="T43" fmla="*/ 118 h 1169"/>
              <a:gd name="T44" fmla="*/ 790 w 1051"/>
              <a:gd name="T45" fmla="*/ 588 h 1169"/>
              <a:gd name="T46" fmla="*/ 443 w 1051"/>
              <a:gd name="T47" fmla="*/ 935 h 1169"/>
              <a:gd name="T48" fmla="*/ 257 w 1051"/>
              <a:gd name="T49" fmla="*/ 750 h 1169"/>
              <a:gd name="T50" fmla="*/ 320 w 1051"/>
              <a:gd name="T51" fmla="*/ 687 h 1169"/>
              <a:gd name="T52" fmla="*/ 443 w 1051"/>
              <a:gd name="T53" fmla="*/ 810 h 1169"/>
              <a:gd name="T54" fmla="*/ 728 w 1051"/>
              <a:gd name="T55" fmla="*/ 525 h 1169"/>
              <a:gd name="T56" fmla="*/ 790 w 1051"/>
              <a:gd name="T57" fmla="*/ 588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51" h="1169">
                <a:moveTo>
                  <a:pt x="933" y="1050"/>
                </a:moveTo>
                <a:lnTo>
                  <a:pt x="933" y="411"/>
                </a:lnTo>
                <a:lnTo>
                  <a:pt x="118" y="411"/>
                </a:lnTo>
                <a:lnTo>
                  <a:pt x="118" y="1050"/>
                </a:lnTo>
                <a:lnTo>
                  <a:pt x="933" y="1050"/>
                </a:lnTo>
                <a:close/>
                <a:moveTo>
                  <a:pt x="933" y="118"/>
                </a:moveTo>
                <a:cubicBezTo>
                  <a:pt x="996" y="118"/>
                  <a:pt x="1050" y="173"/>
                  <a:pt x="1050" y="236"/>
                </a:cubicBezTo>
                <a:lnTo>
                  <a:pt x="1050" y="1050"/>
                </a:lnTo>
                <a:cubicBezTo>
                  <a:pt x="1050" y="1113"/>
                  <a:pt x="996" y="1168"/>
                  <a:pt x="933" y="1168"/>
                </a:cubicBezTo>
                <a:lnTo>
                  <a:pt x="118" y="1168"/>
                </a:lnTo>
                <a:cubicBezTo>
                  <a:pt x="52" y="1168"/>
                  <a:pt x="0" y="1113"/>
                  <a:pt x="0" y="1050"/>
                </a:cubicBezTo>
                <a:lnTo>
                  <a:pt x="0" y="236"/>
                </a:lnTo>
                <a:cubicBezTo>
                  <a:pt x="0" y="173"/>
                  <a:pt x="52" y="118"/>
                  <a:pt x="118" y="118"/>
                </a:cubicBezTo>
                <a:lnTo>
                  <a:pt x="175" y="118"/>
                </a:lnTo>
                <a:lnTo>
                  <a:pt x="175" y="0"/>
                </a:lnTo>
                <a:lnTo>
                  <a:pt x="293" y="0"/>
                </a:lnTo>
                <a:lnTo>
                  <a:pt x="293" y="118"/>
                </a:lnTo>
                <a:lnTo>
                  <a:pt x="758" y="118"/>
                </a:lnTo>
                <a:lnTo>
                  <a:pt x="758" y="0"/>
                </a:lnTo>
                <a:lnTo>
                  <a:pt x="875" y="0"/>
                </a:lnTo>
                <a:lnTo>
                  <a:pt x="875" y="118"/>
                </a:lnTo>
                <a:lnTo>
                  <a:pt x="933" y="118"/>
                </a:lnTo>
                <a:close/>
                <a:moveTo>
                  <a:pt x="790" y="588"/>
                </a:moveTo>
                <a:lnTo>
                  <a:pt x="443" y="935"/>
                </a:lnTo>
                <a:lnTo>
                  <a:pt x="257" y="750"/>
                </a:lnTo>
                <a:lnTo>
                  <a:pt x="320" y="687"/>
                </a:lnTo>
                <a:lnTo>
                  <a:pt x="443" y="810"/>
                </a:lnTo>
                <a:lnTo>
                  <a:pt x="728" y="525"/>
                </a:lnTo>
                <a:lnTo>
                  <a:pt x="790" y="5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endParaRPr lang="en-US"/>
          </a:p>
        </p:txBody>
      </p:sp>
      <p:sp>
        <p:nvSpPr>
          <p:cNvPr id="57" name="Freeform 16"/>
          <p:cNvSpPr>
            <a:spLocks noChangeArrowheads="1"/>
          </p:cNvSpPr>
          <p:nvPr/>
        </p:nvSpPr>
        <p:spPr bwMode="auto">
          <a:xfrm>
            <a:off x="3308060" y="4275065"/>
            <a:ext cx="244041" cy="271727"/>
          </a:xfrm>
          <a:custGeom>
            <a:avLst/>
            <a:gdLst>
              <a:gd name="T0" fmla="*/ 932 w 1051"/>
              <a:gd name="T1" fmla="*/ 1050 h 1169"/>
              <a:gd name="T2" fmla="*/ 932 w 1051"/>
              <a:gd name="T3" fmla="*/ 411 h 1169"/>
              <a:gd name="T4" fmla="*/ 117 w 1051"/>
              <a:gd name="T5" fmla="*/ 411 h 1169"/>
              <a:gd name="T6" fmla="*/ 117 w 1051"/>
              <a:gd name="T7" fmla="*/ 1050 h 1169"/>
              <a:gd name="T8" fmla="*/ 932 w 1051"/>
              <a:gd name="T9" fmla="*/ 1050 h 1169"/>
              <a:gd name="T10" fmla="*/ 932 w 1051"/>
              <a:gd name="T11" fmla="*/ 118 h 1169"/>
              <a:gd name="T12" fmla="*/ 1050 w 1051"/>
              <a:gd name="T13" fmla="*/ 236 h 1169"/>
              <a:gd name="T14" fmla="*/ 1050 w 1051"/>
              <a:gd name="T15" fmla="*/ 1050 h 1169"/>
              <a:gd name="T16" fmla="*/ 932 w 1051"/>
              <a:gd name="T17" fmla="*/ 1168 h 1169"/>
              <a:gd name="T18" fmla="*/ 117 w 1051"/>
              <a:gd name="T19" fmla="*/ 1168 h 1169"/>
              <a:gd name="T20" fmla="*/ 0 w 1051"/>
              <a:gd name="T21" fmla="*/ 1050 h 1169"/>
              <a:gd name="T22" fmla="*/ 0 w 1051"/>
              <a:gd name="T23" fmla="*/ 236 h 1169"/>
              <a:gd name="T24" fmla="*/ 117 w 1051"/>
              <a:gd name="T25" fmla="*/ 118 h 1169"/>
              <a:gd name="T26" fmla="*/ 175 w 1051"/>
              <a:gd name="T27" fmla="*/ 118 h 1169"/>
              <a:gd name="T28" fmla="*/ 175 w 1051"/>
              <a:gd name="T29" fmla="*/ 0 h 1169"/>
              <a:gd name="T30" fmla="*/ 293 w 1051"/>
              <a:gd name="T31" fmla="*/ 0 h 1169"/>
              <a:gd name="T32" fmla="*/ 293 w 1051"/>
              <a:gd name="T33" fmla="*/ 118 h 1169"/>
              <a:gd name="T34" fmla="*/ 757 w 1051"/>
              <a:gd name="T35" fmla="*/ 118 h 1169"/>
              <a:gd name="T36" fmla="*/ 757 w 1051"/>
              <a:gd name="T37" fmla="*/ 0 h 1169"/>
              <a:gd name="T38" fmla="*/ 875 w 1051"/>
              <a:gd name="T39" fmla="*/ 0 h 1169"/>
              <a:gd name="T40" fmla="*/ 875 w 1051"/>
              <a:gd name="T41" fmla="*/ 118 h 1169"/>
              <a:gd name="T42" fmla="*/ 932 w 1051"/>
              <a:gd name="T43" fmla="*/ 118 h 1169"/>
              <a:gd name="T44" fmla="*/ 369 w 1051"/>
              <a:gd name="T45" fmla="*/ 935 h 1169"/>
              <a:gd name="T46" fmla="*/ 306 w 1051"/>
              <a:gd name="T47" fmla="*/ 873 h 1169"/>
              <a:gd name="T48" fmla="*/ 448 w 1051"/>
              <a:gd name="T49" fmla="*/ 730 h 1169"/>
              <a:gd name="T50" fmla="*/ 306 w 1051"/>
              <a:gd name="T51" fmla="*/ 588 h 1169"/>
              <a:gd name="T52" fmla="*/ 369 w 1051"/>
              <a:gd name="T53" fmla="*/ 525 h 1169"/>
              <a:gd name="T54" fmla="*/ 511 w 1051"/>
              <a:gd name="T55" fmla="*/ 668 h 1169"/>
              <a:gd name="T56" fmla="*/ 653 w 1051"/>
              <a:gd name="T57" fmla="*/ 525 h 1169"/>
              <a:gd name="T58" fmla="*/ 714 w 1051"/>
              <a:gd name="T59" fmla="*/ 588 h 1169"/>
              <a:gd name="T60" fmla="*/ 571 w 1051"/>
              <a:gd name="T61" fmla="*/ 730 h 1169"/>
              <a:gd name="T62" fmla="*/ 714 w 1051"/>
              <a:gd name="T63" fmla="*/ 873 h 1169"/>
              <a:gd name="T64" fmla="*/ 653 w 1051"/>
              <a:gd name="T65" fmla="*/ 935 h 1169"/>
              <a:gd name="T66" fmla="*/ 511 w 1051"/>
              <a:gd name="T67" fmla="*/ 793 h 1169"/>
              <a:gd name="T68" fmla="*/ 369 w 1051"/>
              <a:gd name="T69" fmla="*/ 93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51" h="1169">
                <a:moveTo>
                  <a:pt x="932" y="1050"/>
                </a:moveTo>
                <a:lnTo>
                  <a:pt x="932" y="411"/>
                </a:lnTo>
                <a:lnTo>
                  <a:pt x="117" y="411"/>
                </a:lnTo>
                <a:lnTo>
                  <a:pt x="117" y="1050"/>
                </a:lnTo>
                <a:lnTo>
                  <a:pt x="932" y="1050"/>
                </a:lnTo>
                <a:close/>
                <a:moveTo>
                  <a:pt x="932" y="118"/>
                </a:moveTo>
                <a:cubicBezTo>
                  <a:pt x="995" y="118"/>
                  <a:pt x="1050" y="173"/>
                  <a:pt x="1050" y="236"/>
                </a:cubicBezTo>
                <a:lnTo>
                  <a:pt x="1050" y="1050"/>
                </a:lnTo>
                <a:cubicBezTo>
                  <a:pt x="1050" y="1113"/>
                  <a:pt x="995" y="1168"/>
                  <a:pt x="932" y="1168"/>
                </a:cubicBezTo>
                <a:lnTo>
                  <a:pt x="117" y="1168"/>
                </a:lnTo>
                <a:cubicBezTo>
                  <a:pt x="52" y="1168"/>
                  <a:pt x="0" y="1113"/>
                  <a:pt x="0" y="1050"/>
                </a:cubicBezTo>
                <a:lnTo>
                  <a:pt x="0" y="236"/>
                </a:lnTo>
                <a:cubicBezTo>
                  <a:pt x="0" y="173"/>
                  <a:pt x="52" y="118"/>
                  <a:pt x="117" y="118"/>
                </a:cubicBezTo>
                <a:lnTo>
                  <a:pt x="175" y="118"/>
                </a:lnTo>
                <a:lnTo>
                  <a:pt x="175" y="0"/>
                </a:lnTo>
                <a:lnTo>
                  <a:pt x="293" y="0"/>
                </a:lnTo>
                <a:lnTo>
                  <a:pt x="293" y="118"/>
                </a:lnTo>
                <a:lnTo>
                  <a:pt x="757" y="118"/>
                </a:lnTo>
                <a:lnTo>
                  <a:pt x="757" y="0"/>
                </a:lnTo>
                <a:lnTo>
                  <a:pt x="875" y="0"/>
                </a:lnTo>
                <a:lnTo>
                  <a:pt x="875" y="118"/>
                </a:lnTo>
                <a:lnTo>
                  <a:pt x="932" y="118"/>
                </a:lnTo>
                <a:close/>
                <a:moveTo>
                  <a:pt x="369" y="935"/>
                </a:moveTo>
                <a:lnTo>
                  <a:pt x="306" y="873"/>
                </a:lnTo>
                <a:lnTo>
                  <a:pt x="448" y="730"/>
                </a:lnTo>
                <a:lnTo>
                  <a:pt x="306" y="588"/>
                </a:lnTo>
                <a:lnTo>
                  <a:pt x="369" y="525"/>
                </a:lnTo>
                <a:lnTo>
                  <a:pt x="511" y="668"/>
                </a:lnTo>
                <a:lnTo>
                  <a:pt x="653" y="525"/>
                </a:lnTo>
                <a:lnTo>
                  <a:pt x="714" y="588"/>
                </a:lnTo>
                <a:lnTo>
                  <a:pt x="571" y="730"/>
                </a:lnTo>
                <a:lnTo>
                  <a:pt x="714" y="873"/>
                </a:lnTo>
                <a:lnTo>
                  <a:pt x="653" y="935"/>
                </a:lnTo>
                <a:lnTo>
                  <a:pt x="511" y="793"/>
                </a:lnTo>
                <a:lnTo>
                  <a:pt x="369" y="9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endParaRPr lang="en-US"/>
          </a:p>
        </p:txBody>
      </p:sp>
      <p:sp>
        <p:nvSpPr>
          <p:cNvPr id="58" name="Freeform 17"/>
          <p:cNvSpPr>
            <a:spLocks noChangeArrowheads="1"/>
          </p:cNvSpPr>
          <p:nvPr/>
        </p:nvSpPr>
        <p:spPr bwMode="auto">
          <a:xfrm>
            <a:off x="11136278" y="4275064"/>
            <a:ext cx="244041" cy="271727"/>
          </a:xfrm>
          <a:custGeom>
            <a:avLst/>
            <a:gdLst>
              <a:gd name="T0" fmla="*/ 933 w 1051"/>
              <a:gd name="T1" fmla="*/ 1050 h 1169"/>
              <a:gd name="T2" fmla="*/ 933 w 1051"/>
              <a:gd name="T3" fmla="*/ 411 h 1169"/>
              <a:gd name="T4" fmla="*/ 118 w 1051"/>
              <a:gd name="T5" fmla="*/ 411 h 1169"/>
              <a:gd name="T6" fmla="*/ 118 w 1051"/>
              <a:gd name="T7" fmla="*/ 1050 h 1169"/>
              <a:gd name="T8" fmla="*/ 933 w 1051"/>
              <a:gd name="T9" fmla="*/ 1050 h 1169"/>
              <a:gd name="T10" fmla="*/ 933 w 1051"/>
              <a:gd name="T11" fmla="*/ 118 h 1169"/>
              <a:gd name="T12" fmla="*/ 1050 w 1051"/>
              <a:gd name="T13" fmla="*/ 236 h 1169"/>
              <a:gd name="T14" fmla="*/ 1050 w 1051"/>
              <a:gd name="T15" fmla="*/ 1050 h 1169"/>
              <a:gd name="T16" fmla="*/ 933 w 1051"/>
              <a:gd name="T17" fmla="*/ 1168 h 1169"/>
              <a:gd name="T18" fmla="*/ 118 w 1051"/>
              <a:gd name="T19" fmla="*/ 1168 h 1169"/>
              <a:gd name="T20" fmla="*/ 0 w 1051"/>
              <a:gd name="T21" fmla="*/ 1050 h 1169"/>
              <a:gd name="T22" fmla="*/ 0 w 1051"/>
              <a:gd name="T23" fmla="*/ 236 h 1169"/>
              <a:gd name="T24" fmla="*/ 118 w 1051"/>
              <a:gd name="T25" fmla="*/ 118 h 1169"/>
              <a:gd name="T26" fmla="*/ 175 w 1051"/>
              <a:gd name="T27" fmla="*/ 118 h 1169"/>
              <a:gd name="T28" fmla="*/ 175 w 1051"/>
              <a:gd name="T29" fmla="*/ 0 h 1169"/>
              <a:gd name="T30" fmla="*/ 293 w 1051"/>
              <a:gd name="T31" fmla="*/ 0 h 1169"/>
              <a:gd name="T32" fmla="*/ 293 w 1051"/>
              <a:gd name="T33" fmla="*/ 118 h 1169"/>
              <a:gd name="T34" fmla="*/ 758 w 1051"/>
              <a:gd name="T35" fmla="*/ 118 h 1169"/>
              <a:gd name="T36" fmla="*/ 758 w 1051"/>
              <a:gd name="T37" fmla="*/ 0 h 1169"/>
              <a:gd name="T38" fmla="*/ 875 w 1051"/>
              <a:gd name="T39" fmla="*/ 0 h 1169"/>
              <a:gd name="T40" fmla="*/ 875 w 1051"/>
              <a:gd name="T41" fmla="*/ 118 h 1169"/>
              <a:gd name="T42" fmla="*/ 933 w 1051"/>
              <a:gd name="T43" fmla="*/ 118 h 1169"/>
              <a:gd name="T44" fmla="*/ 790 w 1051"/>
              <a:gd name="T45" fmla="*/ 588 h 1169"/>
              <a:gd name="T46" fmla="*/ 443 w 1051"/>
              <a:gd name="T47" fmla="*/ 935 h 1169"/>
              <a:gd name="T48" fmla="*/ 257 w 1051"/>
              <a:gd name="T49" fmla="*/ 750 h 1169"/>
              <a:gd name="T50" fmla="*/ 320 w 1051"/>
              <a:gd name="T51" fmla="*/ 687 h 1169"/>
              <a:gd name="T52" fmla="*/ 443 w 1051"/>
              <a:gd name="T53" fmla="*/ 810 h 1169"/>
              <a:gd name="T54" fmla="*/ 728 w 1051"/>
              <a:gd name="T55" fmla="*/ 525 h 1169"/>
              <a:gd name="T56" fmla="*/ 790 w 1051"/>
              <a:gd name="T57" fmla="*/ 588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51" h="1169">
                <a:moveTo>
                  <a:pt x="933" y="1050"/>
                </a:moveTo>
                <a:lnTo>
                  <a:pt x="933" y="411"/>
                </a:lnTo>
                <a:lnTo>
                  <a:pt x="118" y="411"/>
                </a:lnTo>
                <a:lnTo>
                  <a:pt x="118" y="1050"/>
                </a:lnTo>
                <a:lnTo>
                  <a:pt x="933" y="1050"/>
                </a:lnTo>
                <a:close/>
                <a:moveTo>
                  <a:pt x="933" y="118"/>
                </a:moveTo>
                <a:cubicBezTo>
                  <a:pt x="996" y="118"/>
                  <a:pt x="1050" y="173"/>
                  <a:pt x="1050" y="236"/>
                </a:cubicBezTo>
                <a:lnTo>
                  <a:pt x="1050" y="1050"/>
                </a:lnTo>
                <a:cubicBezTo>
                  <a:pt x="1050" y="1113"/>
                  <a:pt x="996" y="1168"/>
                  <a:pt x="933" y="1168"/>
                </a:cubicBezTo>
                <a:lnTo>
                  <a:pt x="118" y="1168"/>
                </a:lnTo>
                <a:cubicBezTo>
                  <a:pt x="52" y="1168"/>
                  <a:pt x="0" y="1113"/>
                  <a:pt x="0" y="1050"/>
                </a:cubicBezTo>
                <a:lnTo>
                  <a:pt x="0" y="236"/>
                </a:lnTo>
                <a:cubicBezTo>
                  <a:pt x="0" y="173"/>
                  <a:pt x="52" y="118"/>
                  <a:pt x="118" y="118"/>
                </a:cubicBezTo>
                <a:lnTo>
                  <a:pt x="175" y="118"/>
                </a:lnTo>
                <a:lnTo>
                  <a:pt x="175" y="0"/>
                </a:lnTo>
                <a:lnTo>
                  <a:pt x="293" y="0"/>
                </a:lnTo>
                <a:lnTo>
                  <a:pt x="293" y="118"/>
                </a:lnTo>
                <a:lnTo>
                  <a:pt x="758" y="118"/>
                </a:lnTo>
                <a:lnTo>
                  <a:pt x="758" y="0"/>
                </a:lnTo>
                <a:lnTo>
                  <a:pt x="875" y="0"/>
                </a:lnTo>
                <a:lnTo>
                  <a:pt x="875" y="118"/>
                </a:lnTo>
                <a:lnTo>
                  <a:pt x="933" y="118"/>
                </a:lnTo>
                <a:close/>
                <a:moveTo>
                  <a:pt x="790" y="588"/>
                </a:moveTo>
                <a:lnTo>
                  <a:pt x="443" y="935"/>
                </a:lnTo>
                <a:lnTo>
                  <a:pt x="257" y="750"/>
                </a:lnTo>
                <a:lnTo>
                  <a:pt x="320" y="687"/>
                </a:lnTo>
                <a:lnTo>
                  <a:pt x="443" y="810"/>
                </a:lnTo>
                <a:lnTo>
                  <a:pt x="728" y="525"/>
                </a:lnTo>
                <a:lnTo>
                  <a:pt x="790" y="5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endParaRPr lang="en-US"/>
          </a:p>
        </p:txBody>
      </p:sp>
      <p:sp>
        <p:nvSpPr>
          <p:cNvPr id="59" name="文本框 58"/>
          <p:cNvSpPr txBox="1"/>
          <p:nvPr/>
        </p:nvSpPr>
        <p:spPr>
          <a:xfrm>
            <a:off x="4927856" y="1174380"/>
            <a:ext cx="2336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技能发展、团队合作</a:t>
            </a:r>
            <a:endParaRPr kumimoji="1" lang="zh-CN" altLang="en-US" sz="1600" b="1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927856" y="6122513"/>
            <a:ext cx="2336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持续学习、协作沟通</a:t>
            </a:r>
            <a:endParaRPr kumimoji="1" lang="zh-CN" altLang="en-US" sz="1600" b="1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小李PPT1"/>
          <p:cNvSpPr txBox="1"/>
          <p:nvPr/>
        </p:nvSpPr>
        <p:spPr>
          <a:xfrm>
            <a:off x="363836" y="244861"/>
            <a:ext cx="2511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17579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2026 工作计划</a:t>
            </a:r>
            <a:endParaRPr kumimoji="0" lang="zh-CN" altLang="en-US" sz="2800" b="1" u="none" strike="noStrike" kern="1200" cap="none" spc="0" normalizeH="0" baseline="0" dirty="0">
              <a:solidFill>
                <a:srgbClr val="17579F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6" name="小李PPT1"/>
          <p:cNvSpPr txBox="1"/>
          <p:nvPr/>
        </p:nvSpPr>
        <p:spPr>
          <a:xfrm>
            <a:off x="9504065" y="403135"/>
            <a:ext cx="2309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Work</a:t>
            </a:r>
            <a:r>
              <a:rPr lang="zh-CN" altLang="en-US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Arrangement</a:t>
            </a:r>
            <a:endParaRPr kumimoji="0" lang="zh-CN" altLang="en-US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57" name="直线连接符 56"/>
          <p:cNvCxnSpPr/>
          <p:nvPr/>
        </p:nvCxnSpPr>
        <p:spPr>
          <a:xfrm>
            <a:off x="454763" y="798737"/>
            <a:ext cx="11282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圆角矩形 32"/>
          <p:cNvSpPr/>
          <p:nvPr>
            <p:custDataLst>
              <p:tags r:id="rId1"/>
            </p:custDataLst>
          </p:nvPr>
        </p:nvSpPr>
        <p:spPr>
          <a:xfrm>
            <a:off x="1783080" y="1741170"/>
            <a:ext cx="7976870" cy="3141980"/>
          </a:xfrm>
          <a:prstGeom prst="roundRect">
            <a:avLst>
              <a:gd name="adj" fmla="val 3016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2" name="圆角矩形 41"/>
          <p:cNvSpPr/>
          <p:nvPr>
            <p:custDataLst>
              <p:tags r:id="rId2"/>
            </p:custDataLst>
          </p:nvPr>
        </p:nvSpPr>
        <p:spPr>
          <a:xfrm>
            <a:off x="1975214" y="3599967"/>
            <a:ext cx="3112223" cy="1095172"/>
          </a:xfrm>
          <a:prstGeom prst="roundRect">
            <a:avLst>
              <a:gd name="adj" fmla="val 9755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3" name="圆角矩形 42"/>
          <p:cNvSpPr/>
          <p:nvPr>
            <p:custDataLst>
              <p:tags r:id="rId3"/>
            </p:custDataLst>
          </p:nvPr>
        </p:nvSpPr>
        <p:spPr>
          <a:xfrm>
            <a:off x="6120772" y="3599967"/>
            <a:ext cx="3112223" cy="1095172"/>
          </a:xfrm>
          <a:prstGeom prst="roundRect">
            <a:avLst>
              <a:gd name="adj" fmla="val 9755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4"/>
            </p:custDataLst>
          </p:nvPr>
        </p:nvSpPr>
        <p:spPr>
          <a:xfrm>
            <a:off x="2135505" y="1812290"/>
            <a:ext cx="3242945" cy="875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项目支持</a:t>
            </a:r>
            <a:endParaRPr kumimoji="1" lang="zh-CN" altLang="en-US" sz="1400" b="1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</a:pPr>
            <a:r>
              <a:rPr kumimoji="1" lang="en-US" altLang="zh-CN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、跟进杭远二期、杭远三期</a:t>
            </a:r>
            <a:r>
              <a:rPr kumimoji="1" lang="en-US" altLang="zh-CN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CR</a:t>
            </a:r>
            <a:r>
              <a:rPr kumimoji="1" lang="zh-CN" altLang="en-US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、推广公司的</a:t>
            </a:r>
            <a:r>
              <a:rPr kumimoji="1" lang="zh-CN" altLang="en-US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交付</a:t>
            </a:r>
            <a:endParaRPr kumimoji="1" lang="zh-CN" altLang="en-US" sz="1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</a:pPr>
            <a:r>
              <a:rPr kumimoji="1" lang="en-US" altLang="zh-CN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、跟进礼邦医药的项目上线</a:t>
            </a:r>
            <a:endParaRPr kumimoji="1" lang="zh-CN" altLang="en-US" sz="1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6283572" y="1812561"/>
            <a:ext cx="2791475" cy="1799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产品理解</a:t>
            </a:r>
            <a:endParaRPr kumimoji="1" lang="en-US" altLang="zh-CN" sz="1400" b="1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</a:pPr>
            <a:r>
              <a:rPr kumimoji="1" lang="zh-CN" altLang="en-US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提升产品化思维，在日常需求跟进中，强制自己思考</a:t>
            </a:r>
            <a:r>
              <a:rPr kumimoji="1" lang="en-US" altLang="zh-CN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“</a:t>
            </a:r>
            <a:r>
              <a:rPr kumimoji="1" lang="zh-CN" altLang="en-US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此功能是否可抽象为通用模块</a:t>
            </a:r>
            <a:r>
              <a:rPr kumimoji="1" lang="en-US" altLang="zh-CN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”</a:t>
            </a:r>
            <a:r>
              <a:rPr kumimoji="1" lang="zh-CN" altLang="en-US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。尝试复盘定制化功能的使用情况，将临时方案转化为标准化能力或配置</a:t>
            </a:r>
            <a:r>
              <a:rPr kumimoji="1" lang="zh-CN" altLang="en-US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项</a:t>
            </a:r>
            <a:endParaRPr kumimoji="1" lang="zh-CN" altLang="en-US" sz="1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</a:pPr>
            <a:r>
              <a:rPr kumimoji="1" lang="zh-CN" altLang="en-US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条件允许情况下，搜集下其他</a:t>
            </a:r>
            <a:r>
              <a:rPr kumimoji="1" lang="en-US" altLang="zh-CN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saas</a:t>
            </a:r>
            <a:r>
              <a:rPr kumimoji="1" lang="zh-CN" altLang="en-US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产品的功能结构、逻辑，借鉴和</a:t>
            </a:r>
            <a:r>
              <a:rPr kumimoji="1" lang="zh-CN" altLang="en-US" sz="1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学习</a:t>
            </a:r>
            <a:endParaRPr kumimoji="1" lang="zh-CN" altLang="en-US" sz="1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4" name="TextBox 71"/>
          <p:cNvSpPr txBox="1"/>
          <p:nvPr>
            <p:custDataLst>
              <p:tags r:id="rId6"/>
            </p:custDataLst>
          </p:nvPr>
        </p:nvSpPr>
        <p:spPr>
          <a:xfrm>
            <a:off x="2135505" y="3733165"/>
            <a:ext cx="2775585" cy="79502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800" noProof="1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在交付过程中，多对比同场景下、不同公司的需求，理解背后逻辑、提升</a:t>
            </a:r>
            <a:r>
              <a:rPr lang="zh-CN" altLang="en-US" sz="800" noProof="1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客户满意度</a:t>
            </a:r>
            <a:endParaRPr lang="zh-CN" altLang="en-US" sz="800" noProof="1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6" name="TextBox 71"/>
          <p:cNvSpPr txBox="1"/>
          <p:nvPr>
            <p:custDataLst>
              <p:tags r:id="rId7"/>
            </p:custDataLst>
          </p:nvPr>
        </p:nvSpPr>
        <p:spPr>
          <a:xfrm>
            <a:off x="8718842" y="4068067"/>
            <a:ext cx="2775281" cy="46037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800" noProof="1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制定详细的执行计划和时间表，明确各项活动的实施步骤和责任人。</a:t>
            </a:r>
            <a:endParaRPr lang="zh-CN" altLang="en-US" sz="800" noProof="1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7" name="TextBox 71"/>
          <p:cNvSpPr txBox="1"/>
          <p:nvPr>
            <p:custDataLst>
              <p:tags r:id="rId8"/>
            </p:custDataLst>
          </p:nvPr>
        </p:nvSpPr>
        <p:spPr>
          <a:xfrm>
            <a:off x="8718842" y="3660261"/>
            <a:ext cx="2173779" cy="398780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2000" b="1" noProof="1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896,650</a:t>
            </a:r>
            <a:endParaRPr lang="en-US" sz="2000" b="1" noProof="1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8" name="TextBox 71"/>
          <p:cNvSpPr txBox="1"/>
          <p:nvPr>
            <p:custDataLst>
              <p:tags r:id="rId9"/>
            </p:custDataLst>
          </p:nvPr>
        </p:nvSpPr>
        <p:spPr>
          <a:xfrm>
            <a:off x="6230232" y="3733422"/>
            <a:ext cx="2775281" cy="46037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800" noProof="1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在项目交付过程中，基于接收到的需求，</a:t>
            </a:r>
            <a:r>
              <a:rPr lang="zh-CN" altLang="en-US" sz="800" noProof="1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主动提炼、抽象需求，提升产品思维，</a:t>
            </a:r>
            <a:r>
              <a:rPr lang="zh-CN" altLang="en-US" sz="800" noProof="1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尝试设计通用产品</a:t>
            </a:r>
            <a:r>
              <a:rPr lang="zh-CN" altLang="en-US" sz="800" noProof="1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功能</a:t>
            </a:r>
            <a:endParaRPr lang="zh-CN" altLang="en-US" sz="800" noProof="1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7.1474015748031,&quot;left&quot;:-33.291889763779544,&quot;top&quot;:131.5,&quot;width&quot;:938.340983832704}"/>
</p:tagLst>
</file>

<file path=ppt/tags/tag2.xml><?xml version="1.0" encoding="utf-8"?>
<p:tagLst xmlns:p="http://schemas.openxmlformats.org/presentationml/2006/main">
  <p:tag name="KSO_WM_DIAGRAM_VIRTUALLY_FRAME" val="{&quot;height&quot;:317.1474015748031,&quot;left&quot;:-33.291889763779544,&quot;top&quot;:131.5,&quot;width&quot;:938.340983832704}"/>
</p:tagLst>
</file>

<file path=ppt/tags/tag3.xml><?xml version="1.0" encoding="utf-8"?>
<p:tagLst xmlns:p="http://schemas.openxmlformats.org/presentationml/2006/main">
  <p:tag name="KSO_WM_DIAGRAM_VIRTUALLY_FRAME" val="{&quot;height&quot;:317.1474015748031,&quot;left&quot;:-33.291889763779544,&quot;top&quot;:131.5,&quot;width&quot;:938.340983832704}"/>
</p:tagLst>
</file>

<file path=ppt/tags/tag4.xml><?xml version="1.0" encoding="utf-8"?>
<p:tagLst xmlns:p="http://schemas.openxmlformats.org/presentationml/2006/main">
  <p:tag name="KSO_WM_DIAGRAM_VIRTUALLY_FRAME" val="{&quot;height&quot;:317.1474015748031,&quot;left&quot;:-33.291889763779544,&quot;top&quot;:131.5,&quot;width&quot;:938.340983832704}"/>
</p:tagLst>
</file>

<file path=ppt/tags/tag5.xml><?xml version="1.0" encoding="utf-8"?>
<p:tagLst xmlns:p="http://schemas.openxmlformats.org/presentationml/2006/main">
  <p:tag name="KSO_WM_DIAGRAM_VIRTUALLY_FRAME" val="{&quot;height&quot;:317.1474015748031,&quot;left&quot;:-33.291889763779544,&quot;top&quot;:131.5,&quot;width&quot;:938.340983832704}"/>
</p:tagLst>
</file>

<file path=ppt/tags/tag6.xml><?xml version="1.0" encoding="utf-8"?>
<p:tagLst xmlns:p="http://schemas.openxmlformats.org/presentationml/2006/main">
  <p:tag name="KSO_WM_DIAGRAM_VIRTUALLY_FRAME" val="{&quot;height&quot;:317.1474015748031,&quot;left&quot;:-33.291889763779544,&quot;top&quot;:131.5,&quot;width&quot;:938.340983832704}"/>
</p:tagLst>
</file>

<file path=ppt/tags/tag7.xml><?xml version="1.0" encoding="utf-8"?>
<p:tagLst xmlns:p="http://schemas.openxmlformats.org/presentationml/2006/main">
  <p:tag name="KSO_WM_DIAGRAM_VIRTUALLY_FRAME" val="{&quot;height&quot;:317.1474015748031,&quot;left&quot;:-33.291889763779544,&quot;top&quot;:131.5,&quot;width&quot;:938.340983832704}"/>
</p:tagLst>
</file>

<file path=ppt/tags/tag8.xml><?xml version="1.0" encoding="utf-8"?>
<p:tagLst xmlns:p="http://schemas.openxmlformats.org/presentationml/2006/main">
  <p:tag name="KSO_WM_DIAGRAM_VIRTUALLY_FRAME" val="{&quot;height&quot;:317.1474015748031,&quot;left&quot;:-33.291889763779544,&quot;top&quot;:131.5,&quot;width&quot;:938.340983832704}"/>
</p:tagLst>
</file>

<file path=ppt/tags/tag9.xml><?xml version="1.0" encoding="utf-8"?>
<p:tagLst xmlns:p="http://schemas.openxmlformats.org/presentationml/2006/main">
  <p:tag name="KSO_WM_DIAGRAM_VIRTUALLY_FRAME" val="{&quot;height&quot;:317.1474015748031,&quot;left&quot;:-33.291889763779544,&quot;top&quot;:131.5,&quot;width&quot;:938.34098383270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高级商务蓝黄配色">
      <a:dk1>
        <a:srgbClr val="383535"/>
      </a:dk1>
      <a:lt1>
        <a:srgbClr val="FEFFFF"/>
      </a:lt1>
      <a:dk2>
        <a:srgbClr val="9EA0A0"/>
      </a:dk2>
      <a:lt2>
        <a:srgbClr val="EFEFEF"/>
      </a:lt2>
      <a:accent1>
        <a:srgbClr val="004695"/>
      </a:accent1>
      <a:accent2>
        <a:srgbClr val="3077BC"/>
      </a:accent2>
      <a:accent3>
        <a:srgbClr val="F4BB31"/>
      </a:accent3>
      <a:accent4>
        <a:srgbClr val="BBCEE5"/>
      </a:accent4>
      <a:accent5>
        <a:srgbClr val="C4C6C6"/>
      </a:accent5>
      <a:accent6>
        <a:srgbClr val="EFEDEF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1263</Words>
  <Application>WPS 演示</Application>
  <PresentationFormat>宽屏</PresentationFormat>
  <Paragraphs>106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21" baseType="lpstr">
      <vt:lpstr>Arial</vt:lpstr>
      <vt:lpstr>宋体</vt:lpstr>
      <vt:lpstr>Wingdings</vt:lpstr>
      <vt:lpstr>Alibaba PuHuiTi</vt:lpstr>
      <vt:lpstr>Poppins</vt:lpstr>
      <vt:lpstr>Times New Roman</vt:lpstr>
      <vt:lpstr>微软雅黑</vt:lpstr>
      <vt:lpstr>Arial Unicode MS</vt:lpstr>
      <vt:lpstr>等线 Light</vt:lpstr>
      <vt:lpstr>等线</vt:lpstr>
      <vt:lpstr>Segoe Print</vt:lpstr>
      <vt:lpstr>Calibri</vt:lpstr>
      <vt:lpstr>Alibaba PuHuiTi</vt:lpstr>
      <vt:lpstr>Sitka Heading</vt:lpstr>
      <vt:lpstr>A new day begins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xiaohui xin</dc:creator>
  <cp:lastModifiedBy>沫忱</cp:lastModifiedBy>
  <cp:revision>9</cp:revision>
  <dcterms:created xsi:type="dcterms:W3CDTF">2026-01-12T05:50:00Z</dcterms:created>
  <dcterms:modified xsi:type="dcterms:W3CDTF">2026-01-19T11:02:47Z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103F547AF4A04D719204A6F6B6E576C0_13</vt:lpwstr>
  </property>
</Properties>
</file>